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6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55" y="859536"/>
            <a:ext cx="1151235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18928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SALES ENABLEMENT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32688" y="2212848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Convercus for Agencies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960120" y="3236976"/>
            <a:ext cx="6675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Playbook for experiences, holistic campaigns and recurring services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53218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From isolated campaigns to measurable, operated and profitable experiences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57616" y="55046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Reordered version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STRUCTURE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The deck is reordered around four decisions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" y="1975104"/>
            <a:ext cx="786384" cy="274320"/>
          </a:xfrm>
          <a:prstGeom prst="rect">
            <a:avLst/>
          </a:prstGeom>
          <a:solidFill>
            <a:srgbClr val="F72585"/>
          </a:solidFill>
          <a:ln>
            <a:solidFill>
              <a:srgbClr val="F725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t>ACT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" y="2404872"/>
            <a:ext cx="2340864" cy="157276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Experiences</a:t>
            </a:r>
            <a:endParaRPr lang="en-US" sz="1350" dirty="0"/>
          </a:p>
          <a:p>
            <a:r>
              <a:t>The central unit for design, operation and measurement.</a:t>
            </a:r>
          </a:p>
        </p:txBody>
      </p:sp>
      <p:sp>
        <p:nvSpPr>
          <p:cNvPr id="12" name="Shape 9"/>
          <p:cNvSpPr/>
          <p:nvPr/>
        </p:nvSpPr>
        <p:spPr>
          <a:xfrm>
            <a:off x="3054096" y="3182112"/>
            <a:ext cx="274320" cy="0"/>
          </a:xfrm>
          <a:prstGeom prst="line">
            <a:avLst/>
          </a:prstGeom>
          <a:noFill/>
          <a:ln w="1778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520440" y="1975104"/>
            <a:ext cx="786384" cy="274320"/>
          </a:xfrm>
          <a:prstGeom prst="rect">
            <a:avLst/>
          </a:prstGeom>
          <a:solidFill>
            <a:srgbClr val="092BFD"/>
          </a:solidFill>
          <a:ln>
            <a:solidFill>
              <a:srgbClr val="092BF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20440" y="2404872"/>
            <a:ext cx="2340864" cy="157276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Economics</a:t>
            </a:r>
            <a:endParaRPr lang="en-US" sz="1350" dirty="0"/>
          </a:p>
          <a:p>
            <a:r>
              <a:t>How the agency monetizes it and how the client justifies it.</a:t>
            </a:r>
          </a:p>
        </p:txBody>
      </p:sp>
      <p:sp>
        <p:nvSpPr>
          <p:cNvPr id="15" name="Shape 12"/>
          <p:cNvSpPr/>
          <p:nvPr/>
        </p:nvSpPr>
        <p:spPr>
          <a:xfrm>
            <a:off x="5916168" y="3182112"/>
            <a:ext cx="274320" cy="0"/>
          </a:xfrm>
          <a:prstGeom prst="line">
            <a:avLst/>
          </a:prstGeom>
          <a:noFill/>
          <a:ln w="1778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82512" y="1975104"/>
            <a:ext cx="786384" cy="274320"/>
          </a:xfrm>
          <a:prstGeom prst="rect">
            <a:avLst/>
          </a:prstGeom>
          <a:solidFill>
            <a:srgbClr val="092BFD"/>
          </a:solidFill>
          <a:ln>
            <a:solidFill>
              <a:srgbClr val="092BF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82512" y="2404872"/>
            <a:ext cx="2340864" cy="157276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Holistic campaign</a:t>
            </a:r>
            <a:endParaRPr lang="en-US" sz="1350" dirty="0"/>
          </a:p>
          <a:p>
            <a:r>
              <a:t>The campaign as a framework that includes channels, communication, point of sale and loyalty.</a:t>
            </a:r>
          </a:p>
        </p:txBody>
      </p:sp>
      <p:sp>
        <p:nvSpPr>
          <p:cNvPr id="18" name="Shape 15"/>
          <p:cNvSpPr/>
          <p:nvPr/>
        </p:nvSpPr>
        <p:spPr>
          <a:xfrm>
            <a:off x="8778240" y="3182112"/>
            <a:ext cx="274320" cy="0"/>
          </a:xfrm>
          <a:prstGeom prst="line">
            <a:avLst/>
          </a:prstGeom>
          <a:noFill/>
          <a:ln w="1778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244584" y="1975104"/>
            <a:ext cx="786384" cy="274320"/>
          </a:xfrm>
          <a:prstGeom prst="rect">
            <a:avLst/>
          </a:prstGeom>
          <a:solidFill>
            <a:srgbClr val="092BFD"/>
          </a:solidFill>
          <a:ln>
            <a:solidFill>
              <a:srgbClr val="092BF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244584" y="2404872"/>
            <a:ext cx="2340864" cy="1572768"/>
          </a:xfrm>
          <a:prstGeom prst="rect">
            <a:avLst/>
          </a:prstGeom>
          <a:solidFill>
            <a:srgbClr val="F1F1F1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Activation</a:t>
            </a:r>
            <a:endParaRPr lang="en-US" sz="1350" dirty="0"/>
          </a:p>
          <a:p>
            <a:r>
              <a:t>Use cases, toolkit, pilot and next commercial steps.</a:t>
            </a:r>
          </a:p>
        </p:txBody>
      </p:sp>
      <p:sp>
        <p:nvSpPr>
          <p:cNvPr id="21" name="Text 18"/>
          <p:cNvSpPr/>
          <p:nvPr/>
        </p:nvSpPr>
        <p:spPr>
          <a:xfrm>
            <a:off x="960120" y="4709160"/>
            <a:ext cx="103784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The message shifts from “Convercus helps run campaigns” to: Convercus enables the agency to design, activate, operate and measure experiences that turn campaign investment into economic progression.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THESIS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From campaign impacts to behavioral progressions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" y="2148840"/>
            <a:ext cx="2834640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D8D8D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BEFORE</a:t>
            </a:r>
            <a:endParaRPr lang="en-US" sz="1700" dirty="0"/>
          </a:p>
          <a:p>
            <a:r>
              <a:t>Campaigns as impacts</a:t>
            </a:r>
          </a:p>
        </p:txBody>
      </p:sp>
      <p:sp>
        <p:nvSpPr>
          <p:cNvPr id="11" name="Text 8"/>
          <p:cNvSpPr/>
          <p:nvPr/>
        </p:nvSpPr>
        <p:spPr>
          <a:xfrm>
            <a:off x="896112" y="3401568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Assets</a:t>
            </a:r>
            <a:endParaRPr lang="en-US" sz="1350" dirty="0"/>
          </a:p>
          <a:p>
            <a:r>
              <a:t>Channels</a:t>
            </a:r>
          </a:p>
          <a:p>
            <a:r>
              <a:t>Messages</a:t>
            </a:r>
          </a:p>
          <a:p>
            <a:r>
              <a:t>Promotions</a:t>
            </a:r>
          </a:p>
          <a:p>
            <a:r>
              <a:t>Activity reporting</a:t>
            </a:r>
          </a:p>
        </p:txBody>
      </p:sp>
      <p:sp>
        <p:nvSpPr>
          <p:cNvPr id="12" name="Text 9"/>
          <p:cNvSpPr/>
          <p:nvPr/>
        </p:nvSpPr>
        <p:spPr>
          <a:xfrm>
            <a:off x="4526280" y="1874520"/>
            <a:ext cx="3154680" cy="109728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NOW</a:t>
            </a:r>
            <a:endParaRPr lang="en-US" sz="1800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Experiences as architecture</a:t>
            </a:r>
          </a:p>
        </p:txBody>
      </p:sp>
      <p:sp>
        <p:nvSpPr>
          <p:cNvPr id="13" name="Text 10"/>
          <p:cNvSpPr/>
          <p:nvPr/>
        </p:nvSpPr>
        <p:spPr>
          <a:xfrm>
            <a:off x="4800600" y="3337560"/>
            <a:ext cx="2606040" cy="160020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Events</a:t>
            </a:r>
            <a:endParaRPr lang="en-US" sz="1350" dirty="0"/>
          </a:p>
          <a:p>
            <a:r>
              <a:t>Sequences</a:t>
            </a:r>
          </a:p>
          <a:p>
            <a:r>
              <a:t>Milestones</a:t>
            </a:r>
          </a:p>
          <a:p>
            <a:r>
              <a:t>Incentives</a:t>
            </a:r>
          </a:p>
          <a:p>
            <a:r>
              <a:t>Economic outcome</a:t>
            </a:r>
          </a:p>
        </p:txBody>
      </p:sp>
      <p:sp>
        <p:nvSpPr>
          <p:cNvPr id="14" name="Text 11"/>
          <p:cNvSpPr/>
          <p:nvPr/>
        </p:nvSpPr>
        <p:spPr>
          <a:xfrm>
            <a:off x="8705088" y="2148840"/>
            <a:ext cx="2788920" cy="9144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OUTCOME</a:t>
            </a:r>
            <a:endParaRPr lang="en-US" sz="1700" dirty="0"/>
          </a:p>
          <a:p>
            <a:r>
              <a:t>Recurring services for the agency</a:t>
            </a:r>
          </a:p>
        </p:txBody>
      </p:sp>
      <p:sp>
        <p:nvSpPr>
          <p:cNvPr id="15" name="Text 12"/>
          <p:cNvSpPr/>
          <p:nvPr/>
        </p:nvSpPr>
        <p:spPr>
          <a:xfrm>
            <a:off x="8897112" y="3401568"/>
            <a:ext cx="2432304" cy="146304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Consulting</a:t>
            </a:r>
            <a:endParaRPr lang="en-US" sz="1350" dirty="0"/>
          </a:p>
          <a:p>
            <a:r>
              <a:t>Design</a:t>
            </a:r>
          </a:p>
          <a:p>
            <a:r>
              <a:t>Operations</a:t>
            </a:r>
          </a:p>
          <a:p>
            <a:r>
              <a:t>Measurement</a:t>
            </a:r>
          </a:p>
          <a:p>
            <a:r>
              <a:t>Optimization</a:t>
            </a:r>
          </a:p>
        </p:txBody>
      </p:sp>
      <p:sp>
        <p:nvSpPr>
          <p:cNvPr id="16" name="Shape 13"/>
          <p:cNvSpPr/>
          <p:nvPr/>
        </p:nvSpPr>
        <p:spPr>
          <a:xfrm>
            <a:off x="3566160" y="2743200"/>
            <a:ext cx="777240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699248" y="2743200"/>
            <a:ext cx="777240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143000" y="5486400"/>
            <a:ext cx="99212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The campaign stops being a set of media assets and becomes the operating framework where an experience is designed, distributed and measured.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INCLUSION RELATIONSHIP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The holistic campaign: an inclusive action framework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8368" y="1965960"/>
            <a:ext cx="2148840" cy="91440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CAMPAIGN</a:t>
            </a:r>
            <a:endParaRPr lang="en-US" sz="1700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action framework</a:t>
            </a:r>
          </a:p>
        </p:txBody>
      </p:sp>
      <p:sp>
        <p:nvSpPr>
          <p:cNvPr id="11" name="Text 8"/>
          <p:cNvSpPr/>
          <p:nvPr/>
        </p:nvSpPr>
        <p:spPr>
          <a:xfrm>
            <a:off x="3090672" y="1828800"/>
            <a:ext cx="2011680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DIGITAL ADVERTISING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1828800"/>
            <a:ext cx="2121408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TRADITIONAL ADVERTISING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54112" y="1828800"/>
            <a:ext cx="1691640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COMMUNICATION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54096" y="4754880"/>
            <a:ext cx="1810512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POINT OF SALE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93792" y="4754880"/>
            <a:ext cx="1874520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eCOMMERCE / WEB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06640" y="4754880"/>
            <a:ext cx="1874520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CRM / CDP / MA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55480" y="3246120"/>
            <a:ext cx="1828800" cy="667512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LOYALTY &amp; RETENTION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81728" y="3054096"/>
            <a:ext cx="2834640" cy="96012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EXPERIENCE</a:t>
            </a:r>
            <a:endParaRPr lang="en-US" sz="2000" dirty="0"/>
          </a:p>
          <a:p>
            <a:r>
              <a:t>central unit</a:t>
            </a:r>
          </a:p>
        </p:txBody>
      </p:sp>
      <p:sp>
        <p:nvSpPr>
          <p:cNvPr id="19" name="Shape 16"/>
          <p:cNvSpPr/>
          <p:nvPr/>
        </p:nvSpPr>
        <p:spPr>
          <a:xfrm>
            <a:off x="2834640" y="2423160"/>
            <a:ext cx="1600200" cy="978408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120640" y="2359152"/>
            <a:ext cx="621792" cy="676656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863840" y="2350008"/>
            <a:ext cx="-640080" cy="694944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886200" y="4700016"/>
            <a:ext cx="1280160" cy="-694944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126480" y="4700016"/>
            <a:ext cx="0" cy="-64008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001000" y="4700016"/>
            <a:ext cx="-850392" cy="-694944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546336" y="3584448"/>
            <a:ext cx="-2002536" cy="-54864"/>
          </a:xfrm>
          <a:prstGeom prst="line">
            <a:avLst/>
          </a:prstGeom>
          <a:noFill/>
          <a:ln w="15240">
            <a:solidFill>
              <a:srgbClr val="F725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77824" y="5623560"/>
            <a:ext cx="105613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Loyalty does not sit outside the campaign: it is integrated as the layer that makes channel investment produce identification, progression, recurrence and margin.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TES AXIS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Experience is a reconstructible chain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Event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1828800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231136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Pattern</a:t>
            </a:r>
            <a:endParaRPr lang="en-US" sz="1160" dirty="0"/>
          </a:p>
        </p:txBody>
      </p:sp>
      <p:sp>
        <p:nvSpPr>
          <p:cNvPr id="13" name="Shape 10"/>
          <p:cNvSpPr/>
          <p:nvPr/>
        </p:nvSpPr>
        <p:spPr>
          <a:xfrm>
            <a:off x="3456432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858768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Sequence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5084064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486400" y="2880360"/>
            <a:ext cx="1207008" cy="56692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Progression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6711696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114032" y="2880360"/>
            <a:ext cx="1207008" cy="56692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Outcome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8339328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741664" y="2880360"/>
            <a:ext cx="1207008" cy="56692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Measurement</a:t>
            </a:r>
            <a:endParaRPr lang="en-US" sz="1160" dirty="0"/>
          </a:p>
        </p:txBody>
      </p:sp>
      <p:sp>
        <p:nvSpPr>
          <p:cNvPr id="21" name="Shape 18"/>
          <p:cNvSpPr/>
          <p:nvPr/>
        </p:nvSpPr>
        <p:spPr>
          <a:xfrm>
            <a:off x="9966960" y="3163824"/>
            <a:ext cx="33832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0369296" y="2880360"/>
            <a:ext cx="1207008" cy="56692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Learning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1005840" y="1993392"/>
            <a:ext cx="101498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Launching an asset is not enough: a valid experience must show how an event becomes progression, what outcome it produces and what learning it leaves for repetition or scale.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560320" y="4681728"/>
            <a:ext cx="713232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Measurement follows the outcome and precedes learning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05840" y="5806440"/>
            <a:ext cx="9966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Conceptual basis: TES Experience Ledger — event → pattern → sequence → progression → outcome → measurement → learning.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POSITIONING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Convercus complements the stack: it turns events into progression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2011680"/>
            <a:ext cx="10195560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Existing stack</a:t>
            </a:r>
            <a:endParaRPr lang="en-US" sz="1350" dirty="0"/>
          </a:p>
          <a:p>
            <a:r>
              <a:t>POS · eCommerce · CMS · CRM/MA · CDP · App · BI</a:t>
            </a:r>
          </a:p>
        </p:txBody>
      </p:sp>
      <p:sp>
        <p:nvSpPr>
          <p:cNvPr id="11" name="Shape 8"/>
          <p:cNvSpPr/>
          <p:nvPr/>
        </p:nvSpPr>
        <p:spPr>
          <a:xfrm>
            <a:off x="6108192" y="2670048"/>
            <a:ext cx="0" cy="18288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5840" y="2907792"/>
            <a:ext cx="10195560" cy="65836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Available events</a:t>
            </a:r>
            <a:endParaRPr lang="en-US" sz="1350" dirty="0"/>
          </a:p>
          <a:p>
            <a:r>
              <a:t>purchase · visit · registration · redemption · return · click · QR · in-store interaction</a:t>
            </a:r>
          </a:p>
        </p:txBody>
      </p:sp>
      <p:sp>
        <p:nvSpPr>
          <p:cNvPr id="13" name="Shape 10"/>
          <p:cNvSpPr/>
          <p:nvPr/>
        </p:nvSpPr>
        <p:spPr>
          <a:xfrm>
            <a:off x="6108192" y="3566160"/>
            <a:ext cx="0" cy="18288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05840" y="3803904"/>
            <a:ext cx="10195560" cy="65836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Convercus</a:t>
            </a:r>
            <a:endParaRPr lang="en-US" sz="1350" dirty="0"/>
          </a:p>
          <a:p>
            <a:r>
              <a:t>experiences · points · coupons · wallet · gamification · newsfeed · rules · partners</a:t>
            </a:r>
          </a:p>
        </p:txBody>
      </p:sp>
      <p:sp>
        <p:nvSpPr>
          <p:cNvPr id="15" name="Shape 12"/>
          <p:cNvSpPr/>
          <p:nvPr/>
        </p:nvSpPr>
        <p:spPr>
          <a:xfrm>
            <a:off x="6108192" y="4462272"/>
            <a:ext cx="0" cy="18288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05840" y="4700016"/>
            <a:ext cx="10195560" cy="65836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Outcome</a:t>
            </a:r>
            <a:endParaRPr lang="en-US" sz="1350" dirty="0"/>
          </a:p>
          <a:p>
            <a:r>
              <a:t>identification · recurrence · margin · lower cost-to-serve · sector learning</a:t>
            </a:r>
          </a:p>
        </p:txBody>
      </p:sp>
      <p:sp>
        <p:nvSpPr>
          <p:cNvPr id="17" name="Text 14"/>
          <p:cNvSpPr/>
          <p:nvPr/>
        </p:nvSpPr>
        <p:spPr>
          <a:xfrm>
            <a:off x="987552" y="5705856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The commercial thesis for the agency: Convercus does not replace CRM, CDP, eCommerce, POS or automation. It uses them as sources of reality and adds the layer that organizes behavior.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7" y="502920"/>
            <a:ext cx="980681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ECONOMICS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32688" y="23317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 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The economic layer: value for the agency and for the end client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VALUE FOR THE AGENCY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The agency moves from selling campaigns to operating recurring services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" y="2194560"/>
            <a:ext cx="2834640" cy="96012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Previous model</a:t>
            </a:r>
            <a:endParaRPr lang="en-US" sz="1600" dirty="0"/>
          </a:p>
          <a:p>
            <a:r>
              <a:t>Project / campaign / delivery</a:t>
            </a:r>
          </a:p>
        </p:txBody>
      </p:sp>
      <p:sp>
        <p:nvSpPr>
          <p:cNvPr id="11" name="Text 8"/>
          <p:cNvSpPr/>
          <p:nvPr/>
        </p:nvSpPr>
        <p:spPr>
          <a:xfrm>
            <a:off x="4370832" y="1965960"/>
            <a:ext cx="3474720" cy="12344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Convercus model</a:t>
            </a:r>
            <a:endParaRPr lang="en-US" sz="1800" dirty="0"/>
          </a:p>
          <a:p>
            <a:r>
              <a:t>Ongoing experience service</a:t>
            </a:r>
          </a:p>
        </p:txBody>
      </p:sp>
      <p:sp>
        <p:nvSpPr>
          <p:cNvPr id="12" name="Text 9"/>
          <p:cNvSpPr/>
          <p:nvPr/>
        </p:nvSpPr>
        <p:spPr>
          <a:xfrm>
            <a:off x="8467344" y="2194560"/>
            <a:ext cx="2834640" cy="9601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Recurring revenue</a:t>
            </a:r>
            <a:endParaRPr lang="en-US" sz="1450" dirty="0"/>
          </a:p>
          <a:p>
            <a:r>
              <a:t>Operations + measurement + optimization retainer</a:t>
            </a:r>
          </a:p>
        </p:txBody>
      </p:sp>
      <p:sp>
        <p:nvSpPr>
          <p:cNvPr id="13" name="Shape 10"/>
          <p:cNvSpPr/>
          <p:nvPr/>
        </p:nvSpPr>
        <p:spPr>
          <a:xfrm>
            <a:off x="3703320" y="2688336"/>
            <a:ext cx="466344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882128" y="2688336"/>
            <a:ext cx="420624" cy="0"/>
          </a:xfrm>
          <a:prstGeom prst="line">
            <a:avLst/>
          </a:prstGeom>
          <a:noFill/>
          <a:ln w="25400">
            <a:solidFill>
              <a:srgbClr val="092B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14400" y="4251960"/>
            <a:ext cx="2240280" cy="8961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Consulting</a:t>
            </a:r>
            <a:endParaRPr lang="en-US" sz="1250" dirty="0"/>
          </a:p>
          <a:p>
            <a:r>
              <a:t>diagnosis and opportunity map</a:t>
            </a:r>
          </a:p>
        </p:txBody>
      </p:sp>
      <p:sp>
        <p:nvSpPr>
          <p:cNvPr id="16" name="Text 13"/>
          <p:cNvSpPr/>
          <p:nvPr/>
        </p:nvSpPr>
        <p:spPr>
          <a:xfrm>
            <a:off x="3703320" y="4251960"/>
            <a:ext cx="2240280" cy="896112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Design</a:t>
            </a:r>
            <a:endParaRPr lang="en-US" sz="1250" dirty="0"/>
          </a:p>
          <a:p>
            <a:r>
              <a:t>experiences, rules, incentives and content</a:t>
            </a:r>
          </a:p>
        </p:txBody>
      </p:sp>
      <p:sp>
        <p:nvSpPr>
          <p:cNvPr id="17" name="Text 14"/>
          <p:cNvSpPr/>
          <p:nvPr/>
        </p:nvSpPr>
        <p:spPr>
          <a:xfrm>
            <a:off x="6492240" y="4251960"/>
            <a:ext cx="2240280" cy="8961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Operations</a:t>
            </a:r>
            <a:endParaRPr lang="en-US" sz="1250" dirty="0"/>
          </a:p>
          <a:p>
            <a:r>
              <a:t>publishing, segmentation, coupons and calendar</a:t>
            </a:r>
          </a:p>
        </p:txBody>
      </p:sp>
      <p:sp>
        <p:nvSpPr>
          <p:cNvPr id="18" name="Text 15"/>
          <p:cNvSpPr/>
          <p:nvPr/>
        </p:nvSpPr>
        <p:spPr>
          <a:xfrm>
            <a:off x="9281160" y="4251960"/>
            <a:ext cx="2240280" cy="896112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Measurement</a:t>
            </a:r>
            <a:endParaRPr lang="en-US" sz="1250" dirty="0"/>
          </a:p>
          <a:p>
            <a:r>
              <a:t>scorecard, testing, learning and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PACKAGING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Economic service model for the agency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09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2057400"/>
            <a:ext cx="23408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t>1 · Opportunity sprint</a:t>
            </a:r>
            <a:endParaRPr lang="en-US" sz="1230" dirty="0"/>
          </a:p>
          <a:p>
            <a:r>
              <a:t>Diagnosis, experience map, KPI hypotheses and initial business case.</a:t>
            </a:r>
          </a:p>
        </p:txBody>
      </p:sp>
      <p:sp>
        <p:nvSpPr>
          <p:cNvPr id="11" name="Text 8"/>
          <p:cNvSpPr/>
          <p:nvPr/>
        </p:nvSpPr>
        <p:spPr>
          <a:xfrm>
            <a:off x="813816" y="4160520"/>
            <a:ext cx="2084832" cy="274320"/>
          </a:xfrm>
          <a:prstGeom prst="rect">
            <a:avLst/>
          </a:prstGeom>
          <a:solidFill>
            <a:srgbClr val="090685"/>
          </a:solidFill>
          <a:ln>
            <a:solidFill>
              <a:srgbClr val="0906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Kick-off fee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83864" y="2057400"/>
            <a:ext cx="23408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t>2 · Experience design</a:t>
            </a:r>
            <a:endParaRPr lang="en-US" sz="1230" dirty="0"/>
          </a:p>
          <a:p>
            <a:r>
              <a:t>Sequences, rules, incentives, content, points/credits, wallet and guardrails.</a:t>
            </a:r>
          </a:p>
        </p:txBody>
      </p:sp>
      <p:sp>
        <p:nvSpPr>
          <p:cNvPr id="13" name="Text 10"/>
          <p:cNvSpPr/>
          <p:nvPr/>
        </p:nvSpPr>
        <p:spPr>
          <a:xfrm>
            <a:off x="3611880" y="4160520"/>
            <a:ext cx="2084832" cy="274320"/>
          </a:xfrm>
          <a:prstGeom prst="rect">
            <a:avLst/>
          </a:prstGeom>
          <a:solidFill>
            <a:srgbClr val="090685"/>
          </a:solidFill>
          <a:ln>
            <a:solidFill>
              <a:srgbClr val="0906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Design fee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81928" y="2057400"/>
            <a:ext cx="2340864" cy="187452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t>3 · Monthly operations</a:t>
            </a:r>
            <a:endParaRPr lang="en-US" sz="1230" dirty="0"/>
          </a:p>
          <a:p>
            <a:r>
              <a:t>Calendar, publishing, segmentation, coupons, QA, reporting and optimization.</a:t>
            </a:r>
          </a:p>
        </p:txBody>
      </p:sp>
      <p:sp>
        <p:nvSpPr>
          <p:cNvPr id="15" name="Text 12"/>
          <p:cNvSpPr/>
          <p:nvPr/>
        </p:nvSpPr>
        <p:spPr>
          <a:xfrm>
            <a:off x="6409944" y="4160520"/>
            <a:ext cx="2084832" cy="274320"/>
          </a:xfrm>
          <a:prstGeom prst="rect">
            <a:avLst/>
          </a:prstGeom>
          <a:solidFill>
            <a:srgbClr val="F72585"/>
          </a:solidFill>
          <a:ln>
            <a:solidFill>
              <a:srgbClr val="F725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t>Recurring retainer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9992" y="2057400"/>
            <a:ext cx="234086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algn="l" indent="0" marL="0">
              <a:buNone/>
            </a:pPr>
            <a:r>
              <a:t>4 · Analytics layer</a:t>
            </a:r>
            <a:endParaRPr lang="en-US" sz="1230" dirty="0"/>
          </a:p>
          <a:p>
            <a:r>
              <a:t>Baseline, cohorts, holdout, incremental margin, payback and reusable learning.</a:t>
            </a:r>
          </a:p>
        </p:txBody>
      </p:sp>
      <p:sp>
        <p:nvSpPr>
          <p:cNvPr id="17" name="Text 14"/>
          <p:cNvSpPr/>
          <p:nvPr/>
        </p:nvSpPr>
        <p:spPr>
          <a:xfrm>
            <a:off x="9208008" y="4160520"/>
            <a:ext cx="2084832" cy="274320"/>
          </a:xfrm>
          <a:prstGeom prst="rect">
            <a:avLst/>
          </a:prstGeom>
          <a:solidFill>
            <a:srgbClr val="090685"/>
          </a:solidFill>
          <a:ln>
            <a:solidFill>
              <a:srgbClr val="09068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Retainer / success fee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The agency monetizes strategic capability, operational creativity and economic governance. Convercus provides the infrastructure that makes the service repeatable and scalable across clients.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005840" y="5998464"/>
            <a:ext cx="9875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Specific amounts are set by agency, sector, scope and client maturity. The economic logic is modular, not a fixed tariff.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ROI MODEL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The end client buys economic impact, not just activation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1975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Economic reading formula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542032"/>
            <a:ext cx="3794760" cy="219456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Incremental margin</a:t>
            </a:r>
            <a:endParaRPr lang="en-US" sz="1800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=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incremental sales × gross margin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− incentive cost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− cost-to-serve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− cannibalization</a:t>
            </a:r>
          </a:p>
        </p:txBody>
      </p:sp>
      <p:sp>
        <p:nvSpPr>
          <p:cNvPr id="12" name="Text 9"/>
          <p:cNvSpPr/>
          <p:nvPr/>
        </p:nvSpPr>
        <p:spPr>
          <a:xfrm>
            <a:off x="5257800" y="1975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Value creation levers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57800" y="2514600"/>
            <a:ext cx="5760720" cy="5029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t>Increase</a:t>
            </a:r>
            <a:endParaRPr lang="en-US" sz="1250" dirty="0"/>
          </a:p>
          <a:p>
            <a:r>
              <a:t>identification · frequency · AOV · repeat purchase · cross-sell</a:t>
            </a:r>
          </a:p>
        </p:txBody>
      </p:sp>
      <p:sp>
        <p:nvSpPr>
          <p:cNvPr id="14" name="Text 11"/>
          <p:cNvSpPr/>
          <p:nvPr/>
        </p:nvSpPr>
        <p:spPr>
          <a:xfrm>
            <a:off x="5257800" y="3200400"/>
            <a:ext cx="5760720" cy="50292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t>Protect</a:t>
            </a:r>
            <a:endParaRPr lang="en-US" sz="1250" dirty="0"/>
          </a:p>
          <a:p>
            <a:r>
              <a:t>gross margin · sell-through · perceived price · profitable mix</a:t>
            </a:r>
          </a:p>
        </p:txBody>
      </p:sp>
      <p:sp>
        <p:nvSpPr>
          <p:cNvPr id="15" name="Text 12"/>
          <p:cNvSpPr/>
          <p:nvPr/>
        </p:nvSpPr>
        <p:spPr>
          <a:xfrm>
            <a:off x="5257800" y="3886200"/>
            <a:ext cx="5760720" cy="5029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t>Reduce</a:t>
            </a:r>
            <a:endParaRPr lang="en-US" sz="1250" dirty="0"/>
          </a:p>
          <a:p>
            <a:r>
              <a:t>markdown · returns · cost-to-serve · paid-media dependence</a:t>
            </a:r>
          </a:p>
        </p:txBody>
      </p:sp>
      <p:sp>
        <p:nvSpPr>
          <p:cNvPr id="16" name="Text 13"/>
          <p:cNvSpPr/>
          <p:nvPr/>
        </p:nvSpPr>
        <p:spPr>
          <a:xfrm>
            <a:off x="5257800" y="4572000"/>
            <a:ext cx="5760720" cy="50292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t>Learn</a:t>
            </a:r>
            <a:endParaRPr lang="en-US" sz="1250" dirty="0"/>
          </a:p>
          <a:p>
            <a:r>
              <a:t>cohorts · incrementality · sector pattern · scalability</a:t>
            </a:r>
          </a:p>
        </p:txBody>
      </p:sp>
      <p:sp>
        <p:nvSpPr>
          <p:cNvPr id="17" name="Text 14"/>
          <p:cNvSpPr/>
          <p:nvPr/>
        </p:nvSpPr>
        <p:spPr>
          <a:xfrm>
            <a:off x="960120" y="5715000"/>
            <a:ext cx="10058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The economic layer must connect to auditable KPIs: formula, source, calculation level, frequency, owner and interpretation criteria.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TES KPI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Economic-operational scorecard to govern experiences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58952" y="2057400"/>
            <a:ext cx="4983480" cy="123444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t>Identity and adoption</a:t>
            </a:r>
            <a:endParaRPr lang="en-US" sz="1300" dirty="0"/>
          </a:p>
          <a:p>
            <a:r>
              <a:t>Customer Identification Rate</a:t>
            </a:r>
          </a:p>
          <a:p>
            <a:r>
              <a:t>Member Penetration</a:t>
            </a:r>
          </a:p>
          <a:p>
            <a:r>
              <a:t>Valid consent</a:t>
            </a:r>
          </a:p>
        </p:txBody>
      </p:sp>
      <p:sp>
        <p:nvSpPr>
          <p:cNvPr id="11" name="Text 8"/>
          <p:cNvSpPr/>
          <p:nvPr/>
        </p:nvSpPr>
        <p:spPr>
          <a:xfrm>
            <a:off x="6336792" y="2057400"/>
            <a:ext cx="4983480" cy="123444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t>Progression and loyalty</a:t>
            </a:r>
            <a:endParaRPr lang="en-US" sz="1300" dirty="0"/>
          </a:p>
          <a:p>
            <a:r>
              <a:t>Start Rate / Completion Rate</a:t>
            </a:r>
          </a:p>
          <a:p>
            <a:r>
              <a:t>60/90-day Repeat Rate</a:t>
            </a:r>
          </a:p>
          <a:p>
            <a:r>
              <a:t>Purchase frequency</a:t>
            </a:r>
          </a:p>
        </p:txBody>
      </p:sp>
      <p:sp>
        <p:nvSpPr>
          <p:cNvPr id="12" name="Text 9"/>
          <p:cNvSpPr/>
          <p:nvPr/>
        </p:nvSpPr>
        <p:spPr>
          <a:xfrm>
            <a:off x="758952" y="3749040"/>
            <a:ext cx="4983480" cy="123444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t>Economics and margin</a:t>
            </a:r>
            <a:endParaRPr lang="en-US" sz="1300" dirty="0"/>
          </a:p>
          <a:p>
            <a:r>
              <a:t>Gross Margin %</a:t>
            </a:r>
          </a:p>
          <a:p>
            <a:r>
              <a:t>Contribution Margin/txn</a:t>
            </a:r>
          </a:p>
          <a:p>
            <a:r>
              <a:t>Payback Period</a:t>
            </a:r>
          </a:p>
          <a:p>
            <a:r>
              <a:t>Effective Rebate Rate</a:t>
            </a:r>
          </a:p>
        </p:txBody>
      </p:sp>
      <p:sp>
        <p:nvSpPr>
          <p:cNvPr id="13" name="Text 10"/>
          <p:cNvSpPr/>
          <p:nvPr/>
        </p:nvSpPr>
        <p:spPr>
          <a:xfrm>
            <a:off x="6336792" y="3749040"/>
            <a:ext cx="4983480" cy="123444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t>Operations and channel</a:t>
            </a:r>
            <a:endParaRPr lang="en-US" sz="1300" dirty="0"/>
          </a:p>
          <a:p>
            <a:r>
              <a:t>Cost-to-Serve</a:t>
            </a:r>
          </a:p>
          <a:p>
            <a:r>
              <a:t>Promo Uplift</a:t>
            </a:r>
          </a:p>
          <a:p>
            <a:r>
              <a:t>BOPIS / BORIS</a:t>
            </a:r>
          </a:p>
          <a:p>
            <a:r>
              <a:t>Return Rate / Markdown Rate</a:t>
            </a:r>
          </a:p>
        </p:txBody>
      </p:sp>
      <p:sp>
        <p:nvSpPr>
          <p:cNvPr id="14" name="Text 11"/>
          <p:cNvSpPr/>
          <p:nvPr/>
        </p:nvSpPr>
        <p:spPr>
          <a:xfrm>
            <a:off x="932688" y="5532120"/>
            <a:ext cx="10241280" cy="56692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Governance rule: no KPI stands on its name alone. It must be reconstructible by formula, source, calculation level, frequency, owner and decision gate.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7" y="502920"/>
            <a:ext cx="980681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32688" y="23317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 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Holistic campaign, operations and experience toolkit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METHOD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From campaign brief to experience architecture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1</a:t>
            </a:r>
            <a:endParaRPr lang="en-US" sz="1320" dirty="0"/>
          </a:p>
          <a:p>
            <a:r>
              <a:t>Economic objective</a:t>
            </a:r>
          </a:p>
        </p:txBody>
      </p:sp>
      <p:sp>
        <p:nvSpPr>
          <p:cNvPr id="11" name="Shape 8"/>
          <p:cNvSpPr/>
          <p:nvPr/>
        </p:nvSpPr>
        <p:spPr>
          <a:xfrm>
            <a:off x="2816352" y="245059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410712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2</a:t>
            </a:r>
            <a:endParaRPr lang="en-US" sz="1320" dirty="0"/>
          </a:p>
          <a:p>
            <a:r>
              <a:t>Triggering event</a:t>
            </a:r>
          </a:p>
        </p:txBody>
      </p:sp>
      <p:sp>
        <p:nvSpPr>
          <p:cNvPr id="13" name="Shape 10"/>
          <p:cNvSpPr/>
          <p:nvPr/>
        </p:nvSpPr>
        <p:spPr>
          <a:xfrm>
            <a:off x="5724144" y="245059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18504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3</a:t>
            </a:r>
            <a:endParaRPr lang="en-US" sz="1320" dirty="0"/>
          </a:p>
          <a:p>
            <a:r>
              <a:t>Loyalty profile</a:t>
            </a:r>
          </a:p>
        </p:txBody>
      </p:sp>
      <p:sp>
        <p:nvSpPr>
          <p:cNvPr id="15" name="Shape 12"/>
          <p:cNvSpPr/>
          <p:nvPr/>
        </p:nvSpPr>
        <p:spPr>
          <a:xfrm>
            <a:off x="8631936" y="245059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226296" y="2029968"/>
            <a:ext cx="2304288" cy="841248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4</a:t>
            </a:r>
            <a:endParaRPr lang="en-US" sz="1320" dirty="0"/>
          </a:p>
          <a:p>
            <a:r>
              <a:t>Sequence and milestones</a:t>
            </a:r>
          </a:p>
        </p:txBody>
      </p:sp>
      <p:sp>
        <p:nvSpPr>
          <p:cNvPr id="17" name="Text 14"/>
          <p:cNvSpPr/>
          <p:nvPr/>
        </p:nvSpPr>
        <p:spPr>
          <a:xfrm>
            <a:off x="502920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5</a:t>
            </a:r>
            <a:endParaRPr lang="en-US" sz="1320" dirty="0"/>
          </a:p>
          <a:p>
            <a:r>
              <a:t>Incentives and rules</a:t>
            </a:r>
          </a:p>
        </p:txBody>
      </p:sp>
      <p:sp>
        <p:nvSpPr>
          <p:cNvPr id="18" name="Shape 15"/>
          <p:cNvSpPr/>
          <p:nvPr/>
        </p:nvSpPr>
        <p:spPr>
          <a:xfrm>
            <a:off x="2816352" y="386791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410712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6</a:t>
            </a:r>
            <a:endParaRPr lang="en-US" sz="1320" dirty="0"/>
          </a:p>
          <a:p>
            <a:r>
              <a:t>Channels</a:t>
            </a:r>
          </a:p>
        </p:txBody>
      </p:sp>
      <p:sp>
        <p:nvSpPr>
          <p:cNvPr id="20" name="Shape 17"/>
          <p:cNvSpPr/>
          <p:nvPr/>
        </p:nvSpPr>
        <p:spPr>
          <a:xfrm>
            <a:off x="5724144" y="386791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318504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7</a:t>
            </a:r>
            <a:endParaRPr lang="en-US" sz="1320" dirty="0"/>
          </a:p>
          <a:p>
            <a:r>
              <a:t>Measurement</a:t>
            </a:r>
          </a:p>
        </p:txBody>
      </p:sp>
      <p:sp>
        <p:nvSpPr>
          <p:cNvPr id="22" name="Shape 19"/>
          <p:cNvSpPr/>
          <p:nvPr/>
        </p:nvSpPr>
        <p:spPr>
          <a:xfrm>
            <a:off x="8631936" y="3867912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226296" y="3447288"/>
            <a:ext cx="2304288" cy="841248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8</a:t>
            </a:r>
            <a:endParaRPr lang="en-US" sz="1320" dirty="0"/>
          </a:p>
          <a:p>
            <a:r>
              <a:t>Learning</a:t>
            </a:r>
          </a:p>
        </p:txBody>
      </p:sp>
      <p:sp>
        <p:nvSpPr>
          <p:cNvPr id="24" name="Shape 21"/>
          <p:cNvSpPr/>
          <p:nvPr/>
        </p:nvSpPr>
        <p:spPr>
          <a:xfrm>
            <a:off x="9345168" y="2871216"/>
            <a:ext cx="0" cy="530352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236976" y="3447288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144768" y="3447288"/>
            <a:ext cx="466344" cy="0"/>
          </a:xfrm>
          <a:prstGeom prst="line">
            <a:avLst/>
          </a:prstGeom>
          <a:noFill/>
          <a:ln w="1270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87552" y="5394960"/>
            <a:ext cx="10195560" cy="56692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The agency does not “fill channels”: it designs a progression with economic intent and then decides which media make it happen.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TOOLKIT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Operational toolkit: assets the agency turns into a service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" y="2029968"/>
            <a:ext cx="2340864" cy="82296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Experiences</a:t>
            </a:r>
            <a:endParaRPr lang="en-US" sz="1220" dirty="0"/>
          </a:p>
          <a:p>
            <a:r>
              <a:t>sequences, milestones and progression</a:t>
            </a:r>
          </a:p>
        </p:txBody>
      </p:sp>
      <p:sp>
        <p:nvSpPr>
          <p:cNvPr id="11" name="Text 8"/>
          <p:cNvSpPr/>
          <p:nvPr/>
        </p:nvSpPr>
        <p:spPr>
          <a:xfrm>
            <a:off x="3502152" y="20299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Newsfeed</a:t>
            </a:r>
            <a:endParaRPr lang="en-US" sz="1220" dirty="0"/>
          </a:p>
          <a:p>
            <a:r>
              <a:t>content + CTA + optional push</a:t>
            </a:r>
          </a:p>
        </p:txBody>
      </p:sp>
      <p:sp>
        <p:nvSpPr>
          <p:cNvPr id="12" name="Text 9"/>
          <p:cNvSpPr/>
          <p:nvPr/>
        </p:nvSpPr>
        <p:spPr>
          <a:xfrm>
            <a:off x="6291072" y="2029968"/>
            <a:ext cx="2340864" cy="82296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Coupons</a:t>
            </a:r>
            <a:endParaRPr lang="en-US" sz="1220" dirty="0"/>
          </a:p>
          <a:p>
            <a:r>
              <a:t>benefit + rules + targeting</a:t>
            </a:r>
          </a:p>
        </p:txBody>
      </p:sp>
      <p:sp>
        <p:nvSpPr>
          <p:cNvPr id="13" name="Text 10"/>
          <p:cNvSpPr/>
          <p:nvPr/>
        </p:nvSpPr>
        <p:spPr>
          <a:xfrm>
            <a:off x="9079992" y="20299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Points / credits</a:t>
            </a:r>
            <a:endParaRPr lang="en-US" sz="1220" dirty="0"/>
          </a:p>
          <a:p>
            <a:r>
              <a:t>earn and redeem with governance</a:t>
            </a:r>
          </a:p>
        </p:txBody>
      </p:sp>
      <p:sp>
        <p:nvSpPr>
          <p:cNvPr id="14" name="Text 11"/>
          <p:cNvSpPr/>
          <p:nvPr/>
        </p:nvSpPr>
        <p:spPr>
          <a:xfrm>
            <a:off x="713232" y="3401568"/>
            <a:ext cx="2340864" cy="82296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Wallet</a:t>
            </a:r>
            <a:endParaRPr lang="en-US" sz="1220" dirty="0"/>
          </a:p>
          <a:p>
            <a:r>
              <a:t>portable and visible benefits</a:t>
            </a:r>
          </a:p>
        </p:txBody>
      </p:sp>
      <p:sp>
        <p:nvSpPr>
          <p:cNvPr id="15" name="Text 12"/>
          <p:cNvSpPr/>
          <p:nvPr/>
        </p:nvSpPr>
        <p:spPr>
          <a:xfrm>
            <a:off x="3502152" y="34015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QR / OCR</a:t>
            </a:r>
            <a:endParaRPr lang="en-US" sz="1220" dirty="0"/>
          </a:p>
          <a:p>
            <a:r>
              <a:t>event identification and validation</a:t>
            </a:r>
          </a:p>
        </p:txBody>
      </p:sp>
      <p:sp>
        <p:nvSpPr>
          <p:cNvPr id="16" name="Text 13"/>
          <p:cNvSpPr/>
          <p:nvPr/>
        </p:nvSpPr>
        <p:spPr>
          <a:xfrm>
            <a:off x="6291072" y="3401568"/>
            <a:ext cx="2340864" cy="82296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Gamification</a:t>
            </a:r>
            <a:endParaRPr lang="en-US" sz="1220" dirty="0"/>
          </a:p>
          <a:p>
            <a:r>
              <a:t>challenges, stamps, tiers and badges</a:t>
            </a:r>
          </a:p>
        </p:txBody>
      </p:sp>
      <p:sp>
        <p:nvSpPr>
          <p:cNvPr id="17" name="Text 14"/>
          <p:cNvSpPr/>
          <p:nvPr/>
        </p:nvSpPr>
        <p:spPr>
          <a:xfrm>
            <a:off x="9079992" y="3401568"/>
            <a:ext cx="2340864" cy="82296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Referral / partners</a:t>
            </a:r>
            <a:endParaRPr lang="en-US" sz="1220" dirty="0"/>
          </a:p>
          <a:p>
            <a:r>
              <a:t>prescription and partner ecosystem</a:t>
            </a:r>
          </a:p>
        </p:txBody>
      </p:sp>
      <p:sp>
        <p:nvSpPr>
          <p:cNvPr id="18" name="Text 15"/>
          <p:cNvSpPr/>
          <p:nvPr/>
        </p:nvSpPr>
        <p:spPr>
          <a:xfrm>
            <a:off x="914400" y="5349240"/>
            <a:ext cx="103784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t>These assets are not isolated modules: the agency packages them as consulting, experience design, campaign operations, measurement and continuous optimization.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GOVERNANCE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Ecosystem operating model: agency, client and Convercus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" y="2011680"/>
            <a:ext cx="3246120" cy="233172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AGENCY</a:t>
            </a:r>
            <a:endParaRPr lang="en-US" sz="1400" dirty="0"/>
          </a:p>
          <a:p>
            <a:r>
              <a:t>Experience strategy</a:t>
            </a:r>
          </a:p>
          <a:p>
            <a:r>
              <a:t>Creativity and content</a:t>
            </a:r>
          </a:p>
          <a:p>
            <a:r>
              <a:t>Campaign calendar</a:t>
            </a:r>
          </a:p>
          <a:p>
            <a:r>
              <a:t>Operations and reporting</a:t>
            </a:r>
          </a:p>
        </p:txBody>
      </p:sp>
      <p:sp>
        <p:nvSpPr>
          <p:cNvPr id="11" name="Text 8"/>
          <p:cNvSpPr/>
          <p:nvPr/>
        </p:nvSpPr>
        <p:spPr>
          <a:xfrm>
            <a:off x="4462272" y="2011680"/>
            <a:ext cx="3246120" cy="233172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END CLIENT</a:t>
            </a:r>
            <a:endParaRPr lang="en-US" sz="1400" dirty="0"/>
          </a:p>
          <a:p>
            <a:r>
              <a:t>Business objectives</a:t>
            </a:r>
          </a:p>
          <a:p>
            <a:r>
              <a:t>Data and channels</a:t>
            </a:r>
          </a:p>
          <a:p>
            <a:r>
              <a:t>Rule approval</a:t>
            </a:r>
          </a:p>
          <a:p>
            <a:r>
              <a:t>Commercial priorities</a:t>
            </a:r>
          </a:p>
        </p:txBody>
      </p:sp>
      <p:sp>
        <p:nvSpPr>
          <p:cNvPr id="12" name="Text 9"/>
          <p:cNvSpPr/>
          <p:nvPr/>
        </p:nvSpPr>
        <p:spPr>
          <a:xfrm>
            <a:off x="8065008" y="2011680"/>
            <a:ext cx="3246120" cy="233172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CONVERCUS</a:t>
            </a:r>
            <a:endParaRPr lang="en-US" sz="1400" dirty="0"/>
          </a:p>
          <a:p>
            <a:r>
              <a:t>Platform</a:t>
            </a:r>
          </a:p>
          <a:p>
            <a:r>
              <a:t>Integrations</a:t>
            </a:r>
          </a:p>
          <a:p>
            <a:r>
              <a:t>Loyalty capabilities</a:t>
            </a:r>
          </a:p>
          <a:p>
            <a:r>
              <a:t>Enablement and support</a:t>
            </a:r>
          </a:p>
        </p:txBody>
      </p:sp>
      <p:sp>
        <p:nvSpPr>
          <p:cNvPr id="13" name="Shape 10"/>
          <p:cNvSpPr/>
          <p:nvPr/>
        </p:nvSpPr>
        <p:spPr>
          <a:xfrm>
            <a:off x="4142232" y="3172968"/>
            <a:ext cx="274320" cy="0"/>
          </a:xfrm>
          <a:prstGeom prst="line">
            <a:avLst/>
          </a:prstGeom>
          <a:noFill/>
          <a:ln w="1651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735824" y="3172968"/>
            <a:ext cx="274320" cy="0"/>
          </a:xfrm>
          <a:prstGeom prst="line">
            <a:avLst/>
          </a:prstGeom>
          <a:noFill/>
          <a:ln w="1651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78992" y="5230368"/>
            <a:ext cx="9966960" cy="621792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Commercial principle: the agency is not a mere prescriber. It is a partner in adoption, sales, design and experience operations.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EXECUTION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A holistic campaign is governed by experience, not by channel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" y="2084832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Paid digital</a:t>
            </a:r>
            <a:endParaRPr lang="en-US" sz="1220" dirty="0"/>
          </a:p>
          <a:p>
            <a:r>
              <a:t>audiences and retargeting</a:t>
            </a:r>
          </a:p>
        </p:txBody>
      </p:sp>
      <p:sp>
        <p:nvSpPr>
          <p:cNvPr id="11" name="Text 8"/>
          <p:cNvSpPr/>
          <p:nvPr/>
        </p:nvSpPr>
        <p:spPr>
          <a:xfrm>
            <a:off x="4480560" y="2084832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OOH / traditional</a:t>
            </a:r>
            <a:endParaRPr lang="en-US" sz="1220" dirty="0"/>
          </a:p>
          <a:p>
            <a:r>
              <a:t>presence and memory</a:t>
            </a:r>
          </a:p>
        </p:txBody>
      </p:sp>
      <p:sp>
        <p:nvSpPr>
          <p:cNvPr id="12" name="Text 9"/>
          <p:cNvSpPr/>
          <p:nvPr/>
        </p:nvSpPr>
        <p:spPr>
          <a:xfrm>
            <a:off x="8247888" y="2084832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Communication</a:t>
            </a:r>
            <a:endParaRPr lang="en-US" sz="1220" dirty="0"/>
          </a:p>
          <a:p>
            <a:r>
              <a:t>email, push, content</a:t>
            </a:r>
          </a:p>
        </p:txBody>
      </p:sp>
      <p:sp>
        <p:nvSpPr>
          <p:cNvPr id="13" name="Text 10"/>
          <p:cNvSpPr/>
          <p:nvPr/>
        </p:nvSpPr>
        <p:spPr>
          <a:xfrm>
            <a:off x="713232" y="3145536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Point of sale</a:t>
            </a:r>
            <a:endParaRPr lang="en-US" sz="1220" dirty="0"/>
          </a:p>
          <a:p>
            <a:r>
              <a:t>staff, QR, POS</a:t>
            </a:r>
          </a:p>
        </p:txBody>
      </p:sp>
      <p:sp>
        <p:nvSpPr>
          <p:cNvPr id="14" name="Text 11"/>
          <p:cNvSpPr/>
          <p:nvPr/>
        </p:nvSpPr>
        <p:spPr>
          <a:xfrm>
            <a:off x="4480560" y="3145536"/>
            <a:ext cx="2999232" cy="658368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eCommerce</a:t>
            </a:r>
            <a:endParaRPr lang="en-US" sz="1220" dirty="0"/>
          </a:p>
          <a:p>
            <a:r>
              <a:t>landing, checkout, click &amp; collect</a:t>
            </a:r>
          </a:p>
        </p:txBody>
      </p:sp>
      <p:sp>
        <p:nvSpPr>
          <p:cNvPr id="15" name="Text 12"/>
          <p:cNvSpPr/>
          <p:nvPr/>
        </p:nvSpPr>
        <p:spPr>
          <a:xfrm>
            <a:off x="8247888" y="3145536"/>
            <a:ext cx="2999232" cy="65836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Loyalty</a:t>
            </a:r>
            <a:endParaRPr lang="en-US" sz="1220" dirty="0"/>
          </a:p>
          <a:p>
            <a:r>
              <a:t>points, coupon, wallet, tiers</a:t>
            </a:r>
          </a:p>
        </p:txBody>
      </p:sp>
      <p:sp>
        <p:nvSpPr>
          <p:cNvPr id="16" name="Text 13"/>
          <p:cNvSpPr/>
          <p:nvPr/>
        </p:nvSpPr>
        <p:spPr>
          <a:xfrm>
            <a:off x="2423160" y="4809744"/>
            <a:ext cx="7360920" cy="77724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EXPERIENCE</a:t>
            </a:r>
            <a:endParaRPr lang="en-US" sz="1800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common sequence · rules · incentives · measurement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68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2BFD"/>
          </a:solidFill>
          <a:ln w="12700">
            <a:solidFill>
              <a:srgbClr val="092BF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947" y="502920"/>
            <a:ext cx="980681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32688" y="23317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Act 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Use cases, pilot and next commercial steps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SECTOR USE CASE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Retail/fashion case: from discounting to the criterion-building experience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6384" y="2029968"/>
            <a:ext cx="3246120" cy="1005840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Economic problem</a:t>
            </a:r>
            <a:endParaRPr lang="en-US" sz="1350" dirty="0"/>
          </a:p>
          <a:p>
            <a:r>
              <a:t>Markdown, returns and dependence on flat promotions.</a:t>
            </a:r>
          </a:p>
        </p:txBody>
      </p:sp>
      <p:sp>
        <p:nvSpPr>
          <p:cNvPr id="11" name="Text 8"/>
          <p:cNvSpPr/>
          <p:nvPr/>
        </p:nvSpPr>
        <p:spPr>
          <a:xfrm>
            <a:off x="4443984" y="2029968"/>
            <a:ext cx="3246120" cy="100584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Experience</a:t>
            </a:r>
            <a:endParaRPr lang="en-US" sz="1350" dirty="0"/>
          </a:p>
          <a:p>
            <a:r>
              <a:t>Explore category → progress → receive incentive only when there is real friction.</a:t>
            </a:r>
          </a:p>
        </p:txBody>
      </p:sp>
      <p:sp>
        <p:nvSpPr>
          <p:cNvPr id="12" name="Text 9"/>
          <p:cNvSpPr/>
          <p:nvPr/>
        </p:nvSpPr>
        <p:spPr>
          <a:xfrm>
            <a:off x="8101584" y="2029968"/>
            <a:ext cx="3246120" cy="100584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KPIs</a:t>
            </a:r>
            <a:endParaRPr lang="en-US" sz="1350" dirty="0"/>
          </a:p>
          <a:p>
            <a:r>
              <a:t>Markdown Rate · Discount Dilution · GM% · Repeat Rate · Return Rate.</a:t>
            </a:r>
          </a:p>
        </p:txBody>
      </p:sp>
      <p:sp>
        <p:nvSpPr>
          <p:cNvPr id="13" name="Shape 10"/>
          <p:cNvSpPr/>
          <p:nvPr/>
        </p:nvSpPr>
        <p:spPr>
          <a:xfrm>
            <a:off x="4050792" y="25328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7717536" y="2532888"/>
            <a:ext cx="29260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0120" y="4315968"/>
            <a:ext cx="10241280" cy="786384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Thesis for the agency: replace flat discounting with an experience of guidance, recognition and selective advantage. The value is not “more promotion” but better decision quality.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SECTOR USE CASE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Hospitality/leisure case: before, during and after the stay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19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4400" y="2377440"/>
            <a:ext cx="2816352" cy="117043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Before</a:t>
            </a:r>
            <a:endParaRPr lang="en-US" sz="1600" dirty="0"/>
          </a:p>
          <a:p>
            <a:r>
              <a:t>direct booking</a:t>
            </a:r>
          </a:p>
          <a:p>
            <a:r>
              <a:t>exclusive benefit</a:t>
            </a:r>
          </a:p>
        </p:txBody>
      </p:sp>
      <p:sp>
        <p:nvSpPr>
          <p:cNvPr id="11" name="Shape 8"/>
          <p:cNvSpPr/>
          <p:nvPr/>
        </p:nvSpPr>
        <p:spPr>
          <a:xfrm>
            <a:off x="3794760" y="2962656"/>
            <a:ext cx="621792" cy="0"/>
          </a:xfrm>
          <a:prstGeom prst="line">
            <a:avLst/>
          </a:prstGeom>
          <a:noFill/>
          <a:ln w="1905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663440" y="2377440"/>
            <a:ext cx="2816352" cy="1170432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During</a:t>
            </a:r>
            <a:endParaRPr lang="en-US" sz="1600" dirty="0"/>
          </a:p>
          <a:p>
            <a:r>
              <a:t>services, F&amp;B</a:t>
            </a:r>
          </a:p>
          <a:p>
            <a:r>
              <a:t>activities and upgrades</a:t>
            </a:r>
          </a:p>
        </p:txBody>
      </p:sp>
      <p:sp>
        <p:nvSpPr>
          <p:cNvPr id="13" name="Shape 10"/>
          <p:cNvSpPr/>
          <p:nvPr/>
        </p:nvSpPr>
        <p:spPr>
          <a:xfrm>
            <a:off x="7543800" y="2962656"/>
            <a:ext cx="621792" cy="0"/>
          </a:xfrm>
          <a:prstGeom prst="line">
            <a:avLst/>
          </a:prstGeom>
          <a:noFill/>
          <a:ln w="1905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412480" y="2377440"/>
            <a:ext cx="2816352" cy="117043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After</a:t>
            </a:r>
            <a:endParaRPr lang="en-US" sz="1600" dirty="0"/>
          </a:p>
          <a:p>
            <a:r>
              <a:t>thank-you</a:t>
            </a:r>
          </a:p>
          <a:p>
            <a:r>
              <a:t>repeat purchase and recommendation</a:t>
            </a:r>
          </a:p>
        </p:txBody>
      </p:sp>
      <p:sp>
        <p:nvSpPr>
          <p:cNvPr id="15" name="Text 12"/>
          <p:cNvSpPr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Visible economics: more direct channel, higher guest spend, better use of complementary services, repeat visits and lower dependence on intermediaries.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SECTOR USE CASE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Mobility/territory case: from ticket to partner ecosystem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2423160" cy="914400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Initial event</a:t>
            </a:r>
            <a:endParaRPr lang="en-US" sz="1500" dirty="0"/>
          </a:p>
          <a:p>
            <a:r>
              <a:t>Trip, km or avoided CO₂</a:t>
            </a:r>
          </a:p>
        </p:txBody>
      </p:sp>
      <p:sp>
        <p:nvSpPr>
          <p:cNvPr id="11" name="Text 8"/>
          <p:cNvSpPr/>
          <p:nvPr/>
        </p:nvSpPr>
        <p:spPr>
          <a:xfrm>
            <a:off x="3611880" y="2286000"/>
            <a:ext cx="2880360" cy="91440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Experience</a:t>
            </a:r>
            <a:endParaRPr lang="en-US" sz="1500" dirty="0"/>
          </a:p>
          <a:p>
            <a:r>
              <a:t>Mobility, culture and local commerce missions</a:t>
            </a:r>
          </a:p>
        </p:txBody>
      </p:sp>
      <p:sp>
        <p:nvSpPr>
          <p:cNvPr id="12" name="Text 9"/>
          <p:cNvSpPr/>
          <p:nvPr/>
        </p:nvSpPr>
        <p:spPr>
          <a:xfrm>
            <a:off x="6931152" y="2286000"/>
            <a:ext cx="2880360" cy="914400"/>
          </a:xfrm>
          <a:prstGeom prst="rect">
            <a:avLst/>
          </a:prstGeom>
          <a:solidFill>
            <a:srgbClr val="CDD4FE"/>
          </a:solidFill>
          <a:ln w="12700">
            <a:solidFill>
              <a:srgbClr val="092BF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t>Ecosystem</a:t>
            </a:r>
            <a:endParaRPr lang="en-US" sz="1500" dirty="0"/>
          </a:p>
          <a:p>
            <a:r>
              <a:t>Partners, benefits, maps and local activations</a:t>
            </a:r>
          </a:p>
        </p:txBody>
      </p:sp>
      <p:sp>
        <p:nvSpPr>
          <p:cNvPr id="13" name="Text 10"/>
          <p:cNvSpPr/>
          <p:nvPr/>
        </p:nvSpPr>
        <p:spPr>
          <a:xfrm>
            <a:off x="10012680" y="2286000"/>
            <a:ext cx="1417320" cy="914400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Value</a:t>
            </a:r>
            <a:endParaRPr lang="en-US" sz="1250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1P data, recurrence, sponsorship and cross-visits</a:t>
            </a:r>
          </a:p>
        </p:txBody>
      </p:sp>
      <p:sp>
        <p:nvSpPr>
          <p:cNvPr id="14" name="Shape 11"/>
          <p:cNvSpPr/>
          <p:nvPr/>
        </p:nvSpPr>
        <p:spPr>
          <a:xfrm>
            <a:off x="3273552" y="2743200"/>
            <a:ext cx="292608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10528" y="2743200"/>
            <a:ext cx="365760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829800" y="2743200"/>
            <a:ext cx="137160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97280" y="4709160"/>
            <a:ext cx="996696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Thesis for the agency: the campaign does not merely communicate sustainable mobility; it creates a measurable experience that connects behavior, territory and partners.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ACTION PLAN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90-day pilot: demonstrate service, operations and economics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9808" y="2194560"/>
            <a:ext cx="23591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t>0–2 weeks</a:t>
            </a:r>
            <a:endParaRPr lang="en-US" sz="1250" dirty="0"/>
          </a:p>
          <a:p>
            <a:r>
              <a:t>client/sector selection</a:t>
            </a:r>
          </a:p>
          <a:p>
            <a:r>
              <a:t>KPI baseline</a:t>
            </a:r>
          </a:p>
          <a:p>
            <a:r>
              <a:t>economic hypothesis</a:t>
            </a:r>
          </a:p>
        </p:txBody>
      </p:sp>
      <p:sp>
        <p:nvSpPr>
          <p:cNvPr id="11" name="Shape 8"/>
          <p:cNvSpPr/>
          <p:nvPr/>
        </p:nvSpPr>
        <p:spPr>
          <a:xfrm>
            <a:off x="3145536" y="29900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584448" y="2194560"/>
            <a:ext cx="23591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t>3–5 weeks</a:t>
            </a:r>
            <a:endParaRPr lang="en-US" sz="1250" dirty="0"/>
          </a:p>
          <a:p>
            <a:r>
              <a:t>design 2 experiences</a:t>
            </a:r>
          </a:p>
          <a:p>
            <a:r>
              <a:t>rules and incentives</a:t>
            </a:r>
          </a:p>
          <a:p>
            <a:r>
              <a:t>channel plan</a:t>
            </a:r>
          </a:p>
        </p:txBody>
      </p:sp>
      <p:sp>
        <p:nvSpPr>
          <p:cNvPr id="13" name="Shape 10"/>
          <p:cNvSpPr/>
          <p:nvPr/>
        </p:nvSpPr>
        <p:spPr>
          <a:xfrm>
            <a:off x="5980176" y="29900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19088" y="2194560"/>
            <a:ext cx="2359152" cy="1664208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t>6–10 weeks</a:t>
            </a:r>
            <a:endParaRPr lang="en-US" sz="1250" dirty="0"/>
          </a:p>
          <a:p>
            <a:r>
              <a:t>activation</a:t>
            </a:r>
          </a:p>
          <a:p>
            <a:r>
              <a:t>weekly operations</a:t>
            </a:r>
          </a:p>
          <a:p>
            <a:r>
              <a:t>QA and adjustments</a:t>
            </a:r>
          </a:p>
        </p:txBody>
      </p:sp>
      <p:sp>
        <p:nvSpPr>
          <p:cNvPr id="15" name="Shape 12"/>
          <p:cNvSpPr/>
          <p:nvPr/>
        </p:nvSpPr>
        <p:spPr>
          <a:xfrm>
            <a:off x="8814816" y="2990088"/>
            <a:ext cx="301752" cy="0"/>
          </a:xfrm>
          <a:prstGeom prst="line">
            <a:avLst/>
          </a:prstGeom>
          <a:noFill/>
          <a:ln w="15240">
            <a:solidFill>
              <a:srgbClr val="09068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253728" y="2194560"/>
            <a:ext cx="23591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algn="l" indent="0" marL="0">
              <a:buNone/>
            </a:pPr>
            <a:r>
              <a:t>11–12 weeks</a:t>
            </a:r>
            <a:endParaRPr lang="en-US" sz="1250" dirty="0"/>
          </a:p>
          <a:p>
            <a:r>
              <a:t>results readout</a:t>
            </a:r>
          </a:p>
          <a:p>
            <a:r>
              <a:t>business case</a:t>
            </a:r>
          </a:p>
          <a:p>
            <a:r>
              <a:t>scale plan</a:t>
            </a:r>
          </a:p>
        </p:txBody>
      </p:sp>
      <p:sp>
        <p:nvSpPr>
          <p:cNvPr id="17" name="Text 14"/>
          <p:cNvSpPr/>
          <p:nvPr/>
        </p:nvSpPr>
        <p:spPr>
          <a:xfrm>
            <a:off x="950976" y="5074920"/>
            <a:ext cx="10287000" cy="65836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Deliverables: experience map, holistic campaign calendar, economic scorecard, learning report and recurring service proposal.</a:t>
            </a:r>
            <a:endParaRPr lang="en-US" sz="16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ENABLEMENT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Commercial argumentation for the agency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1920240"/>
            <a:ext cx="10058400" cy="4389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1  We do not sell “another software tool”: we enable a recurring service.</a:t>
            </a:r>
            <a:endParaRPr lang="en-US" sz="1380" dirty="0"/>
          </a:p>
        </p:txBody>
      </p:sp>
      <p:sp>
        <p:nvSpPr>
          <p:cNvPr id="11" name="Text 8"/>
          <p:cNvSpPr/>
          <p:nvPr/>
        </p:nvSpPr>
        <p:spPr>
          <a:xfrm>
            <a:off x="1005840" y="2633472"/>
            <a:ext cx="10058400" cy="438912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2  Experience is the unit that connects campaign, channel, point of sale and loyalty.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005840" y="3346704"/>
            <a:ext cx="10058400" cy="4389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3  Convercus complements the existing stack: CRM, CDP, eCommerce, POS and CMS.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005840" y="4059936"/>
            <a:ext cx="10058400" cy="438912"/>
          </a:xfrm>
          <a:prstGeom prst="rect">
            <a:avLst/>
          </a:prstGeom>
          <a:solidFill>
            <a:srgbClr val="F1F1F1"/>
          </a:solidFill>
          <a:ln w="12700">
            <a:solidFill>
              <a:srgbClr val="DDDD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4  Economic measurement protects margin and prevents buying sales with incentives.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1005840" y="4773168"/>
            <a:ext cx="10058400" cy="438912"/>
          </a:xfrm>
          <a:prstGeom prst="rect">
            <a:avLst/>
          </a:prstGeom>
          <a:solidFill>
            <a:srgbClr val="CEFBFF"/>
          </a:solidFill>
          <a:ln w="12700">
            <a:solidFill>
              <a:srgbClr val="0AEFF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5  The model can be sectorized: retail, hospitality, mobility, leisure, grocery and federated networks.</a:t>
            </a:r>
            <a:endParaRPr lang="en-US" sz="13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BFD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46304"/>
            <a:ext cx="7558851" cy="36576"/>
          </a:xfrm>
          <a:prstGeom prst="rect">
            <a:avLst/>
          </a:prstGeom>
          <a:solidFill>
            <a:srgbClr val="0AEFFF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558851" y="146304"/>
            <a:ext cx="4632844" cy="36576"/>
          </a:xfrm>
          <a:prstGeom prst="rect">
            <a:avLst/>
          </a:prstGeom>
          <a:solidFill>
            <a:srgbClr val="F72585"/>
          </a:solidFill>
          <a:ln w="12700">
            <a:solidFill>
              <a:srgbClr val="0AE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nvercus Logo 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554" y="329184"/>
            <a:ext cx="895405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" y="941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CLOSING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12064" y="1152144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Next commercial steps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12064" y="6510528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Convercus for Agencies · Ecosystem and Services Playbook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205740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1</a:t>
            </a:r>
            <a:endParaRPr lang="en-US" sz="1270" dirty="0"/>
          </a:p>
          <a:p>
            <a:r>
              <a:t>Validate this narrative with Mínima / pilot agency.</a:t>
            </a:r>
          </a:p>
        </p:txBody>
      </p:sp>
      <p:sp>
        <p:nvSpPr>
          <p:cNvPr id="11" name="Text 8"/>
          <p:cNvSpPr/>
          <p:nvPr/>
        </p:nvSpPr>
        <p:spPr>
          <a:xfrm>
            <a:off x="6263640" y="205740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2</a:t>
            </a:r>
            <a:endParaRPr lang="en-US" sz="1270" dirty="0"/>
          </a:p>
          <a:p>
            <a:r>
              <a:t>Choose 1–2 priority verticals and 2 candidate clients.</a:t>
            </a:r>
          </a:p>
        </p:txBody>
      </p:sp>
      <p:sp>
        <p:nvSpPr>
          <p:cNvPr id="12" name="Text 9"/>
          <p:cNvSpPr/>
          <p:nvPr/>
        </p:nvSpPr>
        <p:spPr>
          <a:xfrm>
            <a:off x="1005840" y="310896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3</a:t>
            </a:r>
            <a:endParaRPr lang="en-US" sz="1270" dirty="0"/>
          </a:p>
          <a:p>
            <a:r>
              <a:t>Define the minimum economic scorecard: identification, progression, margin and cost-to-serve.</a:t>
            </a:r>
          </a:p>
        </p:txBody>
      </p:sp>
      <p:sp>
        <p:nvSpPr>
          <p:cNvPr id="13" name="Text 10"/>
          <p:cNvSpPr/>
          <p:nvPr/>
        </p:nvSpPr>
        <p:spPr>
          <a:xfrm>
            <a:off x="6263640" y="310896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4F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4</a:t>
            </a:r>
            <a:endParaRPr lang="en-US" sz="1270" dirty="0"/>
          </a:p>
          <a:p>
            <a:r>
              <a:t>Co-design two demonstrable experiences and one holistic activation campaign.</a:t>
            </a:r>
          </a:p>
        </p:txBody>
      </p:sp>
      <p:sp>
        <p:nvSpPr>
          <p:cNvPr id="14" name="Text 11"/>
          <p:cNvSpPr/>
          <p:nvPr/>
        </p:nvSpPr>
        <p:spPr>
          <a:xfrm>
            <a:off x="1005840" y="4160520"/>
            <a:ext cx="4709160" cy="822960"/>
          </a:xfrm>
          <a:prstGeom prst="rect">
            <a:avLst/>
          </a:prstGeom>
          <a:solidFill>
            <a:srgbClr val="FDD3E6"/>
          </a:solidFill>
          <a:ln w="12700">
            <a:solidFill>
              <a:srgbClr val="F7258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t>5</a:t>
            </a:r>
            <a:endParaRPr lang="en-US" sz="1270" dirty="0"/>
          </a:p>
          <a:p>
            <a:r>
              <a:t>Finalize the enablement package: pitch, sector use cases, operating playbook and reporting template.</a:t>
            </a:r>
          </a:p>
        </p:txBody>
      </p:sp>
      <p:sp>
        <p:nvSpPr>
          <p:cNvPr id="15" name="Text 12"/>
          <p:cNvSpPr/>
          <p:nvPr/>
        </p:nvSpPr>
        <p:spPr>
          <a:xfrm>
            <a:off x="1188720" y="5623560"/>
            <a:ext cx="9784080" cy="475488"/>
          </a:xfrm>
          <a:prstGeom prst="rect">
            <a:avLst/>
          </a:prstGeom>
          <a:solidFill>
            <a:srgbClr val="090685"/>
          </a:solidFill>
          <a:ln w="12700">
            <a:solidFill>
              <a:srgbClr val="0906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Objective: enable the agency to sell, design, operate and measure Convercus experiences as its own recurring service.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fi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fi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Convercus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Convercus para agencias — Playbook de experiencias y servicios</dc:title>
  <dc:subject>Sales enablement para agencias</dc:subject>
  <dc:creator>OpenAI</dc:creator>
  <cp:lastModifiedBy>OpenAI</cp:lastModifiedBy>
  <cp:revision>1</cp:revision>
  <dcterms:created xsi:type="dcterms:W3CDTF">2026-05-06T17:30:39Z</dcterms:created>
  <dcterms:modified xsi:type="dcterms:W3CDTF">2026-05-06T17:30:39Z</dcterms:modified>
</cp:coreProperties>
</file>