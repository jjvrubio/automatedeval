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7FFFE819_80AE3430.xml" ContentType="application/vnd.ms-powerpoint.comments+xml"/>
  <Override PartName="/ppt/comments/modernComment_110_9A110B5D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7" r:id="rId11"/>
    <p:sldId id="262" r:id="rId12"/>
    <p:sldId id="263" r:id="rId13"/>
    <p:sldId id="264" r:id="rId14"/>
    <p:sldId id="265" r:id="rId15"/>
    <p:sldId id="266" r:id="rId16"/>
    <p:sldId id="268" r:id="rId17"/>
    <p:sldId id="269" r:id="rId18"/>
    <p:sldId id="270" r:id="rId19"/>
    <p:sldId id="2147477529" r:id="rId20"/>
    <p:sldId id="271" r:id="rId21"/>
    <p:sldId id="272" r:id="rId22"/>
    <p:sldId id="273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4D6A1E7-CAE5-A73A-8238-AF9A1D27BE9F}" name="Juan Jose Vazquez" initials="JV" userId="S::juan.vazquez@convercus.com::879acfe5-b16b-4400-8263-360ab85e328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D64537-DF27-7518-5469-9945A29F027E}" v="5" dt="2026-05-04T12:52:33.8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1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9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omments/modernComment_7FFFE819_80AE343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8C70C54-C459-8E49-9E34-296490A751FB}" authorId="{34D6A1E7-CAE5-A73A-8238-AF9A1D27BE9F}" created="2026-04-30T15:44:42.424">
    <pc:sldMkLst xmlns:pc="http://schemas.microsoft.com/office/powerpoint/2013/main/command">
      <pc:docMk/>
      <pc:sldMk cId="2158900272" sldId="2147477529"/>
    </pc:sldMkLst>
    <p188:txBody>
      <a:bodyPr/>
      <a:lstStyle/>
      <a:p>
        <a:r>
          <a:rPr lang="es-ES"/>
          <a:t>Esto sería un ejemplo interesante para mostrar cómo crear:
GRupos con miembros.
Registro/identificación 
Etapas (tarjeta, wallet, QR, geolocalización, form…)
Juegos, de contyenido o de refuerzo.
Incentivos (trofeos, recompensas, rankings,…)
DE aquí es sencillo derivar el de parque de atracciones, o el maratón de compras :-)</a:t>
        </a:r>
      </a:p>
    </p188:txBody>
  </p188:cm>
</p188:cmLst>
</file>

<file path=ppt/comments/modernComment_110_9A110B5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2896D19-D017-8741-8293-55CA31A28D10}" authorId="{34D6A1E7-CAE5-A73A-8238-AF9A1D27BE9F}" created="2026-04-30T15:46:35.15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84808285" sldId="272"/>
      <ac:spMk id="3" creationId="{8BE76EB7-2BAF-A615-93B1-AD59818E13EF}"/>
      <ac:txMk cp="52" len="98">
        <ac:context len="272" hash="3475161016"/>
      </ac:txMk>
    </ac:txMkLst>
    <p188:pos x="6633117" y="750307"/>
    <p188:txBody>
      <a:bodyPr/>
      <a:lstStyle/>
      <a:p>
        <a:r>
          <a:rPr lang="es-ES"/>
          <a:t>Incluso podemos empezar por el fake en powerpoint. Pero, con una etapa posterior en la que se construye y enseña  en la plataforma el cómo y los componentes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1168C-8B43-DB4E-9BBC-87406B3A6EF5}" type="datetimeFigureOut">
              <a:rPr lang="es-ES" smtClean="0"/>
              <a:t>6/5/26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20FA7-34BF-2447-AE04-9E53D050E7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7881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A62C6-77F1-2EB7-ED6F-BE0ADEA83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7E91232-5423-E716-C035-F2D6B9048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1ACA227-DD83-4E6E-34B7-8318429A0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>
                <a:latin typeface="Sofia Sans Medium" pitchFamily="2" charset="0"/>
              </a:rPr>
              <a:t>| Fase | </a:t>
            </a:r>
            <a:r>
              <a:rPr lang="en-US" sz="2400" b="0" i="0" err="1">
                <a:latin typeface="Sofia Sans Medium" pitchFamily="2" charset="0"/>
              </a:rPr>
              <a:t>Interacción</a:t>
            </a:r>
            <a:r>
              <a:rPr lang="en-US" sz="2400" b="0" i="0">
                <a:latin typeface="Sofia Sans Medium" pitchFamily="2" charset="0"/>
              </a:rPr>
              <a:t> clave | Valor para </a:t>
            </a:r>
            <a:r>
              <a:rPr lang="en-US" sz="2400" b="0" i="0" err="1">
                <a:latin typeface="Sofia Sans Medium" pitchFamily="2" charset="0"/>
              </a:rPr>
              <a:t>el</a:t>
            </a:r>
            <a:r>
              <a:rPr lang="en-US" sz="2400" b="0" i="0">
                <a:latin typeface="Sofia Sans Medium" pitchFamily="2" charset="0"/>
              </a:rPr>
              <a:t> </a:t>
            </a:r>
            <a:r>
              <a:rPr lang="en-US" sz="2400" b="0" i="0" err="1">
                <a:latin typeface="Sofia Sans Medium" pitchFamily="2" charset="0"/>
              </a:rPr>
              <a:t>huésped</a:t>
            </a:r>
            <a:r>
              <a:rPr lang="en-US" sz="2400" b="0" i="0">
                <a:latin typeface="Sofia Sans Medium" pitchFamily="2" charset="0"/>
              </a:rPr>
              <a:t> | Valor para la </a:t>
            </a:r>
            <a:r>
              <a:rPr lang="en-US" sz="2400" b="0" i="0" err="1">
                <a:latin typeface="Sofia Sans Medium" pitchFamily="2" charset="0"/>
              </a:rPr>
              <a:t>cadena</a:t>
            </a:r>
            <a:r>
              <a:rPr lang="en-US" sz="2400" b="0" i="0">
                <a:latin typeface="Sofia Sans Medium" pitchFamily="2" charset="0"/>
              </a:rPr>
              <a:t> |</a:t>
            </a:r>
          </a:p>
          <a:p>
            <a:endParaRPr lang="en-US" sz="2400" b="0" i="0">
              <a:latin typeface="Sofia Sans Medium" pitchFamily="2" charset="0"/>
            </a:endParaRPr>
          </a:p>
          <a:p>
            <a:endParaRPr lang="en-US" sz="2400" b="0" i="0">
              <a:latin typeface="Sofia Sans Medium" pitchFamily="2" charset="0"/>
            </a:endParaRPr>
          </a:p>
          <a:p>
            <a:r>
              <a:rPr lang="en-US" sz="2400" b="0" i="0">
                <a:latin typeface="Sofia Sans Medium" pitchFamily="2" charset="0"/>
              </a:rPr>
              <a:t>🤝 </a:t>
            </a:r>
            <a:r>
              <a:rPr lang="en-US" sz="2400" b="0" i="0" err="1">
                <a:latin typeface="Sofia Sans Medium" pitchFamily="2" charset="0"/>
              </a:rPr>
              <a:t>Convercus</a:t>
            </a:r>
            <a:r>
              <a:rPr lang="en-US" sz="2400" b="0" i="0">
                <a:latin typeface="Sofia Sans Medium" pitchFamily="2" charset="0"/>
              </a:rPr>
              <a:t> </a:t>
            </a:r>
            <a:r>
              <a:rPr lang="en-US" sz="2400" b="0" i="0" err="1">
                <a:latin typeface="Sofia Sans Medium" pitchFamily="2" charset="0"/>
              </a:rPr>
              <a:t>proporciona</a:t>
            </a:r>
            <a:endParaRPr lang="en-US" sz="2400" b="0" i="0">
              <a:latin typeface="Sofia Sans Medium" pitchFamily="2" charset="0"/>
            </a:endParaRPr>
          </a:p>
          <a:p>
            <a:r>
              <a:rPr lang="en-US" sz="2400" b="0" i="0">
                <a:latin typeface="Sofia Sans Medium" pitchFamily="2" charset="0"/>
              </a:rPr>
              <a:t>- </a:t>
            </a:r>
            <a:r>
              <a:rPr lang="en-US" sz="2400" i="0" err="1">
                <a:latin typeface="Sofia Sans Medium" pitchFamily="2" charset="0"/>
              </a:rPr>
              <a:t>Diseño</a:t>
            </a:r>
            <a:r>
              <a:rPr lang="en-US" sz="2400" i="0">
                <a:latin typeface="Sofia Sans Medium" pitchFamily="2" charset="0"/>
              </a:rPr>
              <a:t> visual </a:t>
            </a:r>
            <a:r>
              <a:rPr lang="en-US" sz="2400" b="0" i="0">
                <a:latin typeface="Sofia Sans Medium" pitchFamily="2" charset="0"/>
              </a:rPr>
              <a:t>de Customer Journeys </a:t>
            </a:r>
            <a:r>
              <a:rPr lang="en-US" sz="2400" b="0" i="0" err="1">
                <a:latin typeface="Sofia Sans Medium" pitchFamily="2" charset="0"/>
              </a:rPr>
              <a:t>basado</a:t>
            </a:r>
            <a:r>
              <a:rPr lang="en-US" sz="2400" b="0" i="0">
                <a:latin typeface="Sofia Sans Medium" pitchFamily="2" charset="0"/>
              </a:rPr>
              <a:t> </a:t>
            </a:r>
            <a:r>
              <a:rPr lang="en-US" sz="2400" b="0" i="0" err="1">
                <a:latin typeface="Sofia Sans Medium" pitchFamily="2" charset="0"/>
              </a:rPr>
              <a:t>en</a:t>
            </a:r>
            <a:r>
              <a:rPr lang="en-US" sz="2400" b="0" i="0">
                <a:latin typeface="Sofia Sans Medium" pitchFamily="2" charset="0"/>
              </a:rPr>
              <a:t> </a:t>
            </a:r>
            <a:r>
              <a:rPr lang="en-US" sz="2400" b="0" i="0" err="1">
                <a:latin typeface="Sofia Sans Medium" pitchFamily="2" charset="0"/>
              </a:rPr>
              <a:t>E</a:t>
            </a:r>
            <a:r>
              <a:rPr lang="en-US" sz="2400" i="0" err="1">
                <a:latin typeface="Sofia Sans Medium" pitchFamily="2" charset="0"/>
              </a:rPr>
              <a:t>xperiencias</a:t>
            </a:r>
            <a:r>
              <a:rPr lang="en-US" sz="2400" b="0" i="0">
                <a:latin typeface="Sofia Sans Medium" pitchFamily="2" charset="0"/>
              </a:rPr>
              <a:t>, sin </a:t>
            </a:r>
            <a:r>
              <a:rPr lang="en-US" sz="2400" b="0" i="0" err="1">
                <a:latin typeface="Sofia Sans Medium" pitchFamily="2" charset="0"/>
              </a:rPr>
              <a:t>depender</a:t>
            </a:r>
            <a:r>
              <a:rPr lang="en-US" sz="2400" b="0" i="0">
                <a:latin typeface="Sofia Sans Medium" pitchFamily="2" charset="0"/>
              </a:rPr>
              <a:t> del </a:t>
            </a:r>
            <a:r>
              <a:rPr lang="en-US" sz="2400" b="0" i="0" err="1">
                <a:latin typeface="Sofia Sans Medium" pitchFamily="2" charset="0"/>
              </a:rPr>
              <a:t>área</a:t>
            </a:r>
            <a:r>
              <a:rPr lang="en-US" sz="2400" b="0" i="0">
                <a:latin typeface="Sofia Sans Medium" pitchFamily="2" charset="0"/>
              </a:rPr>
              <a:t> de TI. </a:t>
            </a:r>
          </a:p>
          <a:p>
            <a:r>
              <a:rPr lang="en-US" sz="2400" b="0" i="0">
                <a:latin typeface="Sofia Sans Medium" pitchFamily="2" charset="0"/>
              </a:rPr>
              <a:t>- </a:t>
            </a:r>
            <a:r>
              <a:rPr lang="en-US" sz="2400" b="0" i="0" err="1">
                <a:latin typeface="Sofia Sans Medium" pitchFamily="2" charset="0"/>
              </a:rPr>
              <a:t>Integración</a:t>
            </a:r>
            <a:r>
              <a:rPr lang="en-US" sz="2400" b="0" i="0">
                <a:latin typeface="Sofia Sans Medium" pitchFamily="2" charset="0"/>
              </a:rPr>
              <a:t> </a:t>
            </a:r>
            <a:r>
              <a:rPr lang="en-US" sz="2400" b="0" i="0" err="1">
                <a:latin typeface="Sofia Sans Medium" pitchFamily="2" charset="0"/>
              </a:rPr>
              <a:t>en</a:t>
            </a:r>
            <a:r>
              <a:rPr lang="en-US" sz="2400" b="0" i="0">
                <a:latin typeface="Sofia Sans Medium" pitchFamily="2" charset="0"/>
              </a:rPr>
              <a:t> </a:t>
            </a:r>
            <a:r>
              <a:rPr lang="en-US" sz="2400" i="0" err="1">
                <a:latin typeface="Sofia Sans Medium" pitchFamily="2" charset="0"/>
              </a:rPr>
              <a:t>tiempo</a:t>
            </a:r>
            <a:r>
              <a:rPr lang="en-US" sz="2400" i="0">
                <a:latin typeface="Sofia Sans Medium" pitchFamily="2" charset="0"/>
              </a:rPr>
              <a:t> real con POS y PMS</a:t>
            </a:r>
            <a:r>
              <a:rPr lang="en-US" sz="2400" b="0" i="0">
                <a:latin typeface="Sofia Sans Medium" pitchFamily="2" charset="0"/>
              </a:rPr>
              <a:t>: la </a:t>
            </a:r>
            <a:r>
              <a:rPr lang="en-US" sz="2400" b="0" i="0" err="1">
                <a:latin typeface="Sofia Sans Medium" pitchFamily="2" charset="0"/>
              </a:rPr>
              <a:t>oferta</a:t>
            </a:r>
            <a:r>
              <a:rPr lang="en-US" sz="2400" b="0" i="0">
                <a:latin typeface="Sofia Sans Medium" pitchFamily="2" charset="0"/>
              </a:rPr>
              <a:t> se </a:t>
            </a:r>
            <a:r>
              <a:rPr lang="en-US" sz="2400" b="0" i="0" err="1">
                <a:latin typeface="Sofia Sans Medium" pitchFamily="2" charset="0"/>
              </a:rPr>
              <a:t>activa</a:t>
            </a:r>
            <a:r>
              <a:rPr lang="en-US" sz="2400" b="0" i="0">
                <a:latin typeface="Sofia Sans Medium" pitchFamily="2" charset="0"/>
              </a:rPr>
              <a:t> </a:t>
            </a:r>
            <a:r>
              <a:rPr lang="en-US" sz="2400" b="0" i="0" err="1">
                <a:latin typeface="Sofia Sans Medium" pitchFamily="2" charset="0"/>
              </a:rPr>
              <a:t>cuando</a:t>
            </a:r>
            <a:r>
              <a:rPr lang="en-US" sz="2400" b="0" i="0">
                <a:latin typeface="Sofia Sans Medium" pitchFamily="2" charset="0"/>
              </a:rPr>
              <a:t> </a:t>
            </a:r>
            <a:r>
              <a:rPr lang="en-US" sz="2400" b="0" i="0" err="1">
                <a:latin typeface="Sofia Sans Medium" pitchFamily="2" charset="0"/>
              </a:rPr>
              <a:t>el</a:t>
            </a:r>
            <a:r>
              <a:rPr lang="en-US" sz="2400" b="0" i="0">
                <a:latin typeface="Sofia Sans Medium" pitchFamily="2" charset="0"/>
              </a:rPr>
              <a:t> </a:t>
            </a:r>
            <a:r>
              <a:rPr lang="en-US" sz="2400" b="0" i="0" err="1">
                <a:latin typeface="Sofia Sans Medium" pitchFamily="2" charset="0"/>
              </a:rPr>
              <a:t>huésped</a:t>
            </a:r>
            <a:r>
              <a:rPr lang="en-US" sz="2400" b="0" i="0">
                <a:latin typeface="Sofia Sans Medium" pitchFamily="2" charset="0"/>
              </a:rPr>
              <a:t> consume. </a:t>
            </a:r>
          </a:p>
          <a:p>
            <a:r>
              <a:rPr lang="en-US" sz="2400" b="0" i="0">
                <a:latin typeface="Sofia Sans Medium" pitchFamily="2" charset="0"/>
              </a:rPr>
              <a:t>- </a:t>
            </a:r>
            <a:r>
              <a:rPr lang="en-US" sz="2400" i="0" err="1">
                <a:latin typeface="Sofia Sans Medium" pitchFamily="2" charset="0"/>
              </a:rPr>
              <a:t>Multicanalidad</a:t>
            </a:r>
            <a:r>
              <a:rPr lang="en-US" sz="2400" i="0">
                <a:latin typeface="Sofia Sans Medium" pitchFamily="2" charset="0"/>
              </a:rPr>
              <a:t> </a:t>
            </a:r>
            <a:r>
              <a:rPr lang="en-US" sz="2400" i="0" err="1">
                <a:latin typeface="Sofia Sans Medium" pitchFamily="2" charset="0"/>
              </a:rPr>
              <a:t>automatizada</a:t>
            </a:r>
            <a:r>
              <a:rPr lang="en-US" sz="2400" b="0" i="0">
                <a:latin typeface="Sofia Sans Medium" pitchFamily="2" charset="0"/>
              </a:rPr>
              <a:t>: email, SMS o App, </a:t>
            </a:r>
            <a:r>
              <a:rPr lang="en-US" sz="2400" b="0" i="0" err="1">
                <a:latin typeface="Sofia Sans Medium" pitchFamily="2" charset="0"/>
              </a:rPr>
              <a:t>según</a:t>
            </a:r>
            <a:r>
              <a:rPr lang="en-US" sz="2400" b="0" i="0">
                <a:latin typeface="Sofia Sans Medium" pitchFamily="2" charset="0"/>
              </a:rPr>
              <a:t> </a:t>
            </a:r>
            <a:r>
              <a:rPr lang="en-US" sz="2400" b="0" i="0" err="1">
                <a:latin typeface="Sofia Sans Medium" pitchFamily="2" charset="0"/>
              </a:rPr>
              <a:t>preferencia</a:t>
            </a:r>
            <a:r>
              <a:rPr lang="en-US" sz="2400" b="0" i="0">
                <a:latin typeface="Sofia Sans Medium" pitchFamily="2" charset="0"/>
              </a:rPr>
              <a:t> del </a:t>
            </a:r>
            <a:r>
              <a:rPr lang="en-US" sz="2400" b="0" i="0" err="1">
                <a:latin typeface="Sofia Sans Medium" pitchFamily="2" charset="0"/>
              </a:rPr>
              <a:t>cliente</a:t>
            </a:r>
            <a:r>
              <a:rPr lang="en-US" sz="2400" b="0" i="0">
                <a:latin typeface="Sofia Sans Medium" pitchFamily="2" charset="0"/>
              </a:rPr>
              <a:t>. </a:t>
            </a:r>
          </a:p>
          <a:p>
            <a:r>
              <a:rPr lang="en-US" sz="2400" b="0" i="0">
                <a:latin typeface="Sofia Sans Medium" pitchFamily="2" charset="0"/>
              </a:rPr>
              <a:t>- </a:t>
            </a:r>
            <a:r>
              <a:rPr lang="en-US" sz="2400" i="0" err="1">
                <a:latin typeface="Sofia Sans Medium" pitchFamily="2" charset="0"/>
              </a:rPr>
              <a:t>Análisis</a:t>
            </a:r>
            <a:r>
              <a:rPr lang="en-US" sz="2400" i="0">
                <a:latin typeface="Sofia Sans Medium" pitchFamily="2" charset="0"/>
              </a:rPr>
              <a:t> de </a:t>
            </a:r>
            <a:r>
              <a:rPr lang="en-US" sz="2400" i="0" err="1">
                <a:latin typeface="Sofia Sans Medium" pitchFamily="2" charset="0"/>
              </a:rPr>
              <a:t>comportamiento</a:t>
            </a:r>
            <a:r>
              <a:rPr lang="en-US" sz="2400" b="0" i="0">
                <a:latin typeface="Sofia Sans Medium" pitchFamily="2" charset="0"/>
              </a:rPr>
              <a:t> para </a:t>
            </a:r>
            <a:r>
              <a:rPr lang="en-US" sz="2400" b="0" i="0" err="1">
                <a:latin typeface="Sofia Sans Medium" pitchFamily="2" charset="0"/>
              </a:rPr>
              <a:t>optimizar</a:t>
            </a:r>
            <a:r>
              <a:rPr lang="en-US" sz="2400" b="0" i="0">
                <a:latin typeface="Sofia Sans Medium" pitchFamily="2" charset="0"/>
              </a:rPr>
              <a:t> </a:t>
            </a:r>
            <a:r>
              <a:rPr lang="en-US" sz="2400" b="0" i="0" err="1">
                <a:latin typeface="Sofia Sans Medium" pitchFamily="2" charset="0"/>
              </a:rPr>
              <a:t>cada</a:t>
            </a:r>
            <a:r>
              <a:rPr lang="en-US" sz="2400" b="0" i="0">
                <a:latin typeface="Sofia Sans Medium" pitchFamily="2" charset="0"/>
              </a:rPr>
              <a:t> punto de </a:t>
            </a:r>
            <a:r>
              <a:rPr lang="en-US" sz="2400" b="0" i="0" err="1">
                <a:latin typeface="Sofia Sans Medium" pitchFamily="2" charset="0"/>
              </a:rPr>
              <a:t>contacto</a:t>
            </a:r>
            <a:r>
              <a:rPr lang="en-US" sz="2400" b="0" i="0">
                <a:latin typeface="Sofia Sans Medium" pitchFamily="2" charset="0"/>
              </a:rPr>
              <a:t>. </a:t>
            </a:r>
          </a:p>
          <a:p>
            <a:endParaRPr lang="en-US" sz="2400" b="0" i="0">
              <a:latin typeface="Sofia Sans Medium" pitchFamily="2" charset="0"/>
            </a:endParaRPr>
          </a:p>
          <a:p>
            <a:r>
              <a:rPr lang="en-US" sz="2400" b="0" i="0">
                <a:latin typeface="Sofia Sans Medium" pitchFamily="2" charset="0"/>
              </a:rPr>
              <a:t>📈 </a:t>
            </a:r>
            <a:r>
              <a:rPr lang="en-US" sz="2400" b="0" i="0" err="1">
                <a:latin typeface="Sofia Sans Medium" pitchFamily="2" charset="0"/>
              </a:rPr>
              <a:t>Resultado</a:t>
            </a:r>
            <a:endParaRPr lang="en-US" sz="2400" b="0" i="0">
              <a:latin typeface="Sofia Sans Medium" pitchFamily="2" charset="0"/>
            </a:endParaRPr>
          </a:p>
          <a:p>
            <a:r>
              <a:rPr lang="en-US" sz="2400" b="0" i="0">
                <a:latin typeface="Sofia Sans Medium" pitchFamily="2" charset="0"/>
              </a:rPr>
              <a:t> “</a:t>
            </a:r>
            <a:r>
              <a:rPr lang="en-US" sz="2400" b="0" i="0" err="1">
                <a:latin typeface="Sofia Sans Medium" pitchFamily="2" charset="0"/>
              </a:rPr>
              <a:t>Transformar</a:t>
            </a:r>
            <a:r>
              <a:rPr lang="en-US" sz="2400" b="0" i="0">
                <a:latin typeface="Sofia Sans Medium" pitchFamily="2" charset="0"/>
              </a:rPr>
              <a:t> </a:t>
            </a:r>
            <a:r>
              <a:rPr lang="en-US" sz="2400" b="0" i="0" err="1">
                <a:latin typeface="Sofia Sans Medium" pitchFamily="2" charset="0"/>
              </a:rPr>
              <a:t>cada</a:t>
            </a:r>
            <a:r>
              <a:rPr lang="en-US" sz="2400" b="0" i="0">
                <a:latin typeface="Sofia Sans Medium" pitchFamily="2" charset="0"/>
              </a:rPr>
              <a:t> </a:t>
            </a:r>
            <a:r>
              <a:rPr lang="en-US" sz="2400" b="0" i="0" err="1">
                <a:latin typeface="Sofia Sans Medium" pitchFamily="2" charset="0"/>
              </a:rPr>
              <a:t>estadía</a:t>
            </a:r>
            <a:r>
              <a:rPr lang="en-US" sz="2400" b="0" i="0">
                <a:latin typeface="Sofia Sans Medium" pitchFamily="2" charset="0"/>
              </a:rPr>
              <a:t> </a:t>
            </a:r>
            <a:r>
              <a:rPr lang="en-US" sz="2400" b="0" i="0" err="1">
                <a:latin typeface="Sofia Sans Medium" pitchFamily="2" charset="0"/>
              </a:rPr>
              <a:t>en</a:t>
            </a:r>
            <a:r>
              <a:rPr lang="en-US" sz="2400" b="0" i="0">
                <a:latin typeface="Sofia Sans Medium" pitchFamily="2" charset="0"/>
              </a:rPr>
              <a:t> </a:t>
            </a:r>
            <a:r>
              <a:rPr lang="en-US" sz="2400" b="0" i="0" err="1">
                <a:latin typeface="Sofia Sans Medium" pitchFamily="2" charset="0"/>
              </a:rPr>
              <a:t>una</a:t>
            </a:r>
            <a:r>
              <a:rPr lang="en-US" sz="2400" b="0" i="0">
                <a:latin typeface="Sofia Sans Medium" pitchFamily="2" charset="0"/>
              </a:rPr>
              <a:t> </a:t>
            </a:r>
            <a:r>
              <a:rPr lang="en-US" sz="2400" b="0" i="0" err="1">
                <a:latin typeface="Sofia Sans Medium" pitchFamily="2" charset="0"/>
              </a:rPr>
              <a:t>experiencia</a:t>
            </a:r>
            <a:r>
              <a:rPr lang="en-US" sz="2400" b="0" i="0">
                <a:latin typeface="Sofia Sans Medium" pitchFamily="2" charset="0"/>
              </a:rPr>
              <a:t> memorable </a:t>
            </a:r>
            <a:r>
              <a:rPr lang="en-US" sz="2400" b="0" i="0" err="1">
                <a:latin typeface="Sofia Sans Medium" pitchFamily="2" charset="0"/>
              </a:rPr>
              <a:t>que</a:t>
            </a:r>
            <a:r>
              <a:rPr lang="en-US" sz="2400" b="0" i="0">
                <a:latin typeface="Sofia Sans Medium" pitchFamily="2" charset="0"/>
              </a:rPr>
              <a:t> </a:t>
            </a:r>
            <a:r>
              <a:rPr lang="en-US" sz="2400" b="0" i="0" err="1">
                <a:latin typeface="Sofia Sans Medium" pitchFamily="2" charset="0"/>
              </a:rPr>
              <a:t>impulsa</a:t>
            </a:r>
            <a:r>
              <a:rPr lang="en-US" sz="2400" b="0" i="0">
                <a:latin typeface="Sofia Sans Medium" pitchFamily="2" charset="0"/>
              </a:rPr>
              <a:t> </a:t>
            </a:r>
            <a:r>
              <a:rPr lang="en-US" sz="2400" b="0" i="0" err="1">
                <a:latin typeface="Sofia Sans Medium" pitchFamily="2" charset="0"/>
              </a:rPr>
              <a:t>ingresos</a:t>
            </a:r>
            <a:r>
              <a:rPr lang="en-US" sz="2400" b="0" i="0">
                <a:latin typeface="Sofia Sans Medium" pitchFamily="2" charset="0"/>
              </a:rPr>
              <a:t>, </a:t>
            </a:r>
            <a:r>
              <a:rPr lang="en-US" sz="2400" b="0" i="0" err="1">
                <a:latin typeface="Sofia Sans Medium" pitchFamily="2" charset="0"/>
              </a:rPr>
              <a:t>fomenta</a:t>
            </a:r>
            <a:r>
              <a:rPr lang="en-US" sz="2400" b="0" i="0">
                <a:latin typeface="Sofia Sans Medium" pitchFamily="2" charset="0"/>
              </a:rPr>
              <a:t> la </a:t>
            </a:r>
            <a:r>
              <a:rPr lang="en-US" sz="2400" b="0" i="0" err="1">
                <a:latin typeface="Sofia Sans Medium" pitchFamily="2" charset="0"/>
              </a:rPr>
              <a:t>repetición</a:t>
            </a:r>
            <a:r>
              <a:rPr lang="en-US" sz="2400" b="0" i="0">
                <a:latin typeface="Sofia Sans Medium" pitchFamily="2" charset="0"/>
              </a:rPr>
              <a:t> y </a:t>
            </a:r>
            <a:r>
              <a:rPr lang="en-US" sz="2400" b="0" i="0" err="1">
                <a:latin typeface="Sofia Sans Medium" pitchFamily="2" charset="0"/>
              </a:rPr>
              <a:t>fideliza</a:t>
            </a:r>
            <a:r>
              <a:rPr lang="en-US" sz="2400" b="0" i="0">
                <a:latin typeface="Sofia Sans Medium" pitchFamily="2" charset="0"/>
              </a:rPr>
              <a:t> a largo </a:t>
            </a:r>
            <a:r>
              <a:rPr lang="en-US" sz="2400" b="0" i="0" err="1">
                <a:latin typeface="Sofia Sans Medium" pitchFamily="2" charset="0"/>
              </a:rPr>
              <a:t>plazo</a:t>
            </a:r>
            <a:r>
              <a:rPr lang="en-US" sz="2400" b="0" i="0">
                <a:latin typeface="Sofia Sans Medium" pitchFamily="2" charset="0"/>
              </a:rPr>
              <a:t>.”</a:t>
            </a:r>
          </a:p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C982D6-9A6A-E1B2-5A35-C9BD902E87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854B8-5D59-014C-89E7-81C6225DADC1}" type="slidenum">
              <a:rPr lang="en-US" altLang="de-DE" smtClean="0"/>
              <a:pPr/>
              <a:t>16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722549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06.05.26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06.05.26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06.05.26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06.05.26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06.05.26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06.05.26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06.05.26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06.05.26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06.05.26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06.05.26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06.05.26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Placeholder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3">
            <a:extLst>
              <a:ext uri="{FF2B5EF4-FFF2-40B4-BE49-F238E27FC236}">
                <a16:creationId xmlns:a16="http://schemas.microsoft.com/office/drawing/2014/main" id="{2DDCC402-6A46-6DE9-8FA8-D9BBA9433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293765" y="304840"/>
            <a:ext cx="11546512" cy="794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de-DE"/>
              <a:t>Click to edit Master title style</a:t>
            </a:r>
            <a:br>
              <a:rPr lang="en-US" altLang="de-DE"/>
            </a:br>
            <a:r>
              <a:rPr lang="en-US" altLang="de-DE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80BF188-87DE-E5E2-ECD3-6C67A7274387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6276229" y="1377157"/>
            <a:ext cx="5622007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43" tIns="91422" rIns="182843" bIns="914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de-DE"/>
              <a:t>Click to edit Master text styles</a:t>
            </a:r>
          </a:p>
          <a:p>
            <a:pPr lvl="1"/>
            <a:r>
              <a:rPr lang="en-US" altLang="de-DE"/>
              <a:t>Second level</a:t>
            </a:r>
          </a:p>
          <a:p>
            <a:pPr lvl="2"/>
            <a:r>
              <a:rPr lang="en-US" altLang="de-DE"/>
              <a:t>Third level</a:t>
            </a:r>
          </a:p>
          <a:p>
            <a:pPr lvl="3"/>
            <a:r>
              <a:rPr lang="en-US" altLang="de-DE"/>
              <a:t>Fourth level</a:t>
            </a:r>
          </a:p>
          <a:p>
            <a:pPr lvl="4"/>
            <a:r>
              <a:rPr lang="en-US" altLang="de-DE"/>
              <a:t>Fifth level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13806B88-5931-0E8E-CE8C-55CA41BDAED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1723" y="1377157"/>
            <a:ext cx="5564049" cy="5112544"/>
          </a:xfrm>
          <a:prstGeom prst="roundRect">
            <a:avLst>
              <a:gd name="adj" fmla="val 3197"/>
            </a:avLst>
          </a:prstGeom>
          <a:solidFill>
            <a:schemeClr val="accent6"/>
          </a:solid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0333549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7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06.05.26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onvercus-my.sharepoint.com/personal/igor_lubawinski_convercus_com/_layouts/15/Doc.aspx?sourcedoc=%7BBA14B9F3-4793-4FE4-8182-A8E511BD121A%7D&amp;file=Agencia-%20check%20up-%20brain%20storming.docx&amp;action=default&amp;mobileredirect=tru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onvercus-my.sharepoint.com/personal/igor_lubawinski_convercus_com/_layouts/15/Doc.aspx?sourcedoc=%7BBA14B9F3-4793-4FE4-8182-A8E511BD121A%7D&amp;file=Agencia-%20check%20up-%20brain%20storming.docx&amp;action=default&amp;mobileredirect=tru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onvercus-my.sharepoint.com/personal/igor_lubawinski_convercus_com/_layouts/15/Doc.aspx?sourcedoc=%7BBA14B9F3-4793-4FE4-8182-A8E511BD121A%7D&amp;file=Agencia-%20check%20up-%20brain%20storming.docx&amp;action=default&amp;mobileredirect=tru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onvercus-my.sharepoint.com/personal/igor_lubawinski_convercus_com/_layouts/15/Doc.aspx?sourcedoc=%7BBA14B9F3-4793-4FE4-8182-A8E511BD121A%7D&amp;file=Agencia-%20check%20up-%20brain%20storming.docx&amp;action=default&amp;mobileredirect=tru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onvercus-my.sharepoint.com/personal/igor_lubawinski_convercus_com/_layouts/15/Doc.aspx?sourcedoc=%7BBA14B9F3-4793-4FE4-8182-A8E511BD121A%7D&amp;file=Agencia-%20check%20up-%20brain%20storming.docx&amp;action=default&amp;mobileredirect=tru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onvercus-my.sharepoint.com/personal/igor_lubawinski_convercus_com/_layouts/15/Doc.aspx?sourcedoc=%7BBA14B9F3-4793-4FE4-8182-A8E511BD121A%7D&amp;file=Agencia-%20check%20up-%20brain%20storming.docx&amp;action=default&amp;mobileredirect=tru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convercus-my.sharepoint.com/personal/igor_lubawinski_convercus_com/_layouts/15/Doc.aspx?sourcedoc=%7BBA14B9F3-4793-4FE4-8182-A8E511BD121A%7D&amp;file=Agencia-%20check%20up-%20brain%20storming.docx&amp;action=default&amp;mobileredirect=tru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convercus-my.sharepoint.com/personal/igor_lubawinski_convercus_com/_layouts/15/Doc.aspx?sourcedoc=%7BBA14B9F3-4793-4FE4-8182-A8E511BD121A%7D&amp;file=Agencia-%20check%20up-%20brain%20storming.docx&amp;action=default&amp;mobileredirect=true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convercus-my.sharepoint.com/personal/igor_lubawinski_convercus_com/_layouts/15/Doc.aspx?sourcedoc=%7BBA14B9F3-4793-4FE4-8182-A8E511BD121A%7D&amp;file=Agencia-%20check%20up-%20brain%20storming.docx&amp;action=default&amp;mobileredirect=true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convercus-my.sharepoint.com/personal/igor_lubawinski_convercus_com/_layouts/15/Doc.aspx?sourcedoc=%7BBA14B9F3-4793-4FE4-8182-A8E511BD121A%7D&amp;file=Agencia-%20check%20up-%20brain%20storming.docx&amp;action=default&amp;mobileredirect=true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convercus-my.sharepoint.com/personal/igor_lubawinski_convercus_com/_layouts/15/Doc.aspx?sourcedoc=%7BBA14B9F3-4793-4FE4-8182-A8E511BD121A%7D&amp;file=Agencia-%20check%20up-%20brain%20storming.docx&amp;action=default&amp;mobileredirect=true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E819_80AE343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convercus-my.sharepoint.com/personal/igor_lubawinski_convercus_com/_layouts/15/Doc.aspx?sourcedoc=%7BBA14B9F3-4793-4FE4-8182-A8E511BD121A%7D&amp;file=Agencia-%20check%20up-%20brain%20storming.docx&amp;action=default&amp;mobileredirect=true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nvercus-my.sharepoint.com/personal/igor_lubawinski_convercus_com/_layouts/15/Doc.aspx?sourcedoc=%7BBA14B9F3-4793-4FE4-8182-A8E511BD121A%7D&amp;file=Agencia-%20check%20up-%20brain%20storming.docx&amp;action=default&amp;mobileredirect=true" TargetMode="External"/><Relationship Id="rId2" Type="http://schemas.microsoft.com/office/2018/10/relationships/comments" Target="../comments/modernComment_110_9A110B5D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convercus-my.sharepoint.com/personal/igor_lubawinski_convercus_com/_layouts/15/Doc.aspx?sourcedoc=%7BBA14B9F3-4793-4FE4-8182-A8E511BD121A%7D&amp;file=Agencia-%20check%20up-%20brain%20storming.docx&amp;action=default&amp;mobileredirect=tru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Sales </a:t>
            </a:r>
            <a:r>
              <a:rPr lang="de-DE" dirty="0" err="1"/>
              <a:t>enablement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err="1"/>
              <a:t>Convercus</a:t>
            </a:r>
            <a:r>
              <a:rPr lang="de-DE" dirty="0"/>
              <a:t> </a:t>
            </a:r>
            <a:r>
              <a:rPr lang="de-DE" dirty="0" err="1"/>
              <a:t>para</a:t>
            </a:r>
            <a:r>
              <a:rPr lang="de-DE" dirty="0"/>
              <a:t> </a:t>
            </a:r>
            <a:r>
              <a:rPr lang="de-DE" dirty="0" err="1"/>
              <a:t>agencias</a:t>
            </a:r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9C30E0-F0EA-E69B-016F-AE1F1169E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content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D0A018-0809-02AB-DC05-A761BBE80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0) </a:t>
            </a:r>
            <a:r>
              <a:rPr lang="de-DE" dirty="0" err="1"/>
              <a:t>Arquitectura</a:t>
            </a:r>
            <a:r>
              <a:rPr lang="de-DE" dirty="0"/>
              <a:t> del Deck (3 </a:t>
            </a:r>
            <a:r>
              <a:rPr lang="de-DE"/>
              <a:t>actos</a:t>
            </a:r>
            <a:r>
              <a:rPr lang="de-DE" dirty="0"/>
              <a:t>)</a:t>
            </a:r>
          </a:p>
          <a:p>
            <a:r>
              <a:rPr lang="de-DE" sz="1100" b="1" dirty="0">
                <a:latin typeface="Segoe UI"/>
                <a:cs typeface="Segoe UI"/>
              </a:rPr>
              <a:t>ACTO 1 – Vender (</a:t>
            </a:r>
            <a:r>
              <a:rPr lang="de-DE" sz="1100" b="1" dirty="0" err="1">
                <a:latin typeface="Segoe UI"/>
                <a:cs typeface="Segoe UI"/>
              </a:rPr>
              <a:t>Por</a:t>
            </a:r>
            <a:r>
              <a:rPr lang="de-DE" sz="1100" b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qué</a:t>
            </a:r>
            <a:r>
              <a:rPr lang="de-DE" sz="1100" b="1" dirty="0">
                <a:latin typeface="Segoe UI"/>
                <a:cs typeface="Segoe UI"/>
              </a:rPr>
              <a:t> / Valor / </a:t>
            </a:r>
            <a:r>
              <a:rPr lang="de-DE" sz="1100" b="1" dirty="0" err="1">
                <a:latin typeface="Segoe UI"/>
                <a:cs typeface="Segoe UI"/>
              </a:rPr>
              <a:t>Oportunidad</a:t>
            </a:r>
            <a:r>
              <a:rPr lang="de-DE" sz="1100" b="1" dirty="0">
                <a:latin typeface="Segoe UI"/>
                <a:cs typeface="Segoe UI"/>
              </a:rPr>
              <a:t>)</a:t>
            </a:r>
            <a:endParaRPr lang="de-DE" dirty="0"/>
          </a:p>
          <a:p>
            <a:r>
              <a:rPr lang="de-DE" sz="1100" b="1" dirty="0">
                <a:latin typeface="Segoe UI"/>
                <a:cs typeface="Segoe UI"/>
              </a:rPr>
              <a:t>ACTO 2 – </a:t>
            </a:r>
            <a:r>
              <a:rPr lang="de-DE" sz="1100" b="1" dirty="0" err="1">
                <a:latin typeface="Segoe UI"/>
                <a:cs typeface="Segoe UI"/>
              </a:rPr>
              <a:t>Probar</a:t>
            </a:r>
            <a:r>
              <a:rPr lang="de-DE" sz="1100" b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con</a:t>
            </a:r>
            <a:r>
              <a:rPr lang="de-DE" sz="1100" b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ejemplos</a:t>
            </a:r>
            <a:r>
              <a:rPr lang="de-DE" sz="1100" b="1" dirty="0">
                <a:latin typeface="Segoe UI"/>
                <a:cs typeface="Segoe UI"/>
              </a:rPr>
              <a:t> (Canales → </a:t>
            </a:r>
            <a:r>
              <a:rPr lang="de-DE" sz="1100" b="1" dirty="0" err="1">
                <a:latin typeface="Segoe UI"/>
                <a:cs typeface="Segoe UI"/>
              </a:rPr>
              <a:t>Casos</a:t>
            </a:r>
            <a:r>
              <a:rPr lang="de-DE" sz="1100" b="1" dirty="0">
                <a:latin typeface="Segoe UI"/>
                <a:cs typeface="Segoe UI"/>
              </a:rPr>
              <a:t> → </a:t>
            </a:r>
            <a:r>
              <a:rPr lang="de-DE" sz="1100" b="1" dirty="0" err="1">
                <a:latin typeface="Segoe UI"/>
                <a:cs typeface="Segoe UI"/>
              </a:rPr>
              <a:t>Qué</a:t>
            </a:r>
            <a:r>
              <a:rPr lang="de-DE" sz="1100" b="1" dirty="0">
                <a:latin typeface="Segoe UI"/>
                <a:cs typeface="Segoe UI"/>
              </a:rPr>
              <a:t> se </a:t>
            </a:r>
            <a:r>
              <a:rPr lang="de-DE" sz="1100" b="1" dirty="0" err="1">
                <a:latin typeface="Segoe UI"/>
                <a:cs typeface="Segoe UI"/>
              </a:rPr>
              <a:t>consigue</a:t>
            </a:r>
            <a:r>
              <a:rPr lang="de-DE" sz="1100" b="1" dirty="0">
                <a:latin typeface="Segoe UI"/>
                <a:cs typeface="Segoe UI"/>
              </a:rPr>
              <a:t>)</a:t>
            </a:r>
            <a:endParaRPr lang="de-DE" dirty="0"/>
          </a:p>
          <a:p>
            <a:r>
              <a:rPr lang="de-DE" sz="1100" b="1" dirty="0">
                <a:latin typeface="Segoe UI"/>
                <a:cs typeface="Segoe UI"/>
              </a:rPr>
              <a:t>ACTO 3 – </a:t>
            </a:r>
            <a:r>
              <a:rPr lang="de-DE" sz="1100" b="1" dirty="0" err="1">
                <a:latin typeface="Segoe UI"/>
                <a:cs typeface="Segoe UI"/>
              </a:rPr>
              <a:t>Habilitar</a:t>
            </a:r>
            <a:r>
              <a:rPr lang="de-DE" sz="1100" b="1" dirty="0">
                <a:latin typeface="Segoe UI"/>
                <a:cs typeface="Segoe UI"/>
              </a:rPr>
              <a:t> (Toolkit → </a:t>
            </a:r>
            <a:r>
              <a:rPr lang="de-DE" sz="1100" b="1" dirty="0" err="1">
                <a:latin typeface="Segoe UI"/>
                <a:cs typeface="Segoe UI"/>
              </a:rPr>
              <a:t>Enablement</a:t>
            </a:r>
            <a:r>
              <a:rPr lang="de-DE" sz="1100" b="1" dirty="0">
                <a:latin typeface="Segoe UI"/>
                <a:cs typeface="Segoe UI"/>
              </a:rPr>
              <a:t> → Deep </a:t>
            </a:r>
            <a:r>
              <a:rPr lang="de-DE" sz="1100" b="1" dirty="0" err="1">
                <a:latin typeface="Segoe UI"/>
                <a:cs typeface="Segoe UI"/>
              </a:rPr>
              <a:t>dive</a:t>
            </a:r>
            <a:r>
              <a:rPr lang="de-DE" sz="1100" b="1" dirty="0">
                <a:latin typeface="Segoe UI"/>
                <a:cs typeface="Segoe UI"/>
              </a:rPr>
              <a:t> → </a:t>
            </a:r>
            <a:r>
              <a:rPr lang="de-DE" sz="1100" b="1" dirty="0" err="1">
                <a:latin typeface="Segoe UI"/>
                <a:cs typeface="Segoe UI"/>
              </a:rPr>
              <a:t>Próximos</a:t>
            </a:r>
            <a:r>
              <a:rPr lang="de-DE" sz="1100" b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pasos</a:t>
            </a:r>
            <a:r>
              <a:rPr lang="de-DE" sz="1100" b="1" dirty="0">
                <a:latin typeface="Segoe UI"/>
                <a:cs typeface="Segoe UI"/>
              </a:rPr>
              <a:t>)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6610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A30C71-E089-39FC-1D60-68573EAA5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100" dirty="0" err="1">
                <a:latin typeface="Segoe UI"/>
                <a:cs typeface="Segoe UI"/>
              </a:rPr>
              <a:t>Por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qué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el</a:t>
            </a:r>
            <a:r>
              <a:rPr lang="de-DE" sz="1100" dirty="0">
                <a:latin typeface="Segoe UI"/>
                <a:cs typeface="Segoe UI"/>
              </a:rPr>
              <a:t> CRM </a:t>
            </a:r>
            <a:r>
              <a:rPr lang="de-DE" sz="1100" dirty="0" err="1">
                <a:latin typeface="Segoe UI"/>
                <a:cs typeface="Segoe UI"/>
              </a:rPr>
              <a:t>no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resuelve</a:t>
            </a:r>
            <a:r>
              <a:rPr lang="de-DE" sz="1100" dirty="0">
                <a:latin typeface="Segoe UI"/>
                <a:cs typeface="Segoe UI"/>
              </a:rPr>
              <a:t> la </a:t>
            </a:r>
            <a:r>
              <a:rPr lang="de-DE" sz="1100" dirty="0" err="1">
                <a:latin typeface="Segoe UI"/>
                <a:cs typeface="Segoe UI"/>
              </a:rPr>
              <a:t>fidelización</a:t>
            </a:r>
            <a:endParaRPr lang="de-DE" dirty="0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4644E1-20BC-EFD9-0DDB-2ED973342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Slide 1 — </a:t>
            </a:r>
            <a:r>
              <a:rPr lang="de-DE" dirty="0" err="1"/>
              <a:t>Qué</a:t>
            </a:r>
            <a:r>
              <a:rPr lang="de-DE" dirty="0"/>
              <a:t> </a:t>
            </a:r>
            <a:r>
              <a:rPr lang="de-DE" dirty="0" err="1"/>
              <a:t>queremos</a:t>
            </a:r>
            <a:r>
              <a:rPr lang="de-DE" dirty="0"/>
              <a:t> (</a:t>
            </a:r>
            <a:r>
              <a:rPr lang="de-DE" dirty="0" err="1"/>
              <a:t>objetivo</a:t>
            </a:r>
            <a:r>
              <a:rPr lang="de-DE" dirty="0"/>
              <a:t> del </a:t>
            </a:r>
            <a:r>
              <a:rPr lang="de-DE" dirty="0" err="1"/>
              <a:t>proyecto</a:t>
            </a:r>
            <a:r>
              <a:rPr lang="de-DE" dirty="0"/>
              <a:t>)</a:t>
            </a:r>
            <a:endParaRPr lang="de-DE" dirty="0">
              <a:latin typeface="Aptos" panose="020B0004020202020204"/>
              <a:cs typeface="Segoe UI"/>
            </a:endParaRPr>
          </a:p>
          <a:p>
            <a:r>
              <a:rPr lang="de-DE" sz="1100" b="1" dirty="0" err="1">
                <a:latin typeface="Segoe UI"/>
                <a:cs typeface="Segoe UI"/>
              </a:rPr>
              <a:t>Título</a:t>
            </a:r>
            <a:r>
              <a:rPr lang="de-DE" sz="1100" b="1" dirty="0">
                <a:latin typeface="Segoe UI"/>
                <a:cs typeface="Segoe UI"/>
              </a:rPr>
              <a:t>: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Queremos</a:t>
            </a: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escalar</a:t>
            </a: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con</a:t>
            </a: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agencias</a:t>
            </a:r>
            <a:br>
              <a:rPr lang="de-DE" sz="1100" i="1" dirty="0">
                <a:latin typeface="Segoe UI"/>
                <a:cs typeface="Segoe UI"/>
              </a:rPr>
            </a:b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Mensaje</a:t>
            </a:r>
            <a:r>
              <a:rPr lang="de-DE" sz="1100" b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clave</a:t>
            </a:r>
            <a:r>
              <a:rPr lang="de-DE" sz="1100" b="1" dirty="0">
                <a:latin typeface="Segoe UI"/>
                <a:cs typeface="Segoe UI"/>
              </a:rPr>
              <a:t>: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Convertir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agencias</a:t>
            </a:r>
            <a:r>
              <a:rPr lang="de-DE" sz="1100" dirty="0">
                <a:latin typeface="Segoe UI"/>
                <a:cs typeface="Segoe UI"/>
              </a:rPr>
              <a:t> en </a:t>
            </a:r>
            <a:r>
              <a:rPr lang="de-DE" sz="1100" dirty="0" err="1">
                <a:latin typeface="Segoe UI"/>
                <a:cs typeface="Segoe UI"/>
              </a:rPr>
              <a:t>nuestro</a:t>
            </a:r>
            <a:r>
              <a:rPr lang="de-DE" sz="1100" dirty="0">
                <a:latin typeface="Segoe UI"/>
                <a:cs typeface="Segoe UI"/>
              </a:rPr>
              <a:t> “</a:t>
            </a:r>
            <a:r>
              <a:rPr lang="de-DE" sz="1100" dirty="0" err="1">
                <a:latin typeface="Segoe UI"/>
                <a:cs typeface="Segoe UI"/>
              </a:rPr>
              <a:t>brazo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extendido</a:t>
            </a:r>
            <a:r>
              <a:rPr lang="de-DE" sz="1100" dirty="0">
                <a:latin typeface="Segoe UI"/>
                <a:cs typeface="Segoe UI"/>
              </a:rPr>
              <a:t>” </a:t>
            </a:r>
            <a:r>
              <a:rPr lang="de-DE" sz="1100" dirty="0" err="1">
                <a:latin typeface="Segoe UI"/>
                <a:cs typeface="Segoe UI"/>
              </a:rPr>
              <a:t>para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multiplicar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proyectos</a:t>
            </a:r>
            <a:r>
              <a:rPr lang="de-DE" sz="1100" dirty="0">
                <a:latin typeface="Segoe UI"/>
                <a:cs typeface="Segoe UI"/>
              </a:rPr>
              <a:t> sin </a:t>
            </a:r>
            <a:r>
              <a:rPr lang="de-DE" sz="1100" dirty="0" err="1">
                <a:latin typeface="Segoe UI"/>
                <a:cs typeface="Segoe UI"/>
              </a:rPr>
              <a:t>multiplicar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carga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interna</a:t>
            </a:r>
            <a:r>
              <a:rPr lang="de-DE" sz="1100" dirty="0">
                <a:latin typeface="Segoe UI"/>
                <a:cs typeface="Segoe UI"/>
              </a:rPr>
              <a:t>. </a:t>
            </a:r>
            <a:br>
              <a:rPr lang="de-DE" sz="1100" dirty="0">
                <a:latin typeface="Segoe UI"/>
                <a:cs typeface="Segoe UI"/>
              </a:rPr>
            </a:br>
            <a:r>
              <a:rPr lang="de-DE" sz="1100" dirty="0">
                <a:latin typeface="Segoe UI"/>
                <a:cs typeface="Segoe UI"/>
              </a:rPr>
              <a:t>3 </a:t>
            </a:r>
            <a:r>
              <a:rPr lang="de-DE" sz="1100" dirty="0" err="1">
                <a:latin typeface="Segoe UI"/>
                <a:cs typeface="Segoe UI"/>
              </a:rPr>
              <a:t>bullets</a:t>
            </a:r>
            <a:r>
              <a:rPr lang="de-DE" sz="1100" dirty="0">
                <a:latin typeface="Segoe UI"/>
                <a:cs typeface="Segoe UI"/>
              </a:rPr>
              <a:t> (</a:t>
            </a:r>
            <a:r>
              <a:rPr lang="de-DE" sz="1100" dirty="0" err="1">
                <a:latin typeface="Segoe UI"/>
                <a:cs typeface="Segoe UI"/>
              </a:rPr>
              <a:t>muy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concretos</a:t>
            </a:r>
            <a:r>
              <a:rPr lang="de-DE" sz="1100" dirty="0">
                <a:latin typeface="Segoe UI"/>
                <a:cs typeface="Segoe UI"/>
              </a:rPr>
              <a:t>):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r>
              <a:rPr lang="de-DE" sz="1100" dirty="0" err="1">
                <a:latin typeface="Segoe UI"/>
                <a:cs typeface="Segoe UI"/>
              </a:rPr>
              <a:t>Agencias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venden</a:t>
            </a:r>
            <a:r>
              <a:rPr lang="de-DE" sz="1100" dirty="0">
                <a:latin typeface="Segoe UI"/>
                <a:cs typeface="Segoe UI"/>
              </a:rPr>
              <a:t> + </a:t>
            </a:r>
            <a:r>
              <a:rPr lang="de-DE" sz="1100" dirty="0" err="1">
                <a:latin typeface="Segoe UI"/>
                <a:cs typeface="Segoe UI"/>
              </a:rPr>
              <a:t>operan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iniciativas</a:t>
            </a:r>
            <a:r>
              <a:rPr lang="de-DE" sz="1100" dirty="0">
                <a:latin typeface="Segoe UI"/>
                <a:cs typeface="Segoe UI"/>
              </a:rPr>
              <a:t> de </a:t>
            </a:r>
            <a:r>
              <a:rPr lang="de-DE" sz="1100" dirty="0" err="1">
                <a:latin typeface="Segoe UI"/>
                <a:cs typeface="Segoe UI"/>
              </a:rPr>
              <a:t>fidelización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con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Convercus</a:t>
            </a:r>
            <a:r>
              <a:rPr lang="de-DE" sz="1100" dirty="0">
                <a:latin typeface="Segoe UI"/>
                <a:cs typeface="Segoe UI"/>
              </a:rPr>
              <a:t>.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r>
              <a:rPr lang="de-DE" sz="1100" dirty="0" err="1">
                <a:latin typeface="Segoe UI"/>
                <a:cs typeface="Segoe UI"/>
              </a:rPr>
              <a:t>Convercus</a:t>
            </a:r>
            <a:r>
              <a:rPr lang="de-DE" sz="1100" dirty="0">
                <a:latin typeface="Segoe UI"/>
                <a:cs typeface="Segoe UI"/>
              </a:rPr>
              <a:t> = </a:t>
            </a:r>
            <a:r>
              <a:rPr lang="de-DE" sz="1100" dirty="0" err="1">
                <a:latin typeface="Segoe UI"/>
                <a:cs typeface="Segoe UI"/>
              </a:rPr>
              <a:t>herramienta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para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ejecutar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campañas</a:t>
            </a:r>
            <a:r>
              <a:rPr lang="de-DE" sz="1100" dirty="0">
                <a:latin typeface="Segoe UI"/>
                <a:cs typeface="Segoe UI"/>
              </a:rPr>
              <a:t>/</a:t>
            </a:r>
            <a:r>
              <a:rPr lang="de-DE" sz="1100" dirty="0" err="1">
                <a:latin typeface="Segoe UI"/>
                <a:cs typeface="Segoe UI"/>
              </a:rPr>
              <a:t>experiencias</a:t>
            </a:r>
            <a:r>
              <a:rPr lang="de-DE" sz="1100" dirty="0">
                <a:latin typeface="Segoe UI"/>
                <a:cs typeface="Segoe UI"/>
              </a:rPr>
              <a:t> (</a:t>
            </a:r>
            <a:r>
              <a:rPr lang="de-DE" sz="1100" dirty="0" err="1">
                <a:latin typeface="Segoe UI"/>
                <a:cs typeface="Segoe UI"/>
              </a:rPr>
              <a:t>no</a:t>
            </a:r>
            <a:r>
              <a:rPr lang="de-DE" sz="1100" dirty="0">
                <a:latin typeface="Segoe UI"/>
                <a:cs typeface="Segoe UI"/>
              </a:rPr>
              <a:t> solo </a:t>
            </a:r>
            <a:r>
              <a:rPr lang="de-DE" sz="1100" dirty="0" err="1">
                <a:latin typeface="Segoe UI"/>
                <a:cs typeface="Segoe UI"/>
              </a:rPr>
              <a:t>mensajería</a:t>
            </a:r>
            <a:r>
              <a:rPr lang="de-DE" sz="1100" dirty="0">
                <a:latin typeface="Segoe UI"/>
                <a:cs typeface="Segoe UI"/>
              </a:rPr>
              <a:t>).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r>
              <a:rPr lang="de-DE" sz="1100" dirty="0" err="1">
                <a:latin typeface="Segoe UI"/>
                <a:cs typeface="Segoe UI"/>
              </a:rPr>
              <a:t>Pilotar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con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Mínima</a:t>
            </a:r>
            <a:r>
              <a:rPr lang="de-DE" sz="1100" dirty="0">
                <a:latin typeface="Segoe UI"/>
                <a:cs typeface="Segoe UI"/>
              </a:rPr>
              <a:t> y </a:t>
            </a:r>
            <a:r>
              <a:rPr lang="de-DE" sz="1100" dirty="0" err="1">
                <a:latin typeface="Segoe UI"/>
                <a:cs typeface="Segoe UI"/>
              </a:rPr>
              <a:t>repetir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el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mismo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discurso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para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otras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agencias</a:t>
            </a:r>
            <a:r>
              <a:rPr lang="de-DE" sz="1100" dirty="0">
                <a:latin typeface="Segoe UI"/>
                <a:cs typeface="Segoe UI"/>
              </a:rPr>
              <a:t>. </a:t>
            </a:r>
            <a:br>
              <a:rPr lang="de-DE" sz="1100" dirty="0">
                <a:latin typeface="Segoe UI"/>
                <a:cs typeface="Segoe UI"/>
              </a:rPr>
            </a:br>
            <a:r>
              <a:rPr lang="de-DE" sz="1100" dirty="0">
                <a:latin typeface="Segoe UI"/>
                <a:cs typeface="Segoe UI"/>
              </a:rPr>
              <a:t>Visual: “1 </a:t>
            </a:r>
            <a:r>
              <a:rPr lang="de-DE" sz="1100" dirty="0" err="1">
                <a:latin typeface="Segoe UI"/>
                <a:cs typeface="Segoe UI"/>
              </a:rPr>
              <a:t>agencia</a:t>
            </a:r>
            <a:r>
              <a:rPr lang="de-DE" sz="1100" dirty="0">
                <a:latin typeface="Segoe UI"/>
                <a:cs typeface="Segoe UI"/>
              </a:rPr>
              <a:t> → N </a:t>
            </a:r>
            <a:r>
              <a:rPr lang="de-DE" sz="1100" dirty="0" err="1">
                <a:latin typeface="Segoe UI"/>
                <a:cs typeface="Segoe UI"/>
              </a:rPr>
              <a:t>clientes</a:t>
            </a:r>
            <a:r>
              <a:rPr lang="de-DE" sz="1100" dirty="0">
                <a:latin typeface="Segoe UI"/>
                <a:cs typeface="Segoe UI"/>
              </a:rPr>
              <a:t> → N </a:t>
            </a:r>
            <a:r>
              <a:rPr lang="de-DE" sz="1100" dirty="0" err="1">
                <a:latin typeface="Segoe UI"/>
                <a:cs typeface="Segoe UI"/>
              </a:rPr>
              <a:t>casos</a:t>
            </a:r>
            <a:r>
              <a:rPr lang="de-DE" sz="1100" dirty="0">
                <a:latin typeface="Segoe UI"/>
                <a:cs typeface="Segoe UI"/>
              </a:rPr>
              <a:t>” (</a:t>
            </a:r>
            <a:r>
              <a:rPr lang="de-DE" sz="1100" dirty="0" err="1">
                <a:latin typeface="Segoe UI"/>
                <a:cs typeface="Segoe UI"/>
              </a:rPr>
              <a:t>flechas</a:t>
            </a:r>
            <a:r>
              <a:rPr lang="de-DE" sz="1100" dirty="0">
                <a:latin typeface="Segoe UI"/>
                <a:cs typeface="Segoe UI"/>
              </a:rPr>
              <a:t>)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endParaRPr lang="de-DE" sz="1100" dirty="0">
              <a:latin typeface="Segoe UI"/>
              <a:cs typeface="Segoe UI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3859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55F021-8569-8F4F-7FEE-91F3BE3CA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CD8051-341D-DD2A-EA41-5283C1844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Slide 2 — </a:t>
            </a:r>
            <a:r>
              <a:rPr lang="de-DE" dirty="0" err="1"/>
              <a:t>Por</a:t>
            </a:r>
            <a:r>
              <a:rPr lang="de-DE" dirty="0"/>
              <a:t> </a:t>
            </a:r>
            <a:r>
              <a:rPr lang="de-DE" dirty="0" err="1"/>
              <a:t>qué</a:t>
            </a:r>
            <a:r>
              <a:rPr lang="de-DE" dirty="0"/>
              <a:t> </a:t>
            </a:r>
            <a:r>
              <a:rPr lang="de-DE" dirty="0" err="1"/>
              <a:t>ahora</a:t>
            </a:r>
            <a:r>
              <a:rPr lang="de-DE" dirty="0"/>
              <a:t> (</a:t>
            </a:r>
            <a:r>
              <a:rPr lang="de-DE" dirty="0" err="1"/>
              <a:t>el</a:t>
            </a:r>
            <a:r>
              <a:rPr lang="de-DE" dirty="0"/>
              <a:t> </a:t>
            </a:r>
            <a:r>
              <a:rPr lang="de-DE" dirty="0" err="1"/>
              <a:t>problema</a:t>
            </a:r>
            <a:r>
              <a:rPr lang="de-DE" dirty="0"/>
              <a:t> del </a:t>
            </a:r>
            <a:r>
              <a:rPr lang="de-DE" dirty="0" err="1"/>
              <a:t>mercado</a:t>
            </a:r>
            <a:r>
              <a:rPr lang="de-DE" dirty="0"/>
              <a:t>)</a:t>
            </a:r>
          </a:p>
          <a:p>
            <a:r>
              <a:rPr lang="de-DE" sz="1100" b="1" dirty="0" err="1">
                <a:latin typeface="Segoe UI"/>
                <a:cs typeface="Segoe UI"/>
              </a:rPr>
              <a:t>Título</a:t>
            </a:r>
            <a:r>
              <a:rPr lang="de-DE" sz="1100" b="1" dirty="0">
                <a:latin typeface="Segoe UI"/>
                <a:cs typeface="Segoe UI"/>
              </a:rPr>
              <a:t>: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i="1" dirty="0">
                <a:latin typeface="Segoe UI"/>
                <a:cs typeface="Segoe UI"/>
              </a:rPr>
              <a:t>Las </a:t>
            </a:r>
            <a:r>
              <a:rPr lang="de-DE" sz="1100" i="1" dirty="0" err="1">
                <a:latin typeface="Segoe UI"/>
                <a:cs typeface="Segoe UI"/>
              </a:rPr>
              <a:t>agencias</a:t>
            </a: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intentan</a:t>
            </a: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hacer</a:t>
            </a: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loyalty</a:t>
            </a: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con</a:t>
            </a:r>
            <a:r>
              <a:rPr lang="de-DE" sz="1100" i="1" dirty="0">
                <a:latin typeface="Segoe UI"/>
                <a:cs typeface="Segoe UI"/>
              </a:rPr>
              <a:t> CRM/CDP… </a:t>
            </a:r>
            <a:r>
              <a:rPr lang="de-DE" sz="1100" i="1" dirty="0" err="1">
                <a:latin typeface="Segoe UI"/>
                <a:cs typeface="Segoe UI"/>
              </a:rPr>
              <a:t>y</a:t>
            </a:r>
            <a:r>
              <a:rPr lang="de-DE" sz="1100" i="1" dirty="0">
                <a:latin typeface="Segoe UI"/>
                <a:cs typeface="Segoe UI"/>
              </a:rPr>
              <a:t> se </a:t>
            </a:r>
            <a:r>
              <a:rPr lang="de-DE" sz="1100" i="1" dirty="0" err="1">
                <a:latin typeface="Segoe UI"/>
                <a:cs typeface="Segoe UI"/>
              </a:rPr>
              <a:t>quedan</a:t>
            </a: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cortas</a:t>
            </a:r>
            <a:br>
              <a:rPr lang="de-DE" sz="1100" i="1" dirty="0">
                <a:latin typeface="Segoe UI"/>
                <a:cs typeface="Segoe UI"/>
              </a:rPr>
            </a:b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Mensaje</a:t>
            </a:r>
            <a:r>
              <a:rPr lang="de-DE" sz="1100" b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clave</a:t>
            </a:r>
            <a:r>
              <a:rPr lang="de-DE" sz="1100" b="1" dirty="0">
                <a:latin typeface="Segoe UI"/>
                <a:cs typeface="Segoe UI"/>
              </a:rPr>
              <a:t>:</a:t>
            </a:r>
            <a:r>
              <a:rPr lang="de-DE" sz="1100" dirty="0">
                <a:latin typeface="Segoe UI"/>
                <a:cs typeface="Segoe UI"/>
              </a:rPr>
              <a:t> “</a:t>
            </a:r>
            <a:r>
              <a:rPr lang="de-DE" sz="1100" dirty="0" err="1">
                <a:latin typeface="Segoe UI"/>
                <a:cs typeface="Segoe UI"/>
              </a:rPr>
              <a:t>Con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un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martillo</a:t>
            </a:r>
            <a:r>
              <a:rPr lang="de-DE" sz="1100" dirty="0">
                <a:latin typeface="Segoe UI"/>
                <a:cs typeface="Segoe UI"/>
              </a:rPr>
              <a:t> (CRM) </a:t>
            </a:r>
            <a:r>
              <a:rPr lang="de-DE" sz="1100" dirty="0" err="1">
                <a:latin typeface="Segoe UI"/>
                <a:cs typeface="Segoe UI"/>
              </a:rPr>
              <a:t>intentan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resolver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todo</a:t>
            </a:r>
            <a:r>
              <a:rPr lang="de-DE" sz="1100" dirty="0">
                <a:latin typeface="Segoe UI"/>
                <a:cs typeface="Segoe UI"/>
              </a:rPr>
              <a:t>; </a:t>
            </a:r>
            <a:r>
              <a:rPr lang="de-DE" sz="1100" dirty="0" err="1">
                <a:latin typeface="Segoe UI"/>
                <a:cs typeface="Segoe UI"/>
              </a:rPr>
              <a:t>loyalty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necesita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otra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lógica</a:t>
            </a:r>
            <a:r>
              <a:rPr lang="de-DE" sz="1100" dirty="0">
                <a:latin typeface="Segoe UI"/>
                <a:cs typeface="Segoe UI"/>
              </a:rPr>
              <a:t>.” </a:t>
            </a:r>
            <a:br>
              <a:rPr lang="de-DE" sz="1100" dirty="0">
                <a:latin typeface="Segoe UI"/>
                <a:cs typeface="Segoe UI"/>
              </a:rPr>
            </a:br>
            <a:r>
              <a:rPr lang="de-DE" sz="1100" dirty="0" err="1">
                <a:latin typeface="Segoe UI"/>
                <a:cs typeface="Segoe UI"/>
              </a:rPr>
              <a:t>Bullets</a:t>
            </a:r>
            <a:r>
              <a:rPr lang="de-DE" sz="1100" dirty="0">
                <a:latin typeface="Segoe UI"/>
                <a:cs typeface="Segoe UI"/>
              </a:rPr>
              <a:t>: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endParaRPr lang="de-DE" dirty="0"/>
          </a:p>
          <a:p>
            <a:r>
              <a:rPr lang="de-DE" sz="1100" dirty="0">
                <a:latin typeface="Segoe UI"/>
                <a:cs typeface="Segoe UI"/>
              </a:rPr>
              <a:t>CRM/MA </a:t>
            </a:r>
            <a:r>
              <a:rPr lang="de-DE" sz="1100" dirty="0" err="1">
                <a:latin typeface="Segoe UI"/>
                <a:cs typeface="Segoe UI"/>
              </a:rPr>
              <a:t>sirve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para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mensajes</a:t>
            </a:r>
            <a:r>
              <a:rPr lang="de-DE" sz="1100" dirty="0">
                <a:latin typeface="Segoe UI"/>
                <a:cs typeface="Segoe UI"/>
              </a:rPr>
              <a:t>; </a:t>
            </a:r>
            <a:r>
              <a:rPr lang="de-DE" sz="1100" dirty="0" err="1">
                <a:latin typeface="Segoe UI"/>
                <a:cs typeface="Segoe UI"/>
              </a:rPr>
              <a:t>fidelización</a:t>
            </a:r>
            <a:r>
              <a:rPr lang="de-DE" sz="1100" dirty="0">
                <a:latin typeface="Segoe UI"/>
                <a:cs typeface="Segoe UI"/>
              </a:rPr>
              <a:t> = </a:t>
            </a:r>
            <a:r>
              <a:rPr lang="de-DE" sz="1100" b="1" dirty="0" err="1">
                <a:latin typeface="Segoe UI"/>
                <a:cs typeface="Segoe UI"/>
              </a:rPr>
              <a:t>cambiar</a:t>
            </a:r>
            <a:r>
              <a:rPr lang="de-DE" sz="1100" b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comportamiento</a:t>
            </a:r>
            <a:r>
              <a:rPr lang="de-DE" sz="1100" dirty="0">
                <a:latin typeface="Segoe UI"/>
                <a:cs typeface="Segoe UI"/>
              </a:rPr>
              <a:t>, </a:t>
            </a:r>
            <a:r>
              <a:rPr lang="de-DE" sz="1100" dirty="0" err="1">
                <a:latin typeface="Segoe UI"/>
                <a:cs typeface="Segoe UI"/>
              </a:rPr>
              <a:t>no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inundar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con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comunicaciones</a:t>
            </a:r>
            <a:r>
              <a:rPr lang="de-DE" sz="1100" dirty="0">
                <a:latin typeface="Segoe UI"/>
                <a:cs typeface="Segoe UI"/>
              </a:rPr>
              <a:t>.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r>
              <a:rPr lang="de-DE" sz="1100" dirty="0">
                <a:latin typeface="Segoe UI"/>
                <a:cs typeface="Segoe UI"/>
              </a:rPr>
              <a:t> </a:t>
            </a:r>
          </a:p>
          <a:p>
            <a:r>
              <a:rPr lang="de-DE" sz="1100" dirty="0" err="1">
                <a:latin typeface="Segoe UI"/>
                <a:cs typeface="Segoe UI"/>
              </a:rPr>
              <a:t>Aquí</a:t>
            </a:r>
            <a:r>
              <a:rPr lang="de-DE" sz="1100" dirty="0">
                <a:latin typeface="Segoe UI"/>
                <a:cs typeface="Segoe UI"/>
              </a:rPr>
              <a:t> es </a:t>
            </a:r>
            <a:r>
              <a:rPr lang="de-DE" sz="1100" dirty="0" err="1">
                <a:latin typeface="Segoe UI"/>
                <a:cs typeface="Segoe UI"/>
              </a:rPr>
              <a:t>donde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Convercus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entra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con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sentido</a:t>
            </a:r>
            <a:r>
              <a:rPr lang="de-DE" sz="1100" dirty="0">
                <a:latin typeface="Segoe UI"/>
                <a:cs typeface="Segoe UI"/>
              </a:rPr>
              <a:t>. </a:t>
            </a:r>
            <a:r>
              <a:rPr lang="de-DE" sz="1100" dirty="0" err="1">
                <a:latin typeface="Segoe UI"/>
                <a:cs typeface="Segoe UI"/>
              </a:rPr>
              <a:t>No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sustituye</a:t>
            </a:r>
            <a:r>
              <a:rPr lang="de-DE" sz="1100" dirty="0">
                <a:latin typeface="Segoe UI"/>
                <a:cs typeface="Segoe UI"/>
              </a:rPr>
              <a:t> al CRM. </a:t>
            </a:r>
            <a:r>
              <a:rPr lang="de-DE" sz="1100" dirty="0" err="1">
                <a:latin typeface="Segoe UI"/>
                <a:cs typeface="Segoe UI"/>
              </a:rPr>
              <a:t>No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elimina</a:t>
            </a:r>
            <a:r>
              <a:rPr lang="de-DE" sz="1100" dirty="0">
                <a:latin typeface="Segoe UI"/>
                <a:cs typeface="Segoe UI"/>
              </a:rPr>
              <a:t> la </a:t>
            </a:r>
            <a:r>
              <a:rPr lang="de-DE" sz="1100" dirty="0" err="1">
                <a:latin typeface="Segoe UI"/>
                <a:cs typeface="Segoe UI"/>
              </a:rPr>
              <a:t>automatización</a:t>
            </a:r>
            <a:r>
              <a:rPr lang="de-DE" sz="1100" dirty="0">
                <a:latin typeface="Segoe UI"/>
                <a:cs typeface="Segoe UI"/>
              </a:rPr>
              <a:t>. </a:t>
            </a:r>
            <a:r>
              <a:rPr lang="de-DE" sz="1100" dirty="0" err="1">
                <a:latin typeface="Segoe UI"/>
                <a:cs typeface="Segoe UI"/>
              </a:rPr>
              <a:t>No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obliga</a:t>
            </a:r>
            <a:r>
              <a:rPr lang="de-DE" sz="1100" dirty="0">
                <a:latin typeface="Segoe UI"/>
                <a:cs typeface="Segoe UI"/>
              </a:rPr>
              <a:t> a </a:t>
            </a:r>
            <a:r>
              <a:rPr lang="de-DE" sz="1100" dirty="0" err="1">
                <a:latin typeface="Segoe UI"/>
                <a:cs typeface="Segoe UI"/>
              </a:rPr>
              <a:t>abandonar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canales</a:t>
            </a:r>
            <a:r>
              <a:rPr lang="de-DE" sz="1100" dirty="0">
                <a:latin typeface="Segoe UI"/>
                <a:cs typeface="Segoe UI"/>
              </a:rPr>
              <a:t>, </a:t>
            </a:r>
            <a:r>
              <a:rPr lang="de-DE" sz="1100" dirty="0" err="1">
                <a:latin typeface="Segoe UI"/>
                <a:cs typeface="Segoe UI"/>
              </a:rPr>
              <a:t>journeys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ni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herramientas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ya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implantadas</a:t>
            </a:r>
            <a:r>
              <a:rPr lang="de-DE" sz="1100" dirty="0">
                <a:latin typeface="Segoe UI"/>
                <a:cs typeface="Segoe UI"/>
              </a:rPr>
              <a:t>. </a:t>
            </a:r>
            <a:r>
              <a:rPr lang="de-DE" sz="1100" dirty="0" err="1">
                <a:latin typeface="Segoe UI"/>
                <a:cs typeface="Segoe UI"/>
              </a:rPr>
              <a:t>Tampoco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entra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para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enviar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más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mensajes</a:t>
            </a:r>
            <a:r>
              <a:rPr lang="de-DE" sz="1100" dirty="0">
                <a:latin typeface="Segoe UI"/>
                <a:cs typeface="Segoe UI"/>
              </a:rPr>
              <a:t>. Su </a:t>
            </a:r>
            <a:r>
              <a:rPr lang="de-DE" sz="1100" dirty="0" err="1">
                <a:latin typeface="Segoe UI"/>
                <a:cs typeface="Segoe UI"/>
              </a:rPr>
              <a:t>papel</a:t>
            </a:r>
            <a:r>
              <a:rPr lang="de-DE" sz="1100" dirty="0">
                <a:latin typeface="Segoe UI"/>
                <a:cs typeface="Segoe UI"/>
              </a:rPr>
              <a:t> es </a:t>
            </a:r>
            <a:r>
              <a:rPr lang="de-DE" sz="1100" dirty="0" err="1">
                <a:latin typeface="Segoe UI"/>
                <a:cs typeface="Segoe UI"/>
              </a:rPr>
              <a:t>más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preciso</a:t>
            </a:r>
            <a:r>
              <a:rPr lang="de-DE" sz="1100" dirty="0">
                <a:latin typeface="Segoe UI"/>
                <a:cs typeface="Segoe UI"/>
              </a:rPr>
              <a:t>: </a:t>
            </a:r>
            <a:r>
              <a:rPr lang="de-DE" sz="1100" dirty="0" err="1">
                <a:latin typeface="Segoe UI"/>
                <a:cs typeface="Segoe UI"/>
              </a:rPr>
              <a:t>introducir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una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capa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que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permita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que</a:t>
            </a:r>
            <a:r>
              <a:rPr lang="de-DE" sz="1100" dirty="0">
                <a:latin typeface="Segoe UI"/>
                <a:cs typeface="Segoe UI"/>
              </a:rPr>
              <a:t> la </a:t>
            </a:r>
            <a:r>
              <a:rPr lang="de-DE" sz="1100" dirty="0" err="1">
                <a:latin typeface="Segoe UI"/>
                <a:cs typeface="Segoe UI"/>
              </a:rPr>
              <a:t>comunicación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deje</a:t>
            </a:r>
            <a:r>
              <a:rPr lang="de-DE" sz="1100" dirty="0">
                <a:latin typeface="Segoe UI"/>
                <a:cs typeface="Segoe UI"/>
              </a:rPr>
              <a:t> de </a:t>
            </a:r>
            <a:r>
              <a:rPr lang="de-DE" sz="1100" dirty="0" err="1">
                <a:latin typeface="Segoe UI"/>
                <a:cs typeface="Segoe UI"/>
              </a:rPr>
              <a:t>funcionar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como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una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sucesión</a:t>
            </a:r>
            <a:r>
              <a:rPr lang="de-DE" sz="1100" dirty="0">
                <a:latin typeface="Segoe UI"/>
                <a:cs typeface="Segoe UI"/>
              </a:rPr>
              <a:t> de </a:t>
            </a:r>
            <a:r>
              <a:rPr lang="de-DE" sz="1100" dirty="0" err="1">
                <a:latin typeface="Segoe UI"/>
                <a:cs typeface="Segoe UI"/>
              </a:rPr>
              <a:t>impactos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y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pase</a:t>
            </a:r>
            <a:r>
              <a:rPr lang="de-DE" sz="1100" dirty="0">
                <a:latin typeface="Segoe UI"/>
                <a:cs typeface="Segoe UI"/>
              </a:rPr>
              <a:t> a </a:t>
            </a:r>
            <a:r>
              <a:rPr lang="de-DE" sz="1100" dirty="0" err="1">
                <a:latin typeface="Segoe UI"/>
                <a:cs typeface="Segoe UI"/>
              </a:rPr>
              <a:t>integrarse</a:t>
            </a:r>
            <a:r>
              <a:rPr lang="de-DE" sz="1100" dirty="0">
                <a:latin typeface="Segoe UI"/>
                <a:cs typeface="Segoe UI"/>
              </a:rPr>
              <a:t> en </a:t>
            </a:r>
            <a:r>
              <a:rPr lang="de-DE" sz="1100" dirty="0" err="1">
                <a:latin typeface="Segoe UI"/>
                <a:cs typeface="Segoe UI"/>
              </a:rPr>
              <a:t>una</a:t>
            </a:r>
            <a:r>
              <a:rPr lang="de-DE" sz="1100" dirty="0">
                <a:latin typeface="Segoe UI"/>
                <a:cs typeface="Segoe UI"/>
              </a:rPr>
              <a:t> **</a:t>
            </a:r>
            <a:r>
              <a:rPr lang="de-DE" sz="1100" dirty="0" err="1">
                <a:latin typeface="Segoe UI"/>
                <a:cs typeface="Segoe UI"/>
              </a:rPr>
              <a:t>progresión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estructurada</a:t>
            </a:r>
            <a:r>
              <a:rPr lang="de-DE" sz="1100" dirty="0">
                <a:latin typeface="Segoe UI"/>
                <a:cs typeface="Segoe UI"/>
              </a:rPr>
              <a:t>**.</a:t>
            </a:r>
            <a:endParaRPr lang="de-DE" dirty="0"/>
          </a:p>
          <a:p>
            <a:r>
              <a:rPr lang="de-DE" sz="1100" dirty="0">
                <a:latin typeface="Segoe UI"/>
                <a:cs typeface="Segoe UI"/>
              </a:rPr>
              <a:t>Convercus </a:t>
            </a:r>
            <a:r>
              <a:rPr lang="de-DE" sz="1100" dirty="0" err="1">
                <a:latin typeface="Segoe UI"/>
                <a:cs typeface="Segoe UI"/>
              </a:rPr>
              <a:t>aporta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estructura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estratégica</a:t>
            </a:r>
            <a:r>
              <a:rPr lang="de-DE" sz="1100" dirty="0">
                <a:latin typeface="Segoe UI"/>
                <a:cs typeface="Segoe UI"/>
              </a:rPr>
              <a:t>: </a:t>
            </a:r>
            <a:r>
              <a:rPr lang="de-DE" sz="1100" dirty="0" err="1">
                <a:latin typeface="Segoe UI"/>
                <a:cs typeface="Segoe UI"/>
              </a:rPr>
              <a:t>recompensar</a:t>
            </a:r>
            <a:r>
              <a:rPr lang="de-DE" sz="1100" dirty="0">
                <a:latin typeface="Segoe UI"/>
                <a:cs typeface="Segoe UI"/>
              </a:rPr>
              <a:t>/</a:t>
            </a:r>
            <a:r>
              <a:rPr lang="de-DE" sz="1100" dirty="0" err="1">
                <a:latin typeface="Segoe UI"/>
                <a:cs typeface="Segoe UI"/>
              </a:rPr>
              <a:t>educar</a:t>
            </a:r>
            <a:r>
              <a:rPr lang="de-DE" sz="1100" dirty="0">
                <a:latin typeface="Segoe UI"/>
                <a:cs typeface="Segoe UI"/>
              </a:rPr>
              <a:t>, </a:t>
            </a:r>
            <a:r>
              <a:rPr lang="de-DE" sz="1100" dirty="0" err="1">
                <a:latin typeface="Segoe UI"/>
                <a:cs typeface="Segoe UI"/>
              </a:rPr>
              <a:t>no</a:t>
            </a:r>
            <a:r>
              <a:rPr lang="de-DE" sz="1100" dirty="0">
                <a:latin typeface="Segoe UI"/>
                <a:cs typeface="Segoe UI"/>
              </a:rPr>
              <a:t> solo </a:t>
            </a:r>
            <a:r>
              <a:rPr lang="de-DE" sz="1100" dirty="0" err="1">
                <a:latin typeface="Segoe UI"/>
                <a:cs typeface="Segoe UI"/>
              </a:rPr>
              <a:t>comunicar</a:t>
            </a:r>
            <a:r>
              <a:rPr lang="de-DE" sz="1100" dirty="0">
                <a:latin typeface="Segoe UI"/>
                <a:cs typeface="Segoe UI"/>
              </a:rPr>
              <a:t>. </a:t>
            </a:r>
            <a:br>
              <a:rPr lang="de-DE" sz="1100" dirty="0">
                <a:latin typeface="Segoe UI"/>
                <a:cs typeface="Segoe UI"/>
              </a:rPr>
            </a:br>
            <a:r>
              <a:rPr lang="de-DE" sz="1100" dirty="0">
                <a:latin typeface="Segoe UI"/>
                <a:cs typeface="Segoe UI"/>
              </a:rPr>
              <a:t>Visual: CRM (</a:t>
            </a:r>
            <a:r>
              <a:rPr lang="de-DE" sz="1100" dirty="0" err="1">
                <a:latin typeface="Segoe UI"/>
                <a:cs typeface="Segoe UI"/>
              </a:rPr>
              <a:t>mensajes</a:t>
            </a:r>
            <a:r>
              <a:rPr lang="de-DE" sz="1100" dirty="0">
                <a:latin typeface="Segoe UI"/>
                <a:cs typeface="Segoe UI"/>
              </a:rPr>
              <a:t>) </a:t>
            </a:r>
            <a:r>
              <a:rPr lang="de-DE" sz="1100" dirty="0" err="1">
                <a:latin typeface="Segoe UI"/>
                <a:cs typeface="Segoe UI"/>
              </a:rPr>
              <a:t>vs</a:t>
            </a:r>
            <a:r>
              <a:rPr lang="de-DE" sz="1100" dirty="0">
                <a:latin typeface="Segoe UI"/>
                <a:cs typeface="Segoe UI"/>
              </a:rPr>
              <a:t> Loyalty (</a:t>
            </a:r>
            <a:r>
              <a:rPr lang="de-DE" sz="1100" dirty="0" err="1">
                <a:latin typeface="Segoe UI"/>
                <a:cs typeface="Segoe UI"/>
              </a:rPr>
              <a:t>comportamiento</a:t>
            </a:r>
            <a:r>
              <a:rPr lang="de-DE" sz="1100" dirty="0">
                <a:latin typeface="Segoe UI"/>
                <a:cs typeface="Segoe UI"/>
              </a:rPr>
              <a:t>)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endParaRPr lang="de-DE" sz="1100" dirty="0">
              <a:latin typeface="Segoe UI"/>
              <a:cs typeface="Segoe UI"/>
            </a:endParaRP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62796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B2DC17-458D-7257-EC87-9816004E9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3C24D5-E609-8B0F-2A1C-C09546F2E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Slide 3 — La </a:t>
            </a:r>
            <a:r>
              <a:rPr lang="de-DE" dirty="0" err="1"/>
              <a:t>propuesta</a:t>
            </a:r>
            <a:r>
              <a:rPr lang="de-DE" dirty="0"/>
              <a:t> (</a:t>
            </a:r>
            <a:r>
              <a:rPr lang="de-DE" dirty="0" err="1"/>
              <a:t>qué</a:t>
            </a:r>
            <a:r>
              <a:rPr lang="de-DE" dirty="0"/>
              <a:t> </a:t>
            </a:r>
            <a:r>
              <a:rPr lang="de-DE" dirty="0" err="1"/>
              <a:t>gana</a:t>
            </a:r>
            <a:r>
              <a:rPr lang="de-DE" dirty="0"/>
              <a:t> la </a:t>
            </a:r>
            <a:r>
              <a:rPr lang="de-DE" dirty="0" err="1"/>
              <a:t>agencia</a:t>
            </a:r>
            <a:r>
              <a:rPr lang="de-DE" dirty="0"/>
              <a:t>)</a:t>
            </a:r>
          </a:p>
          <a:p>
            <a:r>
              <a:rPr lang="de-DE" sz="1100" b="1" dirty="0" err="1">
                <a:latin typeface="Segoe UI"/>
                <a:cs typeface="Segoe UI"/>
              </a:rPr>
              <a:t>Título</a:t>
            </a:r>
            <a:r>
              <a:rPr lang="de-DE" sz="1100" b="1" dirty="0">
                <a:latin typeface="Segoe UI"/>
                <a:cs typeface="Segoe UI"/>
              </a:rPr>
              <a:t>: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i="1" dirty="0">
                <a:latin typeface="Segoe UI"/>
                <a:cs typeface="Segoe UI"/>
              </a:rPr>
              <a:t>Nuevo </a:t>
            </a:r>
            <a:r>
              <a:rPr lang="de-DE" sz="1100" i="1" dirty="0" err="1">
                <a:latin typeface="Segoe UI"/>
                <a:cs typeface="Segoe UI"/>
              </a:rPr>
              <a:t>negocio</a:t>
            </a: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recurrente</a:t>
            </a: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para</a:t>
            </a: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agencias</a:t>
            </a:r>
            <a:br>
              <a:rPr lang="de-DE" sz="1100" i="1" dirty="0">
                <a:latin typeface="Segoe UI"/>
                <a:cs typeface="Segoe UI"/>
              </a:rPr>
            </a:b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Mensaje</a:t>
            </a:r>
            <a:r>
              <a:rPr lang="de-DE" sz="1100" b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clave</a:t>
            </a:r>
            <a:r>
              <a:rPr lang="de-DE" sz="1100" b="1" dirty="0">
                <a:latin typeface="Segoe UI"/>
                <a:cs typeface="Segoe UI"/>
              </a:rPr>
              <a:t>:</a:t>
            </a:r>
            <a:r>
              <a:rPr lang="de-DE" sz="1100" dirty="0">
                <a:latin typeface="Segoe UI"/>
                <a:cs typeface="Segoe UI"/>
              </a:rPr>
              <a:t> Una </a:t>
            </a:r>
            <a:r>
              <a:rPr lang="de-DE" sz="1100" dirty="0" err="1">
                <a:latin typeface="Segoe UI"/>
                <a:cs typeface="Segoe UI"/>
              </a:rPr>
              <a:t>agencia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con</a:t>
            </a:r>
            <a:r>
              <a:rPr lang="de-DE" sz="1100" dirty="0">
                <a:latin typeface="Segoe UI"/>
                <a:cs typeface="Segoe UI"/>
              </a:rPr>
              <a:t> 5 </a:t>
            </a:r>
            <a:r>
              <a:rPr lang="de-DE" sz="1100" dirty="0" err="1">
                <a:latin typeface="Segoe UI"/>
                <a:cs typeface="Segoe UI"/>
              </a:rPr>
              <a:t>clientes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puede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asignar</a:t>
            </a:r>
            <a:r>
              <a:rPr lang="de-DE" sz="1100" dirty="0">
                <a:latin typeface="Segoe UI"/>
                <a:cs typeface="Segoe UI"/>
              </a:rPr>
              <a:t> 1–2 personas </a:t>
            </a:r>
            <a:r>
              <a:rPr lang="de-DE" sz="1100" dirty="0" err="1">
                <a:latin typeface="Segoe UI"/>
                <a:cs typeface="Segoe UI"/>
              </a:rPr>
              <a:t>por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cliente</a:t>
            </a:r>
            <a:r>
              <a:rPr lang="de-DE" sz="1100" dirty="0">
                <a:latin typeface="Segoe UI"/>
                <a:cs typeface="Segoe UI"/>
              </a:rPr>
              <a:t> si </a:t>
            </a:r>
            <a:r>
              <a:rPr lang="de-DE" sz="1100" dirty="0" err="1">
                <a:latin typeface="Segoe UI"/>
                <a:cs typeface="Segoe UI"/>
              </a:rPr>
              <a:t>opera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fidelización</a:t>
            </a:r>
            <a:r>
              <a:rPr lang="de-DE" sz="1100" dirty="0">
                <a:latin typeface="Segoe UI"/>
                <a:cs typeface="Segoe UI"/>
              </a:rPr>
              <a:t>. </a:t>
            </a:r>
            <a:br>
              <a:rPr lang="de-DE" sz="1100" dirty="0">
                <a:latin typeface="Segoe UI"/>
                <a:cs typeface="Segoe UI"/>
              </a:rPr>
            </a:br>
            <a:r>
              <a:rPr lang="de-DE" sz="1100" dirty="0" err="1">
                <a:latin typeface="Segoe UI"/>
                <a:cs typeface="Segoe UI"/>
              </a:rPr>
              <a:t>Bullets</a:t>
            </a:r>
            <a:r>
              <a:rPr lang="de-DE" sz="1100" dirty="0">
                <a:latin typeface="Segoe UI"/>
                <a:cs typeface="Segoe UI"/>
              </a:rPr>
              <a:t>: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endParaRPr lang="de-DE" dirty="0"/>
          </a:p>
          <a:p>
            <a:r>
              <a:rPr lang="de-DE" sz="1100" dirty="0">
                <a:latin typeface="Segoe UI"/>
                <a:cs typeface="Segoe UI"/>
              </a:rPr>
              <a:t>Servicios </a:t>
            </a:r>
            <a:r>
              <a:rPr lang="de-DE" sz="1100" dirty="0" err="1">
                <a:latin typeface="Segoe UI"/>
                <a:cs typeface="Segoe UI"/>
              </a:rPr>
              <a:t>recurrentes</a:t>
            </a:r>
            <a:r>
              <a:rPr lang="de-DE" sz="1100" dirty="0">
                <a:latin typeface="Segoe UI"/>
                <a:cs typeface="Segoe UI"/>
              </a:rPr>
              <a:t>: </a:t>
            </a:r>
            <a:r>
              <a:rPr lang="de-DE" sz="1100" dirty="0" err="1">
                <a:latin typeface="Segoe UI"/>
                <a:cs typeface="Segoe UI"/>
              </a:rPr>
              <a:t>operación</a:t>
            </a:r>
            <a:r>
              <a:rPr lang="de-DE" sz="1100" dirty="0">
                <a:latin typeface="Segoe UI"/>
                <a:cs typeface="Segoe UI"/>
              </a:rPr>
              <a:t> de </a:t>
            </a:r>
            <a:r>
              <a:rPr lang="de-DE" sz="1100" dirty="0" err="1">
                <a:latin typeface="Segoe UI"/>
                <a:cs typeface="Segoe UI"/>
              </a:rPr>
              <a:t>cupones</a:t>
            </a:r>
            <a:r>
              <a:rPr lang="de-DE" sz="1100" dirty="0">
                <a:latin typeface="Segoe UI"/>
                <a:cs typeface="Segoe UI"/>
              </a:rPr>
              <a:t>, </a:t>
            </a:r>
            <a:r>
              <a:rPr lang="de-DE" sz="1100" dirty="0" err="1">
                <a:latin typeface="Segoe UI"/>
                <a:cs typeface="Segoe UI"/>
              </a:rPr>
              <a:t>contenidos</a:t>
            </a:r>
            <a:r>
              <a:rPr lang="de-DE" sz="1100" dirty="0">
                <a:latin typeface="Segoe UI"/>
                <a:cs typeface="Segoe UI"/>
              </a:rPr>
              <a:t> (</a:t>
            </a:r>
            <a:r>
              <a:rPr lang="de-DE" sz="1100" dirty="0" err="1">
                <a:latin typeface="Segoe UI"/>
                <a:cs typeface="Segoe UI"/>
              </a:rPr>
              <a:t>cmapañas</a:t>
            </a:r>
            <a:r>
              <a:rPr lang="de-DE" sz="1100" dirty="0">
                <a:latin typeface="Segoe UI"/>
                <a:cs typeface="Segoe UI"/>
              </a:rPr>
              <a:t>). Y </a:t>
            </a:r>
            <a:r>
              <a:rPr lang="de-DE" sz="1100" dirty="0" err="1">
                <a:latin typeface="Segoe UI"/>
                <a:cs typeface="Segoe UI"/>
              </a:rPr>
              <a:t>newsfeed</a:t>
            </a:r>
            <a:r>
              <a:rPr lang="de-DE" sz="1100" dirty="0">
                <a:latin typeface="Segoe UI"/>
                <a:cs typeface="Segoe UI"/>
              </a:rPr>
              <a:t>, </a:t>
            </a:r>
            <a:r>
              <a:rPr lang="de-DE" sz="1100" dirty="0" err="1">
                <a:latin typeface="Segoe UI"/>
                <a:cs typeface="Segoe UI"/>
              </a:rPr>
              <a:t>journeys</a:t>
            </a:r>
            <a:r>
              <a:rPr lang="de-DE" sz="1100" dirty="0">
                <a:latin typeface="Segoe UI"/>
                <a:cs typeface="Segoe UI"/>
              </a:rPr>
              <a:t>, </a:t>
            </a:r>
            <a:r>
              <a:rPr lang="de-DE" sz="1100" dirty="0" err="1">
                <a:latin typeface="Segoe UI"/>
                <a:cs typeface="Segoe UI"/>
              </a:rPr>
              <a:t>optimización</a:t>
            </a:r>
            <a:r>
              <a:rPr lang="de-DE" sz="1100" dirty="0">
                <a:latin typeface="Segoe UI"/>
                <a:cs typeface="Segoe UI"/>
              </a:rPr>
              <a:t>.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Encajar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el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trabajo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con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Experiencias</a:t>
            </a:r>
            <a:r>
              <a:rPr lang="de-DE" sz="1100" dirty="0">
                <a:latin typeface="Segoe UI"/>
                <a:cs typeface="Segoe UI"/>
              </a:rPr>
              <a:t>.</a:t>
            </a:r>
          </a:p>
          <a:p>
            <a:r>
              <a:rPr lang="de-DE" sz="1100" dirty="0">
                <a:latin typeface="Segoe UI"/>
                <a:cs typeface="Segoe UI"/>
              </a:rPr>
              <a:t>La </a:t>
            </a:r>
            <a:r>
              <a:rPr lang="de-DE" sz="1100" dirty="0" err="1">
                <a:latin typeface="Segoe UI"/>
                <a:cs typeface="Segoe UI"/>
              </a:rPr>
              <a:t>agencia</a:t>
            </a:r>
            <a:r>
              <a:rPr lang="de-DE" sz="1100" dirty="0">
                <a:latin typeface="Segoe UI"/>
                <a:cs typeface="Segoe UI"/>
              </a:rPr>
              <a:t> “</a:t>
            </a:r>
            <a:r>
              <a:rPr lang="de-DE" sz="1100" dirty="0" err="1">
                <a:latin typeface="Segoe UI"/>
                <a:cs typeface="Segoe UI"/>
              </a:rPr>
              <a:t>quita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trabajo</a:t>
            </a:r>
            <a:r>
              <a:rPr lang="de-DE" sz="1100" dirty="0">
                <a:latin typeface="Segoe UI"/>
                <a:cs typeface="Segoe UI"/>
              </a:rPr>
              <a:t>” al </a:t>
            </a:r>
            <a:r>
              <a:rPr lang="de-DE" sz="1100" dirty="0" err="1">
                <a:latin typeface="Segoe UI"/>
                <a:cs typeface="Segoe UI"/>
              </a:rPr>
              <a:t>equipo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técnico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interno</a:t>
            </a:r>
            <a:r>
              <a:rPr lang="de-DE" sz="1100" dirty="0">
                <a:latin typeface="Segoe UI"/>
                <a:cs typeface="Segoe UI"/>
              </a:rPr>
              <a:t> y </a:t>
            </a:r>
            <a:r>
              <a:rPr lang="de-DE" sz="1100" dirty="0" err="1">
                <a:latin typeface="Segoe UI"/>
                <a:cs typeface="Segoe UI"/>
              </a:rPr>
              <a:t>crea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ecosistema</a:t>
            </a:r>
            <a:r>
              <a:rPr lang="de-DE" sz="1100" dirty="0">
                <a:latin typeface="Segoe UI"/>
                <a:cs typeface="Segoe UI"/>
              </a:rPr>
              <a:t>. </a:t>
            </a:r>
            <a:br>
              <a:rPr lang="de-DE" sz="1100" dirty="0">
                <a:latin typeface="Segoe UI"/>
                <a:cs typeface="Segoe UI"/>
              </a:rPr>
            </a:br>
            <a:r>
              <a:rPr lang="de-DE" sz="1100" dirty="0">
                <a:latin typeface="Segoe UI"/>
                <a:cs typeface="Segoe UI"/>
              </a:rPr>
              <a:t>Visual: “</a:t>
            </a:r>
            <a:r>
              <a:rPr lang="de-DE" sz="1100" dirty="0" err="1">
                <a:latin typeface="Segoe UI"/>
                <a:cs typeface="Segoe UI"/>
              </a:rPr>
              <a:t>Agencia</a:t>
            </a:r>
            <a:r>
              <a:rPr lang="de-DE" sz="1100" dirty="0">
                <a:latin typeface="Segoe UI"/>
                <a:cs typeface="Segoe UI"/>
              </a:rPr>
              <a:t> = </a:t>
            </a:r>
            <a:r>
              <a:rPr lang="de-DE" sz="1100" dirty="0" err="1">
                <a:latin typeface="Segoe UI"/>
                <a:cs typeface="Segoe UI"/>
              </a:rPr>
              <a:t>delivery</a:t>
            </a:r>
            <a:r>
              <a:rPr lang="de-DE" sz="1100" dirty="0">
                <a:latin typeface="Segoe UI"/>
                <a:cs typeface="Segoe UI"/>
              </a:rPr>
              <a:t> + </a:t>
            </a:r>
            <a:r>
              <a:rPr lang="de-DE" sz="1100" dirty="0" err="1">
                <a:latin typeface="Segoe UI"/>
                <a:cs typeface="Segoe UI"/>
              </a:rPr>
              <a:t>operación</a:t>
            </a:r>
            <a:r>
              <a:rPr lang="de-DE" sz="1100" dirty="0">
                <a:latin typeface="Segoe UI"/>
                <a:cs typeface="Segoe UI"/>
              </a:rPr>
              <a:t>” (</a:t>
            </a:r>
            <a:r>
              <a:rPr lang="de-DE" sz="1100" dirty="0" err="1">
                <a:latin typeface="Segoe UI"/>
                <a:cs typeface="Segoe UI"/>
              </a:rPr>
              <a:t>iconos</a:t>
            </a:r>
            <a:r>
              <a:rPr lang="de-DE" sz="1100" dirty="0">
                <a:latin typeface="Segoe UI"/>
                <a:cs typeface="Segoe UI"/>
              </a:rPr>
              <a:t>)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21594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675633-1686-DD5E-E702-525924D95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BD24C7-A5B5-8CCD-CA5B-E0B26AD90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Slide 4 — </a:t>
            </a:r>
            <a:r>
              <a:rPr lang="de-DE" dirty="0" err="1"/>
              <a:t>Convercus</a:t>
            </a:r>
            <a:r>
              <a:rPr lang="de-DE" dirty="0"/>
              <a:t> en </a:t>
            </a:r>
            <a:r>
              <a:rPr lang="de-DE" dirty="0" err="1"/>
              <a:t>una</a:t>
            </a:r>
            <a:r>
              <a:rPr lang="de-DE" dirty="0"/>
              <a:t> </a:t>
            </a:r>
            <a:r>
              <a:rPr lang="de-DE" dirty="0" err="1"/>
              <a:t>frase</a:t>
            </a:r>
            <a:r>
              <a:rPr lang="de-DE" dirty="0"/>
              <a:t> (</a:t>
            </a:r>
            <a:r>
              <a:rPr lang="de-DE" dirty="0" err="1"/>
              <a:t>posicionamiento</a:t>
            </a:r>
            <a:r>
              <a:rPr lang="de-DE" dirty="0"/>
              <a:t>)</a:t>
            </a:r>
          </a:p>
          <a:p>
            <a:r>
              <a:rPr lang="de-DE" sz="1100" b="1" dirty="0" err="1">
                <a:latin typeface="Segoe UI"/>
                <a:cs typeface="Segoe UI"/>
              </a:rPr>
              <a:t>Título</a:t>
            </a:r>
            <a:r>
              <a:rPr lang="de-DE" sz="1100" b="1" dirty="0">
                <a:latin typeface="Segoe UI"/>
                <a:cs typeface="Segoe UI"/>
              </a:rPr>
              <a:t>: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Convercus</a:t>
            </a:r>
            <a:r>
              <a:rPr lang="de-DE" sz="1100" i="1" dirty="0">
                <a:latin typeface="Segoe UI"/>
                <a:cs typeface="Segoe UI"/>
              </a:rPr>
              <a:t> = Loyalty &amp; Experience Toolkit </a:t>
            </a:r>
            <a:r>
              <a:rPr lang="de-DE" sz="1100" i="1" u="sng" dirty="0" err="1">
                <a:latin typeface="Segoe UI"/>
                <a:cs typeface="Segoe UI"/>
              </a:rPr>
              <a:t>para</a:t>
            </a:r>
            <a:r>
              <a:rPr lang="de-DE" sz="1100" i="1" u="sng" dirty="0">
                <a:latin typeface="Segoe UI"/>
                <a:cs typeface="Segoe UI"/>
              </a:rPr>
              <a:t> </a:t>
            </a:r>
            <a:r>
              <a:rPr lang="de-DE" sz="1100" i="1" u="sng" dirty="0" err="1">
                <a:latin typeface="Segoe UI"/>
                <a:cs typeface="Segoe UI"/>
              </a:rPr>
              <a:t>construir</a:t>
            </a:r>
            <a:r>
              <a:rPr lang="de-DE" sz="1100" i="1" u="sng" dirty="0">
                <a:latin typeface="Segoe UI"/>
                <a:cs typeface="Segoe UI"/>
              </a:rPr>
              <a:t> </a:t>
            </a:r>
            <a:r>
              <a:rPr lang="de-DE" sz="1100" i="1" u="sng" dirty="0" err="1">
                <a:latin typeface="Segoe UI"/>
                <a:cs typeface="Segoe UI"/>
              </a:rPr>
              <a:t>hábitos</a:t>
            </a:r>
            <a:r>
              <a:rPr lang="de-DE" sz="1100" i="1" u="sng" dirty="0">
                <a:latin typeface="Segoe UI"/>
                <a:cs typeface="Segoe UI"/>
              </a:rPr>
              <a:t> de </a:t>
            </a:r>
            <a:r>
              <a:rPr lang="de-DE" sz="1100" i="1" u="sng" dirty="0" err="1">
                <a:latin typeface="Segoe UI"/>
                <a:cs typeface="Segoe UI"/>
              </a:rPr>
              <a:t>relación</a:t>
            </a:r>
            <a:r>
              <a:rPr lang="de-DE" sz="1100" i="1" u="sng" dirty="0">
                <a:latin typeface="Segoe UI"/>
                <a:cs typeface="Segoe UI"/>
              </a:rPr>
              <a:t> </a:t>
            </a:r>
            <a:r>
              <a:rPr lang="de-DE" sz="1100" i="1" u="sng" dirty="0" err="1">
                <a:latin typeface="Segoe UI"/>
                <a:cs typeface="Segoe UI"/>
              </a:rPr>
              <a:t>y</a:t>
            </a:r>
            <a:r>
              <a:rPr lang="de-DE" sz="1100" i="1" u="sng" dirty="0">
                <a:latin typeface="Segoe UI"/>
                <a:cs typeface="Segoe UI"/>
              </a:rPr>
              <a:t> </a:t>
            </a:r>
            <a:r>
              <a:rPr lang="de-DE" sz="1100" i="1" u="sng" dirty="0" err="1">
                <a:latin typeface="Segoe UI"/>
                <a:cs typeface="Segoe UI"/>
              </a:rPr>
              <a:t>decisión</a:t>
            </a:r>
            <a:r>
              <a:rPr lang="de-DE" sz="1100" i="1" u="sng" dirty="0">
                <a:latin typeface="Segoe UI"/>
                <a:cs typeface="Segoe UI"/>
              </a:rPr>
              <a:t> </a:t>
            </a:r>
            <a:r>
              <a:rPr lang="de-DE" sz="1100" i="1" dirty="0">
                <a:latin typeface="Segoe UI"/>
                <a:cs typeface="Segoe UI"/>
              </a:rPr>
              <a:t>(</a:t>
            </a:r>
            <a:r>
              <a:rPr lang="de-DE" sz="1100" i="1" dirty="0" err="1">
                <a:latin typeface="Segoe UI"/>
                <a:cs typeface="Segoe UI"/>
              </a:rPr>
              <a:t>complementario</a:t>
            </a:r>
            <a:r>
              <a:rPr lang="de-DE" sz="1100" i="1" dirty="0">
                <a:latin typeface="Segoe UI"/>
                <a:cs typeface="Segoe UI"/>
              </a:rPr>
              <a:t> a CRM)</a:t>
            </a:r>
            <a:br>
              <a:rPr lang="de-DE" sz="1100" i="1" dirty="0">
                <a:latin typeface="Segoe UI"/>
                <a:cs typeface="Segoe UI"/>
              </a:rPr>
            </a:b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Mensaje</a:t>
            </a:r>
            <a:r>
              <a:rPr lang="de-DE" sz="1100" b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clave</a:t>
            </a:r>
            <a:r>
              <a:rPr lang="de-DE" sz="1100" b="1" dirty="0">
                <a:latin typeface="Segoe UI"/>
                <a:cs typeface="Segoe UI"/>
              </a:rPr>
              <a:t>: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No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sustituye</a:t>
            </a:r>
            <a:r>
              <a:rPr lang="de-DE" sz="1100" dirty="0">
                <a:latin typeface="Segoe UI"/>
                <a:cs typeface="Segoe UI"/>
              </a:rPr>
              <a:t> al CRM: se </a:t>
            </a:r>
            <a:r>
              <a:rPr lang="de-DE" sz="1100" dirty="0" err="1">
                <a:latin typeface="Segoe UI"/>
                <a:cs typeface="Segoe UI"/>
              </a:rPr>
              <a:t>integra</a:t>
            </a:r>
            <a:r>
              <a:rPr lang="de-DE" sz="1100" dirty="0">
                <a:latin typeface="Segoe UI"/>
                <a:cs typeface="Segoe UI"/>
              </a:rPr>
              <a:t> y </a:t>
            </a:r>
            <a:r>
              <a:rPr lang="de-DE" sz="1100" dirty="0" err="1">
                <a:latin typeface="Segoe UI"/>
                <a:cs typeface="Segoe UI"/>
              </a:rPr>
              <a:t>habilita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experiencias</a:t>
            </a:r>
            <a:r>
              <a:rPr lang="de-DE" sz="1100" dirty="0">
                <a:latin typeface="Segoe UI"/>
                <a:cs typeface="Segoe UI"/>
              </a:rPr>
              <a:t>, </a:t>
            </a:r>
            <a:r>
              <a:rPr lang="de-DE" sz="1100" dirty="0" err="1">
                <a:latin typeface="Segoe UI"/>
                <a:cs typeface="Segoe UI"/>
              </a:rPr>
              <a:t>segmentación</a:t>
            </a:r>
            <a:r>
              <a:rPr lang="de-DE" sz="1100" dirty="0">
                <a:latin typeface="Segoe UI"/>
                <a:cs typeface="Segoe UI"/>
              </a:rPr>
              <a:t> y </a:t>
            </a:r>
            <a:r>
              <a:rPr lang="de-DE" sz="1100" dirty="0" err="1">
                <a:latin typeface="Segoe UI"/>
                <a:cs typeface="Segoe UI"/>
              </a:rPr>
              <a:t>recompensas</a:t>
            </a:r>
            <a:r>
              <a:rPr lang="de-DE" sz="1100" dirty="0">
                <a:latin typeface="Segoe UI"/>
                <a:cs typeface="Segoe UI"/>
              </a:rPr>
              <a:t>. </a:t>
            </a:r>
            <a:br>
              <a:rPr lang="de-DE" sz="1100" dirty="0">
                <a:latin typeface="Segoe UI"/>
                <a:cs typeface="Segoe UI"/>
              </a:rPr>
            </a:br>
            <a:r>
              <a:rPr lang="de-DE" sz="1100" dirty="0" err="1">
                <a:latin typeface="Segoe UI"/>
                <a:cs typeface="Segoe UI"/>
              </a:rPr>
              <a:t>Bullets</a:t>
            </a:r>
            <a:r>
              <a:rPr lang="de-DE" sz="1100" dirty="0">
                <a:latin typeface="Segoe UI"/>
                <a:cs typeface="Segoe UI"/>
              </a:rPr>
              <a:t>: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endParaRPr lang="de-DE" dirty="0"/>
          </a:p>
          <a:p>
            <a:r>
              <a:rPr lang="de-DE" sz="1100" dirty="0" err="1">
                <a:latin typeface="Segoe UI"/>
                <a:cs typeface="Segoe UI"/>
              </a:rPr>
              <a:t>Puede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vivir</a:t>
            </a:r>
            <a:r>
              <a:rPr lang="de-DE" sz="1100" dirty="0">
                <a:latin typeface="Segoe UI"/>
                <a:cs typeface="Segoe UI"/>
              </a:rPr>
              <a:t> en </a:t>
            </a:r>
            <a:r>
              <a:rPr lang="de-DE" sz="1100" b="1" dirty="0" err="1">
                <a:latin typeface="Segoe UI"/>
                <a:cs typeface="Segoe UI"/>
              </a:rPr>
              <a:t>app</a:t>
            </a:r>
            <a:r>
              <a:rPr lang="de-DE" sz="1100" dirty="0">
                <a:latin typeface="Segoe UI"/>
                <a:cs typeface="Segoe UI"/>
              </a:rPr>
              <a:t> o </a:t>
            </a:r>
            <a:r>
              <a:rPr lang="de-DE" sz="1100" b="1" dirty="0">
                <a:latin typeface="Segoe UI"/>
                <a:cs typeface="Segoe UI"/>
              </a:rPr>
              <a:t>web </a:t>
            </a:r>
            <a:r>
              <a:rPr lang="de-DE" sz="1100" b="1" dirty="0" err="1">
                <a:latin typeface="Segoe UI"/>
                <a:cs typeface="Segoe UI"/>
              </a:rPr>
              <a:t>embebida</a:t>
            </a:r>
            <a:r>
              <a:rPr lang="de-DE" sz="1100" dirty="0">
                <a:latin typeface="Segoe UI"/>
                <a:cs typeface="Segoe UI"/>
              </a:rPr>
              <a:t>; </a:t>
            </a:r>
            <a:r>
              <a:rPr lang="de-DE" sz="1100" dirty="0" err="1">
                <a:latin typeface="Segoe UI"/>
                <a:cs typeface="Segoe UI"/>
              </a:rPr>
              <a:t>el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contenedor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no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limita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el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caso</a:t>
            </a:r>
            <a:r>
              <a:rPr lang="de-DE" sz="1100" dirty="0">
                <a:latin typeface="Segoe UI"/>
                <a:cs typeface="Segoe UI"/>
              </a:rPr>
              <a:t>.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endParaRPr lang="de-DE" dirty="0"/>
          </a:p>
          <a:p>
            <a:r>
              <a:rPr lang="de-DE" sz="1100" dirty="0" err="1">
                <a:latin typeface="Segoe UI"/>
                <a:cs typeface="Segoe UI"/>
              </a:rPr>
              <a:t>Mensajes</a:t>
            </a:r>
            <a:r>
              <a:rPr lang="de-DE" sz="1100" dirty="0">
                <a:latin typeface="Segoe UI"/>
                <a:cs typeface="Segoe UI"/>
              </a:rPr>
              <a:t>/push </a:t>
            </a:r>
            <a:r>
              <a:rPr lang="de-DE" sz="1100" dirty="0" err="1">
                <a:latin typeface="Segoe UI"/>
                <a:cs typeface="Segoe UI"/>
              </a:rPr>
              <a:t>pueden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acompañar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contenidos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publicados</a:t>
            </a:r>
            <a:r>
              <a:rPr lang="de-DE" sz="1100" dirty="0">
                <a:latin typeface="Segoe UI"/>
                <a:cs typeface="Segoe UI"/>
              </a:rPr>
              <a:t>. </a:t>
            </a:r>
            <a:br>
              <a:rPr lang="de-DE" sz="1100" dirty="0">
                <a:latin typeface="Segoe UI"/>
                <a:cs typeface="Segoe UI"/>
              </a:rPr>
            </a:br>
            <a:r>
              <a:rPr lang="de-DE" sz="1100" dirty="0">
                <a:latin typeface="Segoe UI"/>
                <a:cs typeface="Segoe UI"/>
              </a:rPr>
              <a:t>Visual: Stack simple: CRM/MA + </a:t>
            </a:r>
            <a:r>
              <a:rPr lang="de-DE" sz="1100" dirty="0" err="1">
                <a:latin typeface="Segoe UI"/>
                <a:cs typeface="Segoe UI"/>
              </a:rPr>
              <a:t>Convercus</a:t>
            </a:r>
            <a:r>
              <a:rPr lang="de-DE" sz="1100" dirty="0">
                <a:latin typeface="Segoe UI"/>
                <a:cs typeface="Segoe UI"/>
              </a:rPr>
              <a:t> (</a:t>
            </a:r>
            <a:r>
              <a:rPr lang="de-DE" sz="1100" dirty="0" err="1">
                <a:latin typeface="Segoe UI"/>
                <a:cs typeface="Segoe UI"/>
              </a:rPr>
              <a:t>fidelización</a:t>
            </a:r>
            <a:r>
              <a:rPr lang="de-DE" sz="1100" dirty="0">
                <a:latin typeface="Segoe UI"/>
                <a:cs typeface="Segoe UI"/>
              </a:rPr>
              <a:t>)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2146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03068-DAF9-74BB-44E9-9DD1FB6D9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9E1B95-CC25-CD64-EAE3-719863CC06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Parte 2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AF38AD7-4322-791F-DCD4-DDDB6FA6D8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sz="1100" dirty="0" err="1">
                <a:latin typeface="Segoe UI"/>
                <a:cs typeface="Segoe UI"/>
              </a:rPr>
              <a:t>Vender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con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ejemplos</a:t>
            </a:r>
            <a:endParaRPr lang="de-DE" dirty="0" err="1"/>
          </a:p>
        </p:txBody>
      </p:sp>
    </p:spTree>
    <p:extLst>
      <p:ext uri="{BB962C8B-B14F-4D97-AF65-F5344CB8AC3E}">
        <p14:creationId xmlns:p14="http://schemas.microsoft.com/office/powerpoint/2010/main" val="2460884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9D2E19-4704-EE74-56EC-D01F73D50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4C27AE-FE13-BDA7-0FDF-63F9AD8E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Slide 5 — </a:t>
            </a:r>
            <a:r>
              <a:rPr lang="de-DE" dirty="0" err="1"/>
              <a:t>Canales</a:t>
            </a:r>
            <a:r>
              <a:rPr lang="de-DE" dirty="0"/>
              <a:t>: </a:t>
            </a:r>
            <a:r>
              <a:rPr lang="de-DE" dirty="0" err="1"/>
              <a:t>dónde</a:t>
            </a:r>
            <a:r>
              <a:rPr lang="de-DE" dirty="0"/>
              <a:t> vive la </a:t>
            </a:r>
            <a:r>
              <a:rPr lang="de-DE" dirty="0" err="1"/>
              <a:t>experiencia</a:t>
            </a:r>
          </a:p>
          <a:p>
            <a:r>
              <a:rPr lang="de-DE" sz="1100" b="1" dirty="0" err="1">
                <a:latin typeface="Segoe UI"/>
                <a:cs typeface="Segoe UI"/>
              </a:rPr>
              <a:t>Título</a:t>
            </a:r>
            <a:r>
              <a:rPr lang="de-DE" sz="1100" b="1" dirty="0">
                <a:latin typeface="Segoe UI"/>
                <a:cs typeface="Segoe UI"/>
              </a:rPr>
              <a:t>: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Canales</a:t>
            </a: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donde</a:t>
            </a: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Convercus</a:t>
            </a: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opera</a:t>
            </a:r>
            <a:br>
              <a:rPr lang="de-DE" sz="1100" i="1" dirty="0">
                <a:latin typeface="Segoe UI"/>
                <a:cs typeface="Segoe UI"/>
              </a:rPr>
            </a:b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Bullets</a:t>
            </a:r>
            <a:r>
              <a:rPr lang="de-DE" sz="1100" b="1" dirty="0">
                <a:latin typeface="Segoe UI"/>
                <a:cs typeface="Segoe UI"/>
              </a:rPr>
              <a:t> (solo </a:t>
            </a:r>
            <a:r>
              <a:rPr lang="de-DE" sz="1100" b="1" dirty="0" err="1">
                <a:latin typeface="Segoe UI"/>
                <a:cs typeface="Segoe UI"/>
              </a:rPr>
              <a:t>lo</a:t>
            </a:r>
            <a:r>
              <a:rPr lang="de-DE" sz="1100" b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esencial</a:t>
            </a:r>
            <a:r>
              <a:rPr lang="de-DE" sz="1100" b="1" dirty="0">
                <a:latin typeface="Segoe UI"/>
                <a:cs typeface="Segoe UI"/>
              </a:rPr>
              <a:t>):</a:t>
            </a:r>
            <a:endParaRPr lang="de-DE" dirty="0"/>
          </a:p>
          <a:p>
            <a:r>
              <a:rPr lang="de-DE" sz="1100" b="1" dirty="0">
                <a:latin typeface="Segoe UI"/>
                <a:cs typeface="Segoe UI"/>
              </a:rPr>
              <a:t>App</a:t>
            </a:r>
            <a:r>
              <a:rPr lang="de-DE" sz="1100" dirty="0">
                <a:latin typeface="Segoe UI"/>
                <a:cs typeface="Segoe UI"/>
              </a:rPr>
              <a:t> (</a:t>
            </a:r>
            <a:r>
              <a:rPr lang="de-DE" sz="1100" dirty="0" err="1">
                <a:latin typeface="Segoe UI"/>
                <a:cs typeface="Segoe UI"/>
              </a:rPr>
              <a:t>ej</a:t>
            </a:r>
            <a:r>
              <a:rPr lang="de-DE" sz="1100" dirty="0">
                <a:latin typeface="Segoe UI"/>
                <a:cs typeface="Segoe UI"/>
              </a:rPr>
              <a:t>. </a:t>
            </a:r>
            <a:r>
              <a:rPr lang="de-DE" sz="1100" dirty="0" err="1">
                <a:latin typeface="Segoe UI"/>
                <a:cs typeface="Segoe UI"/>
              </a:rPr>
              <a:t>casos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mostrados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tipo</a:t>
            </a:r>
            <a:r>
              <a:rPr lang="de-DE" sz="1100" dirty="0">
                <a:latin typeface="Segoe UI"/>
                <a:cs typeface="Segoe UI"/>
              </a:rPr>
              <a:t> Dallmayr / OCM)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r>
              <a:rPr lang="de-DE" sz="1100" b="1" dirty="0">
                <a:latin typeface="Segoe UI"/>
                <a:cs typeface="Segoe UI"/>
              </a:rPr>
              <a:t>Web</a:t>
            </a:r>
            <a:r>
              <a:rPr lang="de-DE" sz="1100" dirty="0">
                <a:latin typeface="Segoe UI"/>
                <a:cs typeface="Segoe UI"/>
              </a:rPr>
              <a:t> (</a:t>
            </a:r>
            <a:r>
              <a:rPr lang="de-DE" sz="1100" dirty="0" err="1">
                <a:latin typeface="Segoe UI"/>
                <a:cs typeface="Segoe UI"/>
              </a:rPr>
              <a:t>incrustado</a:t>
            </a:r>
            <a:r>
              <a:rPr lang="de-DE" sz="1100" dirty="0">
                <a:latin typeface="Segoe UI"/>
                <a:cs typeface="Segoe UI"/>
              </a:rPr>
              <a:t> en la web del </a:t>
            </a:r>
            <a:r>
              <a:rPr lang="de-DE" sz="1100" dirty="0" err="1">
                <a:latin typeface="Segoe UI"/>
                <a:cs typeface="Segoe UI"/>
              </a:rPr>
              <a:t>cliente</a:t>
            </a:r>
            <a:r>
              <a:rPr lang="de-DE" sz="1100" dirty="0">
                <a:latin typeface="Segoe UI"/>
                <a:cs typeface="Segoe UI"/>
              </a:rPr>
              <a:t>)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r>
              <a:rPr lang="de-DE" sz="1100" b="1" dirty="0">
                <a:latin typeface="Segoe UI"/>
                <a:cs typeface="Segoe UI"/>
              </a:rPr>
              <a:t>Push</a:t>
            </a:r>
            <a:r>
              <a:rPr lang="de-DE" sz="1100" dirty="0">
                <a:latin typeface="Segoe UI"/>
                <a:cs typeface="Segoe UI"/>
              </a:rPr>
              <a:t> (publico </a:t>
            </a:r>
            <a:r>
              <a:rPr lang="de-DE" sz="1100" dirty="0" err="1">
                <a:latin typeface="Segoe UI"/>
                <a:cs typeface="Segoe UI"/>
              </a:rPr>
              <a:t>contenido</a:t>
            </a:r>
            <a:r>
              <a:rPr lang="de-DE" sz="1100" dirty="0">
                <a:latin typeface="Segoe UI"/>
                <a:cs typeface="Segoe UI"/>
              </a:rPr>
              <a:t> y </a:t>
            </a:r>
            <a:r>
              <a:rPr lang="de-DE" sz="1100" dirty="0" err="1">
                <a:latin typeface="Segoe UI"/>
                <a:cs typeface="Segoe UI"/>
              </a:rPr>
              <a:t>opcionalmente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envío</a:t>
            </a:r>
            <a:r>
              <a:rPr lang="de-DE" sz="1100" dirty="0">
                <a:latin typeface="Segoe UI"/>
                <a:cs typeface="Segoe UI"/>
              </a:rPr>
              <a:t> push)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r>
              <a:rPr lang="de-DE" sz="1100" b="1" dirty="0">
                <a:latin typeface="Segoe UI"/>
                <a:cs typeface="Segoe UI"/>
              </a:rPr>
              <a:t>QR / </a:t>
            </a:r>
            <a:r>
              <a:rPr lang="de-DE" sz="1100" b="1" dirty="0" err="1">
                <a:latin typeface="Segoe UI"/>
                <a:cs typeface="Segoe UI"/>
              </a:rPr>
              <a:t>Tarjetas</a:t>
            </a:r>
            <a:r>
              <a:rPr lang="de-DE" sz="1100" b="1" dirty="0">
                <a:latin typeface="Segoe UI"/>
                <a:cs typeface="Segoe UI"/>
              </a:rPr>
              <a:t> / </a:t>
            </a:r>
            <a:r>
              <a:rPr lang="de-DE" sz="1100" b="1" dirty="0" err="1">
                <a:latin typeface="Segoe UI"/>
                <a:cs typeface="Segoe UI"/>
              </a:rPr>
              <a:t>códigos</a:t>
            </a:r>
            <a:r>
              <a:rPr lang="de-DE" sz="1100" dirty="0">
                <a:latin typeface="Segoe UI"/>
                <a:cs typeface="Segoe UI"/>
              </a:rPr>
              <a:t> (</a:t>
            </a:r>
            <a:r>
              <a:rPr lang="de-DE" sz="1100" dirty="0" err="1">
                <a:latin typeface="Segoe UI"/>
                <a:cs typeface="Segoe UI"/>
              </a:rPr>
              <a:t>identificación</a:t>
            </a:r>
            <a:r>
              <a:rPr lang="de-DE" sz="1100" dirty="0">
                <a:latin typeface="Segoe UI"/>
                <a:cs typeface="Segoe UI"/>
              </a:rPr>
              <a:t> y </a:t>
            </a:r>
            <a:r>
              <a:rPr lang="de-DE" sz="1100" dirty="0" err="1">
                <a:latin typeface="Segoe UI"/>
                <a:cs typeface="Segoe UI"/>
              </a:rPr>
              <a:t>activación</a:t>
            </a:r>
            <a:r>
              <a:rPr lang="de-DE" sz="1100" dirty="0">
                <a:latin typeface="Segoe UI"/>
                <a:cs typeface="Segoe UI"/>
              </a:rPr>
              <a:t> de </a:t>
            </a:r>
            <a:r>
              <a:rPr lang="de-DE" sz="1100" dirty="0" err="1">
                <a:latin typeface="Segoe UI"/>
                <a:cs typeface="Segoe UI"/>
              </a:rPr>
              <a:t>cuentas</a:t>
            </a:r>
            <a:r>
              <a:rPr lang="de-DE" sz="1100" dirty="0">
                <a:latin typeface="Segoe UI"/>
                <a:cs typeface="Segoe UI"/>
              </a:rPr>
              <a:t>)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r>
              <a:rPr lang="de-DE" sz="1100" b="1" dirty="0" err="1">
                <a:latin typeface="Segoe UI"/>
                <a:cs typeface="Segoe UI"/>
              </a:rPr>
              <a:t>Mapas</a:t>
            </a:r>
            <a:r>
              <a:rPr lang="de-DE" sz="1100" b="1" dirty="0">
                <a:latin typeface="Segoe UI"/>
                <a:cs typeface="Segoe UI"/>
              </a:rPr>
              <a:t> / </a:t>
            </a:r>
            <a:r>
              <a:rPr lang="de-DE" sz="1100" b="1" dirty="0" err="1">
                <a:latin typeface="Segoe UI"/>
                <a:cs typeface="Segoe UI"/>
              </a:rPr>
              <a:t>ubicaciones</a:t>
            </a:r>
            <a:r>
              <a:rPr lang="de-DE" sz="1100" b="1" dirty="0">
                <a:latin typeface="Segoe UI"/>
                <a:cs typeface="Segoe UI"/>
              </a:rPr>
              <a:t> (Google Maps </a:t>
            </a:r>
            <a:r>
              <a:rPr lang="de-DE" sz="1100" b="1" dirty="0" err="1">
                <a:latin typeface="Segoe UI"/>
                <a:cs typeface="Segoe UI"/>
              </a:rPr>
              <a:t>integration</a:t>
            </a:r>
            <a:r>
              <a:rPr lang="de-DE" sz="1100" b="1" dirty="0">
                <a:latin typeface="Segoe UI"/>
                <a:cs typeface="Segoe UI"/>
              </a:rPr>
              <a:t>)</a:t>
            </a:r>
            <a:r>
              <a:rPr lang="de-DE" sz="1100" dirty="0">
                <a:latin typeface="Segoe UI"/>
                <a:cs typeface="Segoe UI"/>
              </a:rPr>
              <a:t> </a:t>
            </a:r>
            <a:br>
              <a:rPr lang="de-DE" sz="1100" dirty="0">
                <a:latin typeface="Segoe UI"/>
                <a:cs typeface="Segoe UI"/>
              </a:rPr>
            </a:br>
            <a:r>
              <a:rPr lang="de-DE" sz="1100" dirty="0">
                <a:latin typeface="Segoe UI"/>
                <a:cs typeface="Segoe UI"/>
              </a:rPr>
              <a:t>Visual: </a:t>
            </a:r>
            <a:r>
              <a:rPr lang="de-DE" sz="1100" dirty="0" err="1">
                <a:latin typeface="Segoe UI"/>
                <a:cs typeface="Segoe UI"/>
              </a:rPr>
              <a:t>Mapa</a:t>
            </a:r>
            <a:r>
              <a:rPr lang="de-DE" sz="1100" dirty="0">
                <a:latin typeface="Segoe UI"/>
                <a:cs typeface="Segoe UI"/>
              </a:rPr>
              <a:t> de </a:t>
            </a:r>
            <a:r>
              <a:rPr lang="de-DE" sz="1100" dirty="0" err="1">
                <a:latin typeface="Segoe UI"/>
                <a:cs typeface="Segoe UI"/>
              </a:rPr>
              <a:t>canales</a:t>
            </a:r>
            <a:r>
              <a:rPr lang="de-DE" sz="1100" dirty="0">
                <a:latin typeface="Segoe UI"/>
                <a:cs typeface="Segoe UI"/>
              </a:rPr>
              <a:t> (</a:t>
            </a:r>
            <a:r>
              <a:rPr lang="de-DE" sz="1100" dirty="0" err="1">
                <a:latin typeface="Segoe UI"/>
                <a:cs typeface="Segoe UI"/>
              </a:rPr>
              <a:t>iconos</a:t>
            </a:r>
            <a:r>
              <a:rPr lang="de-DE" sz="1100" dirty="0">
                <a:latin typeface="Segoe UI"/>
                <a:cs typeface="Segoe UI"/>
              </a:rPr>
              <a:t>)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2506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90CA79-AF1D-5109-21EC-F3D233776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2F43F0-8E96-CD10-93FC-E1CB4519C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Slide 6 — </a:t>
            </a:r>
            <a:r>
              <a:rPr lang="de-DE" dirty="0" err="1"/>
              <a:t>Caso</a:t>
            </a:r>
            <a:r>
              <a:rPr lang="de-DE" dirty="0"/>
              <a:t> </a:t>
            </a:r>
            <a:r>
              <a:rPr lang="de-DE" dirty="0" err="1"/>
              <a:t>ancla</a:t>
            </a:r>
            <a:r>
              <a:rPr lang="de-DE" dirty="0"/>
              <a:t>: Transporte </a:t>
            </a:r>
            <a:r>
              <a:rPr lang="de-DE" dirty="0" err="1"/>
              <a:t>público</a:t>
            </a:r>
            <a:r>
              <a:rPr lang="de-DE" dirty="0"/>
              <a:t> (TITSA)</a:t>
            </a:r>
          </a:p>
          <a:p>
            <a:r>
              <a:rPr lang="de-DE" sz="1100" b="1" dirty="0" err="1">
                <a:latin typeface="Segoe UI"/>
                <a:cs typeface="Segoe UI"/>
              </a:rPr>
              <a:t>Título</a:t>
            </a:r>
            <a:r>
              <a:rPr lang="de-DE" sz="1100" b="1" dirty="0">
                <a:latin typeface="Segoe UI"/>
                <a:cs typeface="Segoe UI"/>
              </a:rPr>
              <a:t>: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i="1" dirty="0">
                <a:latin typeface="Segoe UI"/>
                <a:cs typeface="Segoe UI"/>
              </a:rPr>
              <a:t>Transporte (TITSA): del </a:t>
            </a:r>
            <a:r>
              <a:rPr lang="de-DE" sz="1100" i="1" dirty="0" err="1">
                <a:latin typeface="Segoe UI"/>
                <a:cs typeface="Segoe UI"/>
              </a:rPr>
              <a:t>billete</a:t>
            </a:r>
            <a:r>
              <a:rPr lang="de-DE" sz="1100" i="1" dirty="0">
                <a:latin typeface="Segoe UI"/>
                <a:cs typeface="Segoe UI"/>
              </a:rPr>
              <a:t> a la </a:t>
            </a:r>
            <a:r>
              <a:rPr lang="de-DE" sz="1100" i="1" dirty="0" err="1">
                <a:latin typeface="Segoe UI"/>
                <a:cs typeface="Segoe UI"/>
              </a:rPr>
              <a:t>experiencia</a:t>
            </a:r>
            <a:br>
              <a:rPr lang="de-DE" sz="1100" i="1" dirty="0">
                <a:latin typeface="Segoe UI"/>
                <a:cs typeface="Segoe UI"/>
              </a:rPr>
            </a:b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Mensaje</a:t>
            </a:r>
            <a:r>
              <a:rPr lang="de-DE" sz="1100" b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clave</a:t>
            </a:r>
            <a:r>
              <a:rPr lang="de-DE" sz="1100" b="1" dirty="0">
                <a:latin typeface="Segoe UI"/>
                <a:cs typeface="Segoe UI"/>
              </a:rPr>
              <a:t>: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No</a:t>
            </a:r>
            <a:r>
              <a:rPr lang="de-DE" sz="1100" dirty="0">
                <a:latin typeface="Segoe UI"/>
                <a:cs typeface="Segoe UI"/>
              </a:rPr>
              <a:t> es “solo </a:t>
            </a:r>
            <a:r>
              <a:rPr lang="de-DE" sz="1100" dirty="0" err="1">
                <a:latin typeface="Segoe UI"/>
                <a:cs typeface="Segoe UI"/>
              </a:rPr>
              <a:t>subir</a:t>
            </a:r>
            <a:r>
              <a:rPr lang="de-DE" sz="1100" dirty="0">
                <a:latin typeface="Segoe UI"/>
                <a:cs typeface="Segoe UI"/>
              </a:rPr>
              <a:t> al </a:t>
            </a:r>
            <a:r>
              <a:rPr lang="de-DE" sz="1100" dirty="0" err="1">
                <a:latin typeface="Segoe UI"/>
                <a:cs typeface="Segoe UI"/>
              </a:rPr>
              <a:t>bus</a:t>
            </a:r>
            <a:r>
              <a:rPr lang="de-DE" sz="1100" dirty="0">
                <a:latin typeface="Segoe UI"/>
                <a:cs typeface="Segoe UI"/>
              </a:rPr>
              <a:t>”; se </a:t>
            </a:r>
            <a:r>
              <a:rPr lang="de-DE" sz="1100" dirty="0" err="1">
                <a:latin typeface="Segoe UI"/>
                <a:cs typeface="Segoe UI"/>
              </a:rPr>
              <a:t>crean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dinámicas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con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partners</a:t>
            </a:r>
            <a:r>
              <a:rPr lang="de-DE" sz="1100" dirty="0">
                <a:latin typeface="Segoe UI"/>
                <a:cs typeface="Segoe UI"/>
              </a:rPr>
              <a:t> (</a:t>
            </a:r>
            <a:r>
              <a:rPr lang="de-DE" sz="1100" dirty="0" err="1">
                <a:latin typeface="Segoe UI"/>
                <a:cs typeface="Segoe UI"/>
              </a:rPr>
              <a:t>cultura</a:t>
            </a:r>
            <a:r>
              <a:rPr lang="de-DE" sz="1100" dirty="0">
                <a:latin typeface="Segoe UI"/>
                <a:cs typeface="Segoe UI"/>
              </a:rPr>
              <a:t>/</a:t>
            </a:r>
            <a:r>
              <a:rPr lang="de-DE" sz="1100" dirty="0" err="1">
                <a:latin typeface="Segoe UI"/>
                <a:cs typeface="Segoe UI"/>
              </a:rPr>
              <a:t>teatros</a:t>
            </a:r>
            <a:r>
              <a:rPr lang="de-DE" sz="1100" dirty="0">
                <a:latin typeface="Segoe UI"/>
                <a:cs typeface="Segoe UI"/>
              </a:rPr>
              <a:t>) y </a:t>
            </a:r>
            <a:r>
              <a:rPr lang="de-DE" sz="1100" dirty="0" err="1">
                <a:latin typeface="Segoe UI"/>
                <a:cs typeface="Segoe UI"/>
              </a:rPr>
              <a:t>objetivos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como</a:t>
            </a:r>
            <a:r>
              <a:rPr lang="de-DE" sz="1100" dirty="0">
                <a:latin typeface="Segoe UI"/>
                <a:cs typeface="Segoe UI"/>
              </a:rPr>
              <a:t> CO₂/</a:t>
            </a:r>
            <a:r>
              <a:rPr lang="de-DE" sz="1100" dirty="0" err="1">
                <a:latin typeface="Segoe UI"/>
                <a:cs typeface="Segoe UI"/>
              </a:rPr>
              <a:t>recorridos</a:t>
            </a:r>
            <a:r>
              <a:rPr lang="de-DE" sz="1100" dirty="0">
                <a:latin typeface="Segoe UI"/>
                <a:cs typeface="Segoe UI"/>
              </a:rPr>
              <a:t>. </a:t>
            </a:r>
            <a:br>
              <a:rPr lang="de-DE" sz="1100" dirty="0">
                <a:latin typeface="Segoe UI"/>
                <a:cs typeface="Segoe UI"/>
              </a:rPr>
            </a:br>
            <a:r>
              <a:rPr lang="de-DE" sz="1100" dirty="0" err="1">
                <a:latin typeface="Segoe UI"/>
                <a:cs typeface="Segoe UI"/>
              </a:rPr>
              <a:t>Bullets</a:t>
            </a:r>
            <a:r>
              <a:rPr lang="de-DE" sz="1100" dirty="0">
                <a:latin typeface="Segoe UI"/>
                <a:cs typeface="Segoe UI"/>
              </a:rPr>
              <a:t>: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r>
              <a:rPr lang="de-DE" sz="1100" dirty="0" err="1">
                <a:latin typeface="Segoe UI"/>
                <a:cs typeface="Segoe UI"/>
              </a:rPr>
              <a:t>Puntos</a:t>
            </a:r>
            <a:r>
              <a:rPr lang="de-DE" sz="1100" dirty="0">
                <a:latin typeface="Segoe UI"/>
                <a:cs typeface="Segoe UI"/>
              </a:rPr>
              <a:t> = km / </a:t>
            </a:r>
            <a:r>
              <a:rPr lang="de-DE" sz="1100" dirty="0" err="1">
                <a:latin typeface="Segoe UI"/>
                <a:cs typeface="Segoe UI"/>
              </a:rPr>
              <a:t>viajes</a:t>
            </a:r>
            <a:r>
              <a:rPr lang="de-DE" sz="1100" dirty="0">
                <a:latin typeface="Segoe UI"/>
                <a:cs typeface="Segoe UI"/>
              </a:rPr>
              <a:t> / CO₂ </a:t>
            </a:r>
            <a:r>
              <a:rPr lang="de-DE" sz="1100" dirty="0" err="1">
                <a:latin typeface="Segoe UI"/>
                <a:cs typeface="Segoe UI"/>
              </a:rPr>
              <a:t>evitado</a:t>
            </a:r>
            <a:r>
              <a:rPr lang="de-DE" sz="1100" dirty="0">
                <a:latin typeface="Segoe UI"/>
                <a:cs typeface="Segoe UI"/>
              </a:rPr>
              <a:t> (</a:t>
            </a:r>
            <a:r>
              <a:rPr lang="de-DE" sz="1100" dirty="0" err="1">
                <a:latin typeface="Segoe UI"/>
                <a:cs typeface="Segoe UI"/>
              </a:rPr>
              <a:t>métrica</a:t>
            </a:r>
            <a:r>
              <a:rPr lang="de-DE" sz="1100" dirty="0">
                <a:latin typeface="Segoe UI"/>
                <a:cs typeface="Segoe UI"/>
              </a:rPr>
              <a:t> flexible)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r>
              <a:rPr lang="de-DE" sz="1100" dirty="0">
                <a:latin typeface="Segoe UI"/>
                <a:cs typeface="Segoe UI"/>
              </a:rPr>
              <a:t>Cross-</a:t>
            </a:r>
            <a:r>
              <a:rPr lang="de-DE" sz="1100" dirty="0" err="1">
                <a:latin typeface="Segoe UI"/>
                <a:cs typeface="Segoe UI"/>
              </a:rPr>
              <a:t>promos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con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partners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locales</a:t>
            </a:r>
            <a:r>
              <a:rPr lang="de-DE" sz="1100" dirty="0">
                <a:latin typeface="Segoe UI"/>
                <a:cs typeface="Segoe UI"/>
              </a:rPr>
              <a:t> (</a:t>
            </a:r>
            <a:r>
              <a:rPr lang="de-DE" sz="1100" dirty="0" err="1">
                <a:latin typeface="Segoe UI"/>
                <a:cs typeface="Segoe UI"/>
              </a:rPr>
              <a:t>cultura</a:t>
            </a:r>
            <a:r>
              <a:rPr lang="de-DE" sz="1100" dirty="0">
                <a:latin typeface="Segoe UI"/>
                <a:cs typeface="Segoe UI"/>
              </a:rPr>
              <a:t>)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r>
              <a:rPr lang="de-DE" sz="1100" dirty="0" err="1">
                <a:latin typeface="Segoe UI"/>
                <a:cs typeface="Segoe UI"/>
              </a:rPr>
              <a:t>Potencial</a:t>
            </a:r>
            <a:r>
              <a:rPr lang="de-DE" sz="1100" dirty="0">
                <a:latin typeface="Segoe UI"/>
                <a:cs typeface="Segoe UI"/>
              </a:rPr>
              <a:t> de real time: </a:t>
            </a:r>
            <a:r>
              <a:rPr lang="de-DE" sz="1100" dirty="0" err="1">
                <a:latin typeface="Segoe UI"/>
                <a:cs typeface="Segoe UI"/>
              </a:rPr>
              <a:t>identificar</a:t>
            </a:r>
            <a:r>
              <a:rPr lang="de-DE" sz="1100" dirty="0">
                <a:latin typeface="Segoe UI"/>
                <a:cs typeface="Segoe UI"/>
              </a:rPr>
              <a:t> “</a:t>
            </a:r>
            <a:r>
              <a:rPr lang="de-DE" sz="1100" dirty="0" err="1">
                <a:latin typeface="Segoe UI"/>
                <a:cs typeface="Segoe UI"/>
              </a:rPr>
              <a:t>bus</a:t>
            </a:r>
            <a:r>
              <a:rPr lang="de-DE" sz="1100" dirty="0">
                <a:latin typeface="Segoe UI"/>
                <a:cs typeface="Segoe UI"/>
              </a:rPr>
              <a:t> X” </a:t>
            </a:r>
            <a:r>
              <a:rPr lang="de-DE" sz="1100" dirty="0" err="1">
                <a:latin typeface="Segoe UI"/>
                <a:cs typeface="Segoe UI"/>
              </a:rPr>
              <a:t>como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punto</a:t>
            </a:r>
            <a:r>
              <a:rPr lang="de-DE" sz="1100" dirty="0">
                <a:latin typeface="Segoe UI"/>
                <a:cs typeface="Segoe UI"/>
              </a:rPr>
              <a:t> de </a:t>
            </a:r>
            <a:r>
              <a:rPr lang="de-DE" sz="1100" dirty="0" err="1">
                <a:latin typeface="Segoe UI"/>
                <a:cs typeface="Segoe UI"/>
              </a:rPr>
              <a:t>interacción</a:t>
            </a:r>
            <a:r>
              <a:rPr lang="de-DE" sz="1100" dirty="0">
                <a:latin typeface="Segoe UI"/>
                <a:cs typeface="Segoe UI"/>
              </a:rPr>
              <a:t> (ID) </a:t>
            </a:r>
            <a:br>
              <a:rPr lang="de-DE" sz="1100" dirty="0">
                <a:latin typeface="Segoe UI"/>
                <a:cs typeface="Segoe UI"/>
              </a:rPr>
            </a:br>
            <a:r>
              <a:rPr lang="de-DE" sz="1100" dirty="0">
                <a:latin typeface="Segoe UI"/>
                <a:cs typeface="Segoe UI"/>
              </a:rPr>
              <a:t>Visual: “</a:t>
            </a:r>
            <a:r>
              <a:rPr lang="de-DE" sz="1100" dirty="0" err="1">
                <a:latin typeface="Segoe UI"/>
                <a:cs typeface="Segoe UI"/>
              </a:rPr>
              <a:t>Viaje</a:t>
            </a:r>
            <a:r>
              <a:rPr lang="de-DE" sz="1100" dirty="0">
                <a:latin typeface="Segoe UI"/>
                <a:cs typeface="Segoe UI"/>
              </a:rPr>
              <a:t> → </a:t>
            </a:r>
            <a:r>
              <a:rPr lang="de-DE" sz="1100" dirty="0" err="1">
                <a:latin typeface="Segoe UI"/>
                <a:cs typeface="Segoe UI"/>
              </a:rPr>
              <a:t>trigger</a:t>
            </a:r>
            <a:r>
              <a:rPr lang="de-DE" sz="1100" dirty="0">
                <a:latin typeface="Segoe UI"/>
                <a:cs typeface="Segoe UI"/>
              </a:rPr>
              <a:t> → </a:t>
            </a:r>
            <a:r>
              <a:rPr lang="de-DE" sz="1100" dirty="0" err="1">
                <a:latin typeface="Segoe UI"/>
                <a:cs typeface="Segoe UI"/>
              </a:rPr>
              <a:t>beneficio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partner</a:t>
            </a:r>
            <a:r>
              <a:rPr lang="de-DE" sz="1100" dirty="0">
                <a:latin typeface="Segoe UI"/>
                <a:cs typeface="Segoe UI"/>
              </a:rPr>
              <a:t>”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07544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A1742A-652A-6D7E-7D13-8CB6E8740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C6A7A2-A7E6-0B41-1575-8D5A3743A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Slide 7 — Retail: Newsfeed + </a:t>
            </a:r>
            <a:r>
              <a:rPr lang="de-DE" dirty="0" err="1"/>
              <a:t>promociones</a:t>
            </a:r>
            <a:r>
              <a:rPr lang="de-DE" dirty="0"/>
              <a:t> + </a:t>
            </a:r>
            <a:r>
              <a:rPr lang="de-DE" dirty="0" err="1"/>
              <a:t>segmentación</a:t>
            </a:r>
          </a:p>
          <a:p>
            <a:r>
              <a:rPr lang="de-DE" sz="1100" b="1" dirty="0" err="1">
                <a:latin typeface="Segoe UI"/>
                <a:cs typeface="Segoe UI"/>
              </a:rPr>
              <a:t>Título</a:t>
            </a:r>
            <a:r>
              <a:rPr lang="de-DE" sz="1100" b="1" dirty="0">
                <a:latin typeface="Segoe UI"/>
                <a:cs typeface="Segoe UI"/>
              </a:rPr>
              <a:t>: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i="1" dirty="0">
                <a:latin typeface="Segoe UI"/>
                <a:cs typeface="Segoe UI"/>
              </a:rPr>
              <a:t>Retail: </a:t>
            </a:r>
            <a:r>
              <a:rPr lang="de-DE" sz="1100" i="1" dirty="0" err="1">
                <a:latin typeface="Segoe UI"/>
                <a:cs typeface="Segoe UI"/>
              </a:rPr>
              <a:t>contenidos</a:t>
            </a:r>
            <a:r>
              <a:rPr lang="de-DE" sz="1100" i="1" dirty="0">
                <a:latin typeface="Segoe UI"/>
                <a:cs typeface="Segoe UI"/>
              </a:rPr>
              <a:t> y </a:t>
            </a:r>
            <a:r>
              <a:rPr lang="de-DE" sz="1100" i="1" dirty="0" err="1">
                <a:latin typeface="Segoe UI"/>
                <a:cs typeface="Segoe UI"/>
              </a:rPr>
              <a:t>beneficios</a:t>
            </a: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que</a:t>
            </a: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guían</a:t>
            </a: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comportamiento</a:t>
            </a:r>
            <a:br>
              <a:rPr lang="de-DE" sz="1100" i="1" dirty="0">
                <a:latin typeface="Segoe UI"/>
                <a:cs typeface="Segoe UI"/>
              </a:rPr>
            </a:b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Mensajes</a:t>
            </a:r>
            <a:r>
              <a:rPr lang="de-DE" sz="1100" b="1" dirty="0">
                <a:latin typeface="Segoe UI"/>
                <a:cs typeface="Segoe UI"/>
              </a:rPr>
              <a:t> del </a:t>
            </a:r>
            <a:r>
              <a:rPr lang="de-DE" sz="1100" b="1" dirty="0" err="1">
                <a:latin typeface="Segoe UI"/>
                <a:cs typeface="Segoe UI"/>
              </a:rPr>
              <a:t>transcript</a:t>
            </a:r>
            <a:r>
              <a:rPr lang="de-DE" sz="1100" b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convertidos</a:t>
            </a:r>
            <a:r>
              <a:rPr lang="de-DE" sz="1100" b="1" dirty="0">
                <a:latin typeface="Segoe UI"/>
                <a:cs typeface="Segoe UI"/>
              </a:rPr>
              <a:t> en </a:t>
            </a:r>
            <a:r>
              <a:rPr lang="de-DE" sz="1100" b="1" dirty="0" err="1">
                <a:latin typeface="Segoe UI"/>
                <a:cs typeface="Segoe UI"/>
              </a:rPr>
              <a:t>selling</a:t>
            </a:r>
            <a:r>
              <a:rPr lang="de-DE" sz="1100" b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points</a:t>
            </a:r>
            <a:r>
              <a:rPr lang="de-DE" sz="1100" b="1" dirty="0">
                <a:latin typeface="Segoe UI"/>
                <a:cs typeface="Segoe UI"/>
              </a:rPr>
              <a:t>:</a:t>
            </a:r>
            <a:endParaRPr lang="de-DE" dirty="0"/>
          </a:p>
          <a:p>
            <a:r>
              <a:rPr lang="de-DE" sz="1100" dirty="0">
                <a:latin typeface="Segoe UI"/>
                <a:cs typeface="Segoe UI"/>
              </a:rPr>
              <a:t>Newsfeed </a:t>
            </a:r>
            <a:r>
              <a:rPr lang="de-DE" sz="1100" dirty="0" err="1">
                <a:latin typeface="Segoe UI"/>
                <a:cs typeface="Segoe UI"/>
              </a:rPr>
              <a:t>muestra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contenido</a:t>
            </a:r>
            <a:r>
              <a:rPr lang="de-DE" sz="1100" dirty="0">
                <a:latin typeface="Segoe UI"/>
                <a:cs typeface="Segoe UI"/>
              </a:rPr>
              <a:t> y </a:t>
            </a:r>
            <a:r>
              <a:rPr lang="de-DE" sz="1100" dirty="0" err="1">
                <a:latin typeface="Segoe UI"/>
                <a:cs typeface="Segoe UI"/>
              </a:rPr>
              <a:t>puede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ser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distinto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por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segmento</a:t>
            </a:r>
            <a:r>
              <a:rPr lang="de-DE" sz="1100" dirty="0">
                <a:latin typeface="Segoe UI"/>
                <a:cs typeface="Segoe UI"/>
              </a:rPr>
              <a:t> (</a:t>
            </a:r>
            <a:r>
              <a:rPr lang="de-DE" sz="1100" dirty="0" err="1">
                <a:latin typeface="Segoe UI"/>
                <a:cs typeface="Segoe UI"/>
              </a:rPr>
              <a:t>edad</a:t>
            </a:r>
            <a:r>
              <a:rPr lang="de-DE" sz="1100" dirty="0">
                <a:latin typeface="Segoe UI"/>
                <a:cs typeface="Segoe UI"/>
              </a:rPr>
              <a:t>/</a:t>
            </a:r>
            <a:r>
              <a:rPr lang="de-DE" sz="1100" dirty="0" err="1">
                <a:latin typeface="Segoe UI"/>
                <a:cs typeface="Segoe UI"/>
              </a:rPr>
              <a:t>segmentos</a:t>
            </a:r>
            <a:r>
              <a:rPr lang="de-DE" sz="1100" dirty="0">
                <a:latin typeface="Segoe UI"/>
                <a:cs typeface="Segoe UI"/>
              </a:rPr>
              <a:t>)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r>
              <a:rPr lang="de-DE" sz="1100" dirty="0">
                <a:latin typeface="Segoe UI"/>
                <a:cs typeface="Segoe UI"/>
              </a:rPr>
              <a:t>Promos (2x1 </a:t>
            </a:r>
            <a:r>
              <a:rPr lang="de-DE" sz="1100" dirty="0" err="1">
                <a:latin typeface="Segoe UI"/>
                <a:cs typeface="Segoe UI"/>
              </a:rPr>
              <a:t>cine</a:t>
            </a:r>
            <a:r>
              <a:rPr lang="de-DE" sz="1100" dirty="0">
                <a:latin typeface="Segoe UI"/>
                <a:cs typeface="Segoe UI"/>
              </a:rPr>
              <a:t>, % </a:t>
            </a:r>
            <a:r>
              <a:rPr lang="de-DE" sz="1100" dirty="0" err="1">
                <a:latin typeface="Segoe UI"/>
                <a:cs typeface="Segoe UI"/>
              </a:rPr>
              <a:t>descuento</a:t>
            </a:r>
            <a:r>
              <a:rPr lang="de-DE" sz="1100" dirty="0">
                <a:latin typeface="Segoe UI"/>
                <a:cs typeface="Segoe UI"/>
              </a:rPr>
              <a:t>) </a:t>
            </a:r>
            <a:r>
              <a:rPr lang="de-DE" sz="1100" dirty="0" err="1">
                <a:latin typeface="Segoe UI"/>
                <a:cs typeface="Segoe UI"/>
              </a:rPr>
              <a:t>activables</a:t>
            </a:r>
            <a:r>
              <a:rPr lang="de-DE" sz="1100" dirty="0">
                <a:latin typeface="Segoe UI"/>
                <a:cs typeface="Segoe UI"/>
              </a:rPr>
              <a:t> y </a:t>
            </a:r>
            <a:r>
              <a:rPr lang="de-DE" sz="1100" dirty="0" err="1">
                <a:latin typeface="Segoe UI"/>
                <a:cs typeface="Segoe UI"/>
              </a:rPr>
              <a:t>targeteables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r>
              <a:rPr lang="de-DE" sz="1100" dirty="0" err="1">
                <a:latin typeface="Segoe UI"/>
                <a:cs typeface="Segoe UI"/>
              </a:rPr>
              <a:t>Publicación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rápida</a:t>
            </a:r>
            <a:r>
              <a:rPr lang="de-DE" sz="1100" dirty="0">
                <a:latin typeface="Segoe UI"/>
                <a:cs typeface="Segoe UI"/>
              </a:rPr>
              <a:t> y push </a:t>
            </a:r>
            <a:r>
              <a:rPr lang="de-DE" sz="1100" dirty="0" err="1">
                <a:latin typeface="Segoe UI"/>
                <a:cs typeface="Segoe UI"/>
              </a:rPr>
              <a:t>opcional</a:t>
            </a:r>
            <a:r>
              <a:rPr lang="de-DE" sz="1100" dirty="0">
                <a:latin typeface="Segoe UI"/>
                <a:cs typeface="Segoe UI"/>
              </a:rPr>
              <a:t> </a:t>
            </a:r>
            <a:br>
              <a:rPr lang="de-DE" sz="1100" dirty="0">
                <a:latin typeface="Segoe UI"/>
                <a:cs typeface="Segoe UI"/>
              </a:rPr>
            </a:br>
            <a:r>
              <a:rPr lang="de-DE" sz="1100" dirty="0">
                <a:latin typeface="Segoe UI"/>
                <a:cs typeface="Segoe UI"/>
              </a:rPr>
              <a:t>Visual: 3 </a:t>
            </a:r>
            <a:r>
              <a:rPr lang="de-DE" sz="1100" dirty="0" err="1">
                <a:latin typeface="Segoe UI"/>
                <a:cs typeface="Segoe UI"/>
              </a:rPr>
              <a:t>tarjetas</a:t>
            </a:r>
            <a:r>
              <a:rPr lang="de-DE" sz="1100" dirty="0">
                <a:latin typeface="Segoe UI"/>
                <a:cs typeface="Segoe UI"/>
              </a:rPr>
              <a:t> (</a:t>
            </a:r>
            <a:r>
              <a:rPr lang="de-DE" sz="1100" dirty="0" err="1">
                <a:latin typeface="Segoe UI"/>
                <a:cs typeface="Segoe UI"/>
              </a:rPr>
              <a:t>Contenido</a:t>
            </a:r>
            <a:r>
              <a:rPr lang="de-DE" sz="1100" dirty="0">
                <a:latin typeface="Segoe UI"/>
                <a:cs typeface="Segoe UI"/>
              </a:rPr>
              <a:t> / </a:t>
            </a:r>
            <a:r>
              <a:rPr lang="de-DE" sz="1100" dirty="0" err="1">
                <a:latin typeface="Segoe UI"/>
                <a:cs typeface="Segoe UI"/>
              </a:rPr>
              <a:t>Cupón</a:t>
            </a:r>
            <a:r>
              <a:rPr lang="de-DE" sz="1100" dirty="0">
                <a:latin typeface="Segoe UI"/>
                <a:cs typeface="Segoe UI"/>
              </a:rPr>
              <a:t> / </a:t>
            </a:r>
            <a:r>
              <a:rPr lang="de-DE" sz="1100" dirty="0" err="1">
                <a:latin typeface="Segoe UI"/>
                <a:cs typeface="Segoe UI"/>
              </a:rPr>
              <a:t>Segmento</a:t>
            </a:r>
            <a:r>
              <a:rPr lang="de-DE" sz="1100" dirty="0">
                <a:latin typeface="Segoe UI"/>
                <a:cs typeface="Segoe UI"/>
              </a:rPr>
              <a:t>)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29984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72D8AD-2ABE-18B7-CD80-10866A939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0F71E0-A4B2-80D8-8402-72176462A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Slide 8 — Resorts / </a:t>
            </a:r>
            <a:r>
              <a:rPr lang="de-DE" dirty="0" err="1"/>
              <a:t>parques</a:t>
            </a:r>
            <a:r>
              <a:rPr lang="de-DE" dirty="0"/>
              <a:t> / </a:t>
            </a:r>
            <a:r>
              <a:rPr lang="de-DE" dirty="0" err="1"/>
              <a:t>ocio</a:t>
            </a:r>
            <a:r>
              <a:rPr lang="de-DE" dirty="0"/>
              <a:t>: </a:t>
            </a:r>
            <a:r>
              <a:rPr lang="de-DE" dirty="0" err="1"/>
              <a:t>experiencias</a:t>
            </a:r>
            <a:r>
              <a:rPr lang="de-DE" dirty="0"/>
              <a:t> </a:t>
            </a:r>
            <a:r>
              <a:rPr lang="de-DE" dirty="0" err="1"/>
              <a:t>que</a:t>
            </a:r>
            <a:r>
              <a:rPr lang="de-DE" dirty="0"/>
              <a:t> “</a:t>
            </a:r>
            <a:r>
              <a:rPr lang="de-DE" dirty="0" err="1"/>
              <a:t>mueven</a:t>
            </a:r>
            <a:r>
              <a:rPr lang="de-DE" dirty="0"/>
              <a:t>” a la </a:t>
            </a:r>
            <a:r>
              <a:rPr lang="de-DE" dirty="0" err="1"/>
              <a:t>gente</a:t>
            </a:r>
          </a:p>
          <a:p>
            <a:r>
              <a:rPr lang="de-DE" sz="1100" b="1" dirty="0" err="1">
                <a:latin typeface="Segoe UI"/>
                <a:cs typeface="Segoe UI"/>
              </a:rPr>
              <a:t>Título</a:t>
            </a:r>
            <a:r>
              <a:rPr lang="de-DE" sz="1100" b="1" dirty="0">
                <a:latin typeface="Segoe UI"/>
                <a:cs typeface="Segoe UI"/>
              </a:rPr>
              <a:t>: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i="1" dirty="0">
                <a:latin typeface="Segoe UI"/>
                <a:cs typeface="Segoe UI"/>
              </a:rPr>
              <a:t>Resorts &amp; </a:t>
            </a:r>
            <a:r>
              <a:rPr lang="de-DE" sz="1100" i="1" dirty="0" err="1">
                <a:latin typeface="Segoe UI"/>
                <a:cs typeface="Segoe UI"/>
              </a:rPr>
              <a:t>parques</a:t>
            </a:r>
            <a:r>
              <a:rPr lang="de-DE" sz="1100" i="1" dirty="0">
                <a:latin typeface="Segoe UI"/>
                <a:cs typeface="Segoe UI"/>
              </a:rPr>
              <a:t>: </a:t>
            </a:r>
            <a:r>
              <a:rPr lang="de-DE" sz="1100" i="1" dirty="0" err="1">
                <a:latin typeface="Segoe UI"/>
                <a:cs typeface="Segoe UI"/>
              </a:rPr>
              <a:t>secuencias</a:t>
            </a:r>
            <a:r>
              <a:rPr lang="de-DE" sz="1100" i="1" dirty="0">
                <a:latin typeface="Segoe UI"/>
                <a:cs typeface="Segoe UI"/>
              </a:rPr>
              <a:t> de </a:t>
            </a:r>
            <a:r>
              <a:rPr lang="de-DE" sz="1100" i="1" dirty="0" err="1">
                <a:latin typeface="Segoe UI"/>
                <a:cs typeface="Segoe UI"/>
              </a:rPr>
              <a:t>experiencias</a:t>
            </a:r>
            <a:br>
              <a:rPr lang="de-DE" sz="1100" i="1" dirty="0">
                <a:latin typeface="Segoe UI"/>
                <a:cs typeface="Segoe UI"/>
              </a:rPr>
            </a:b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Mensaje</a:t>
            </a:r>
            <a:r>
              <a:rPr lang="de-DE" sz="1100" b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clave</a:t>
            </a:r>
            <a:r>
              <a:rPr lang="de-DE" sz="1100" b="1" dirty="0">
                <a:latin typeface="Segoe UI"/>
                <a:cs typeface="Segoe UI"/>
              </a:rPr>
              <a:t>:</a:t>
            </a:r>
            <a:r>
              <a:rPr lang="de-DE" sz="1100" dirty="0">
                <a:latin typeface="Segoe UI"/>
                <a:cs typeface="Segoe UI"/>
              </a:rPr>
              <a:t> “</a:t>
            </a:r>
            <a:r>
              <a:rPr lang="de-DE" sz="1100" dirty="0" err="1">
                <a:latin typeface="Segoe UI"/>
                <a:cs typeface="Segoe UI"/>
              </a:rPr>
              <a:t>Experiencias</a:t>
            </a:r>
            <a:r>
              <a:rPr lang="de-DE" sz="1100" dirty="0">
                <a:latin typeface="Segoe UI"/>
                <a:cs typeface="Segoe UI"/>
              </a:rPr>
              <a:t>” </a:t>
            </a:r>
            <a:r>
              <a:rPr lang="de-DE" sz="1100" dirty="0" err="1">
                <a:latin typeface="Segoe UI"/>
                <a:cs typeface="Segoe UI"/>
              </a:rPr>
              <a:t>permiten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diseñar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recorridos</a:t>
            </a:r>
            <a:r>
              <a:rPr lang="de-DE" sz="1100" dirty="0">
                <a:latin typeface="Segoe UI"/>
                <a:cs typeface="Segoe UI"/>
              </a:rPr>
              <a:t> (</a:t>
            </a:r>
            <a:r>
              <a:rPr lang="de-DE" sz="1100" dirty="0" err="1">
                <a:latin typeface="Segoe UI"/>
                <a:cs typeface="Segoe UI"/>
              </a:rPr>
              <a:t>restaurantes</a:t>
            </a:r>
            <a:r>
              <a:rPr lang="de-DE" sz="1100" dirty="0">
                <a:latin typeface="Segoe UI"/>
                <a:cs typeface="Segoe UI"/>
              </a:rPr>
              <a:t>/</a:t>
            </a:r>
            <a:r>
              <a:rPr lang="de-DE" sz="1100" dirty="0" err="1">
                <a:latin typeface="Segoe UI"/>
                <a:cs typeface="Segoe UI"/>
              </a:rPr>
              <a:t>atracciones</a:t>
            </a:r>
            <a:r>
              <a:rPr lang="de-DE" sz="1100" dirty="0">
                <a:latin typeface="Segoe UI"/>
                <a:cs typeface="Segoe UI"/>
              </a:rPr>
              <a:t>) y </a:t>
            </a:r>
            <a:r>
              <a:rPr lang="de-DE" sz="1100" dirty="0" err="1">
                <a:latin typeface="Segoe UI"/>
                <a:cs typeface="Segoe UI"/>
              </a:rPr>
              <a:t>gestionar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afluencias</a:t>
            </a:r>
            <a:r>
              <a:rPr lang="de-DE" sz="1100" dirty="0">
                <a:latin typeface="Segoe UI"/>
                <a:cs typeface="Segoe UI"/>
              </a:rPr>
              <a:t>. </a:t>
            </a:r>
            <a:br>
              <a:rPr lang="de-DE" sz="1100" dirty="0">
                <a:latin typeface="Segoe UI"/>
                <a:cs typeface="Segoe UI"/>
              </a:rPr>
            </a:br>
            <a:r>
              <a:rPr lang="de-DE" sz="1100" dirty="0" err="1">
                <a:latin typeface="Segoe UI"/>
                <a:cs typeface="Segoe UI"/>
              </a:rPr>
              <a:t>Bullets</a:t>
            </a:r>
            <a:r>
              <a:rPr lang="de-DE" sz="1100" dirty="0">
                <a:latin typeface="Segoe UI"/>
                <a:cs typeface="Segoe UI"/>
              </a:rPr>
              <a:t>: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endParaRPr lang="de-DE" dirty="0"/>
          </a:p>
          <a:p>
            <a:r>
              <a:rPr lang="de-DE" sz="1100" dirty="0" err="1">
                <a:latin typeface="Segoe UI"/>
                <a:cs typeface="Segoe UI"/>
              </a:rPr>
              <a:t>Recorrido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culinario</a:t>
            </a:r>
            <a:r>
              <a:rPr lang="de-DE" sz="1100" dirty="0">
                <a:latin typeface="Segoe UI"/>
                <a:cs typeface="Segoe UI"/>
              </a:rPr>
              <a:t>: </a:t>
            </a:r>
            <a:r>
              <a:rPr lang="de-DE" sz="1100" dirty="0" err="1">
                <a:latin typeface="Segoe UI"/>
                <a:cs typeface="Segoe UI"/>
              </a:rPr>
              <a:t>dirigir</a:t>
            </a:r>
            <a:r>
              <a:rPr lang="de-DE" sz="1100" dirty="0">
                <a:latin typeface="Segoe UI"/>
                <a:cs typeface="Segoe UI"/>
              </a:rPr>
              <a:t> de </a:t>
            </a:r>
            <a:r>
              <a:rPr lang="de-DE" sz="1100" dirty="0" err="1">
                <a:latin typeface="Segoe UI"/>
                <a:cs typeface="Segoe UI"/>
              </a:rPr>
              <a:t>restaurante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lleno</a:t>
            </a:r>
            <a:r>
              <a:rPr lang="de-DE" sz="1100" dirty="0">
                <a:latin typeface="Segoe UI"/>
                <a:cs typeface="Segoe UI"/>
              </a:rPr>
              <a:t> a </a:t>
            </a:r>
            <a:r>
              <a:rPr lang="de-DE" sz="1100" dirty="0" err="1">
                <a:latin typeface="Segoe UI"/>
                <a:cs typeface="Segoe UI"/>
              </a:rPr>
              <a:t>otro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con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incentivo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endParaRPr lang="de-DE" dirty="0"/>
          </a:p>
          <a:p>
            <a:r>
              <a:rPr lang="de-DE" sz="1100" dirty="0">
                <a:latin typeface="Segoe UI"/>
                <a:cs typeface="Segoe UI"/>
              </a:rPr>
              <a:t>Journeys </a:t>
            </a:r>
            <a:r>
              <a:rPr lang="de-DE" sz="1100" dirty="0" err="1">
                <a:latin typeface="Segoe UI"/>
                <a:cs typeface="Segoe UI"/>
              </a:rPr>
              <a:t>aplicables</a:t>
            </a:r>
            <a:r>
              <a:rPr lang="de-DE" sz="1100" dirty="0">
                <a:latin typeface="Segoe UI"/>
                <a:cs typeface="Segoe UI"/>
              </a:rPr>
              <a:t> a </a:t>
            </a:r>
            <a:r>
              <a:rPr lang="de-DE" sz="1100" dirty="0" err="1">
                <a:latin typeface="Segoe UI"/>
                <a:cs typeface="Segoe UI"/>
              </a:rPr>
              <a:t>parques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temáticos</a:t>
            </a:r>
            <a:r>
              <a:rPr lang="de-DE" sz="1100" dirty="0">
                <a:latin typeface="Segoe UI"/>
                <a:cs typeface="Segoe UI"/>
              </a:rPr>
              <a:t> (</a:t>
            </a:r>
            <a:r>
              <a:rPr lang="de-DE" sz="1100" dirty="0" err="1">
                <a:latin typeface="Segoe UI"/>
                <a:cs typeface="Segoe UI"/>
              </a:rPr>
              <a:t>atracciones</a:t>
            </a:r>
            <a:r>
              <a:rPr lang="de-DE" sz="1100" dirty="0">
                <a:latin typeface="Segoe UI"/>
                <a:cs typeface="Segoe UI"/>
              </a:rPr>
              <a:t>)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endParaRPr lang="de-DE" dirty="0"/>
          </a:p>
          <a:p>
            <a:r>
              <a:rPr lang="de-DE" sz="1100" dirty="0" err="1">
                <a:latin typeface="Segoe UI"/>
                <a:cs typeface="Segoe UI"/>
              </a:rPr>
              <a:t>Inspiración</a:t>
            </a:r>
            <a:r>
              <a:rPr lang="de-DE" sz="1100" dirty="0">
                <a:latin typeface="Segoe UI"/>
                <a:cs typeface="Segoe UI"/>
              </a:rPr>
              <a:t>: “livestream / </a:t>
            </a:r>
            <a:r>
              <a:rPr lang="de-DE" sz="1100" dirty="0" err="1">
                <a:latin typeface="Segoe UI"/>
                <a:cs typeface="Segoe UI"/>
              </a:rPr>
              <a:t>ocupación</a:t>
            </a:r>
            <a:r>
              <a:rPr lang="de-DE" sz="1100" dirty="0">
                <a:latin typeface="Segoe UI"/>
                <a:cs typeface="Segoe UI"/>
              </a:rPr>
              <a:t>” </a:t>
            </a:r>
            <a:r>
              <a:rPr lang="de-DE" sz="1100" dirty="0" err="1">
                <a:latin typeface="Segoe UI"/>
                <a:cs typeface="Segoe UI"/>
              </a:rPr>
              <a:t>como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idea</a:t>
            </a:r>
            <a:r>
              <a:rPr lang="de-DE" sz="1100" dirty="0">
                <a:latin typeface="Segoe UI"/>
                <a:cs typeface="Segoe UI"/>
              </a:rPr>
              <a:t> de </a:t>
            </a:r>
            <a:r>
              <a:rPr lang="de-DE" sz="1100" dirty="0" err="1">
                <a:latin typeface="Segoe UI"/>
                <a:cs typeface="Segoe UI"/>
              </a:rPr>
              <a:t>valor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futuro</a:t>
            </a:r>
            <a:r>
              <a:rPr lang="de-DE" sz="1100" dirty="0">
                <a:latin typeface="Segoe UI"/>
                <a:cs typeface="Segoe UI"/>
              </a:rPr>
              <a:t> (</a:t>
            </a:r>
            <a:r>
              <a:rPr lang="de-DE" sz="1100" dirty="0" err="1">
                <a:latin typeface="Segoe UI"/>
                <a:cs typeface="Segoe UI"/>
              </a:rPr>
              <a:t>cuando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exista</a:t>
            </a:r>
            <a:r>
              <a:rPr lang="de-DE" sz="1100" dirty="0">
                <a:latin typeface="Segoe UI"/>
                <a:cs typeface="Segoe UI"/>
              </a:rPr>
              <a:t> dato real time) </a:t>
            </a:r>
            <a:br>
              <a:rPr lang="de-DE" sz="1100" dirty="0">
                <a:latin typeface="Segoe UI"/>
                <a:cs typeface="Segoe UI"/>
              </a:rPr>
            </a:br>
            <a:r>
              <a:rPr lang="de-DE" sz="1100" dirty="0">
                <a:latin typeface="Segoe UI"/>
                <a:cs typeface="Segoe UI"/>
              </a:rPr>
              <a:t>Visual: Journey </a:t>
            </a:r>
            <a:r>
              <a:rPr lang="de-DE" sz="1100" dirty="0" err="1">
                <a:latin typeface="Segoe UI"/>
                <a:cs typeface="Segoe UI"/>
              </a:rPr>
              <a:t>lineal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con</a:t>
            </a:r>
            <a:r>
              <a:rPr lang="de-DE" sz="1100" dirty="0">
                <a:latin typeface="Segoe UI"/>
                <a:cs typeface="Segoe UI"/>
              </a:rPr>
              <a:t> 3 </a:t>
            </a:r>
            <a:r>
              <a:rPr lang="de-DE" sz="1100" dirty="0" err="1">
                <a:latin typeface="Segoe UI"/>
                <a:cs typeface="Segoe UI"/>
              </a:rPr>
              <a:t>paradas</a:t>
            </a:r>
            <a:r>
              <a:rPr lang="de-DE" sz="1100" dirty="0">
                <a:latin typeface="Segoe UI"/>
                <a:cs typeface="Segoe UI"/>
              </a:rPr>
              <a:t> + </a:t>
            </a:r>
            <a:r>
              <a:rPr lang="de-DE" sz="1100" dirty="0" err="1">
                <a:latin typeface="Segoe UI"/>
                <a:cs typeface="Segoe UI"/>
              </a:rPr>
              <a:t>recompensa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329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2708C2-E5DE-5ECB-9560-CC37145D4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C29CB8-62DD-FAC6-CCB8-02221E123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Slide 9 — Shopping center / app de terceros: integración real</a:t>
            </a:r>
          </a:p>
          <a:p>
            <a:r>
              <a:rPr lang="de-DE" sz="1100" b="1">
                <a:latin typeface="Segoe UI"/>
                <a:cs typeface="Segoe UI"/>
              </a:rPr>
              <a:t>Título:</a:t>
            </a:r>
            <a:r>
              <a:rPr lang="de-DE" sz="1100">
                <a:latin typeface="Segoe UI"/>
                <a:cs typeface="Segoe UI"/>
              </a:rPr>
              <a:t> </a:t>
            </a:r>
            <a:r>
              <a:rPr lang="de-DE" sz="1100" i="1">
                <a:latin typeface="Segoe UI"/>
                <a:cs typeface="Segoe UI"/>
              </a:rPr>
              <a:t>Integración en apps existentes (ej. OCM)</a:t>
            </a:r>
            <a:br>
              <a:rPr lang="de-DE" sz="1100" i="1" dirty="0">
                <a:latin typeface="Segoe UI"/>
                <a:cs typeface="Segoe UI"/>
              </a:rPr>
            </a:br>
            <a:r>
              <a:rPr lang="de-DE" sz="1100" i="1">
                <a:latin typeface="Segoe UI"/>
                <a:cs typeface="Segoe UI"/>
              </a:rPr>
              <a:t> </a:t>
            </a:r>
            <a:r>
              <a:rPr lang="de-DE" sz="1100" b="1">
                <a:latin typeface="Segoe UI"/>
                <a:cs typeface="Segoe UI"/>
              </a:rPr>
              <a:t>Mensaje clave:</a:t>
            </a:r>
            <a:r>
              <a:rPr lang="de-DE" sz="1100">
                <a:latin typeface="Segoe UI"/>
                <a:cs typeface="Segoe UI"/>
              </a:rPr>
              <a:t> El club/fidelización puede ir dentro de una app del cliente (diseño suyo, motor Convercus). </a:t>
            </a:r>
            <a:br>
              <a:rPr lang="de-DE" sz="1100" dirty="0">
                <a:latin typeface="Segoe UI"/>
                <a:cs typeface="Segoe UI"/>
              </a:rPr>
            </a:br>
            <a:r>
              <a:rPr lang="de-DE" sz="1100">
                <a:latin typeface="Segoe UI"/>
                <a:cs typeface="Segoe UI"/>
              </a:rPr>
              <a:t>Bullets: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endParaRPr lang="de-DE"/>
          </a:p>
          <a:p>
            <a:r>
              <a:rPr lang="de-DE" sz="1100">
                <a:latin typeface="Segoe UI"/>
                <a:cs typeface="Segoe UI"/>
              </a:rPr>
              <a:t>“El club es nuestro, integrado en su app” (backend Convercus)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endParaRPr lang="de-DE"/>
          </a:p>
          <a:p>
            <a:r>
              <a:rPr lang="de-DE" sz="1100">
                <a:latin typeface="Segoe UI"/>
                <a:cs typeface="Segoe UI"/>
              </a:rPr>
              <a:t>Mapa y navegación como caso de uso claro </a:t>
            </a:r>
            <a:br>
              <a:rPr lang="de-DE" sz="1100" dirty="0">
                <a:latin typeface="Segoe UI"/>
                <a:cs typeface="Segoe UI"/>
              </a:rPr>
            </a:br>
            <a:r>
              <a:rPr lang="de-DE" sz="1100">
                <a:latin typeface="Segoe UI"/>
                <a:cs typeface="Segoe UI"/>
              </a:rPr>
              <a:t>Visual: “App cliente” + “Módulo club”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endParaRPr lang="de-DE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68659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94C4D-BB47-FFC5-4E7B-42C232BCD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2B4272-D35D-4CA0-EA01-C87F2CB157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Parte 3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4B04FE5-6916-3EE7-D17A-FE5E385ECE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sz="1100">
                <a:latin typeface="Segoe UI"/>
                <a:cs typeface="Segoe UI"/>
              </a:rPr>
              <a:t>Toolkit + </a:t>
            </a:r>
            <a:r>
              <a:rPr lang="de-DE" sz="1100" err="1">
                <a:latin typeface="Segoe UI"/>
                <a:cs typeface="Segoe UI"/>
              </a:rPr>
              <a:t>Enablement</a:t>
            </a:r>
            <a:r>
              <a:rPr lang="de-DE" sz="1100">
                <a:latin typeface="Segoe UI"/>
                <a:cs typeface="Segoe UI"/>
              </a:rPr>
              <a:t> </a:t>
            </a:r>
            <a:endParaRPr lang="de-DE"/>
          </a:p>
          <a:p>
            <a:endParaRPr lang="de-DE" sz="11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88384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B75AF9-543F-9F9F-45A6-03BB071C3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6AA7E3-CFAE-0731-B013-7F27B24E3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Slide 10 — El Marketing Toolkit (las </a:t>
            </a:r>
            <a:r>
              <a:rPr lang="de-DE" dirty="0" err="1"/>
              <a:t>piezas</a:t>
            </a:r>
            <a:r>
              <a:rPr lang="de-DE" dirty="0"/>
              <a:t> de </a:t>
            </a:r>
            <a:r>
              <a:rPr lang="de-DE" dirty="0" err="1"/>
              <a:t>campaña</a:t>
            </a:r>
            <a:r>
              <a:rPr lang="de-DE" dirty="0"/>
              <a:t>)</a:t>
            </a:r>
          </a:p>
          <a:p>
            <a:r>
              <a:rPr lang="de-DE" sz="1100" b="1" dirty="0" err="1">
                <a:latin typeface="Segoe UI"/>
                <a:cs typeface="Segoe UI"/>
              </a:rPr>
              <a:t>Título</a:t>
            </a:r>
            <a:r>
              <a:rPr lang="de-DE" sz="1100" b="1" dirty="0">
                <a:latin typeface="Segoe UI"/>
                <a:cs typeface="Segoe UI"/>
              </a:rPr>
              <a:t>: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i="1" dirty="0">
                <a:latin typeface="Segoe UI"/>
                <a:cs typeface="Segoe UI"/>
              </a:rPr>
              <a:t>Toolkit: </a:t>
            </a:r>
            <a:r>
              <a:rPr lang="de-DE" sz="1100" i="1" dirty="0" err="1">
                <a:latin typeface="Segoe UI"/>
                <a:cs typeface="Segoe UI"/>
              </a:rPr>
              <a:t>cómo</a:t>
            </a:r>
            <a:r>
              <a:rPr lang="de-DE" sz="1100" i="1" dirty="0">
                <a:latin typeface="Segoe UI"/>
                <a:cs typeface="Segoe UI"/>
              </a:rPr>
              <a:t> se </a:t>
            </a:r>
            <a:r>
              <a:rPr lang="de-DE" sz="1100" i="1" dirty="0" err="1">
                <a:latin typeface="Segoe UI"/>
                <a:cs typeface="Segoe UI"/>
              </a:rPr>
              <a:t>construyen</a:t>
            </a: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campañas</a:t>
            </a:r>
            <a:r>
              <a:rPr lang="de-DE" sz="1100" i="1" dirty="0">
                <a:latin typeface="Segoe UI"/>
                <a:cs typeface="Segoe UI"/>
              </a:rPr>
              <a:t> en </a:t>
            </a:r>
            <a:r>
              <a:rPr lang="de-DE" sz="1100" i="1" dirty="0" err="1">
                <a:latin typeface="Segoe UI"/>
                <a:cs typeface="Segoe UI"/>
              </a:rPr>
              <a:t>Convercus</a:t>
            </a:r>
            <a:br>
              <a:rPr lang="de-DE" sz="1100" i="1" dirty="0">
                <a:latin typeface="Segoe UI"/>
                <a:cs typeface="Segoe UI"/>
              </a:rPr>
            </a:b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Estructura</a:t>
            </a:r>
            <a:r>
              <a:rPr lang="de-DE" sz="1100" b="1" dirty="0">
                <a:latin typeface="Segoe UI"/>
                <a:cs typeface="Segoe UI"/>
              </a:rPr>
              <a:t> (</a:t>
            </a:r>
            <a:r>
              <a:rPr lang="de-DE" sz="1100" b="1" dirty="0" err="1">
                <a:latin typeface="Segoe UI"/>
                <a:cs typeface="Segoe UI"/>
              </a:rPr>
              <a:t>ontología</a:t>
            </a:r>
            <a:r>
              <a:rPr lang="de-DE" sz="1100" b="1" dirty="0">
                <a:latin typeface="Segoe UI"/>
                <a:cs typeface="Segoe UI"/>
              </a:rPr>
              <a:t>) </a:t>
            </a:r>
            <a:r>
              <a:rPr lang="de-DE" sz="1100" b="1" dirty="0" err="1">
                <a:latin typeface="Segoe UI"/>
                <a:cs typeface="Segoe UI"/>
              </a:rPr>
              <a:t>tal</a:t>
            </a:r>
            <a:r>
              <a:rPr lang="de-DE" sz="1100" b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como</a:t>
            </a:r>
            <a:r>
              <a:rPr lang="de-DE" sz="1100" b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lo</a:t>
            </a:r>
            <a:r>
              <a:rPr lang="de-DE" sz="1100" b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pedíais</a:t>
            </a:r>
            <a:r>
              <a:rPr lang="de-DE" sz="1100" b="1" dirty="0">
                <a:latin typeface="Segoe UI"/>
                <a:cs typeface="Segoe UI"/>
              </a:rPr>
              <a:t>:</a:t>
            </a:r>
            <a:endParaRPr lang="de-DE" dirty="0"/>
          </a:p>
          <a:p>
            <a:r>
              <a:rPr lang="de-DE" sz="1100" b="1" dirty="0">
                <a:latin typeface="Segoe UI"/>
                <a:cs typeface="Segoe UI"/>
              </a:rPr>
              <a:t>Newsfeed</a:t>
            </a:r>
            <a:r>
              <a:rPr lang="de-DE" sz="1100" dirty="0">
                <a:latin typeface="Segoe UI"/>
                <a:cs typeface="Segoe UI"/>
              </a:rPr>
              <a:t> = </a:t>
            </a:r>
            <a:r>
              <a:rPr lang="de-DE" sz="1100" dirty="0" err="1">
                <a:latin typeface="Segoe UI"/>
                <a:cs typeface="Segoe UI"/>
              </a:rPr>
              <a:t>contenido</a:t>
            </a:r>
            <a:r>
              <a:rPr lang="de-DE" sz="1100" dirty="0">
                <a:latin typeface="Segoe UI"/>
                <a:cs typeface="Segoe UI"/>
              </a:rPr>
              <a:t> + CTA (</a:t>
            </a:r>
            <a:r>
              <a:rPr lang="de-DE" sz="1100" dirty="0" err="1">
                <a:latin typeface="Segoe UI"/>
                <a:cs typeface="Segoe UI"/>
              </a:rPr>
              <a:t>puede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llevar</a:t>
            </a:r>
            <a:r>
              <a:rPr lang="de-DE" sz="1100" dirty="0">
                <a:latin typeface="Segoe UI"/>
                <a:cs typeface="Segoe UI"/>
              </a:rPr>
              <a:t> a web o </a:t>
            </a:r>
            <a:r>
              <a:rPr lang="de-DE" sz="1100" dirty="0" err="1">
                <a:latin typeface="Segoe UI"/>
                <a:cs typeface="Segoe UI"/>
              </a:rPr>
              <a:t>cupón</a:t>
            </a:r>
            <a:r>
              <a:rPr lang="de-DE" sz="1100" dirty="0">
                <a:latin typeface="Segoe UI"/>
                <a:cs typeface="Segoe UI"/>
              </a:rPr>
              <a:t>) + push </a:t>
            </a:r>
            <a:r>
              <a:rPr lang="de-DE" sz="1100" dirty="0" err="1">
                <a:latin typeface="Segoe UI"/>
                <a:cs typeface="Segoe UI"/>
              </a:rPr>
              <a:t>opcional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r>
              <a:rPr lang="de-DE" sz="1100" b="1" dirty="0" err="1">
                <a:latin typeface="Segoe UI"/>
                <a:cs typeface="Segoe UI"/>
              </a:rPr>
              <a:t>Cupones</a:t>
            </a:r>
            <a:r>
              <a:rPr lang="de-DE" sz="1100" dirty="0">
                <a:latin typeface="Segoe UI"/>
                <a:cs typeface="Segoe UI"/>
              </a:rPr>
              <a:t> = </a:t>
            </a:r>
            <a:r>
              <a:rPr lang="de-DE" sz="1100" dirty="0" err="1">
                <a:latin typeface="Segoe UI"/>
                <a:cs typeface="Segoe UI"/>
              </a:rPr>
              <a:t>valor</a:t>
            </a:r>
            <a:r>
              <a:rPr lang="de-DE" sz="1100" dirty="0">
                <a:latin typeface="Segoe UI"/>
                <a:cs typeface="Segoe UI"/>
              </a:rPr>
              <a:t> (</a:t>
            </a:r>
            <a:r>
              <a:rPr lang="de-DE" sz="1100" dirty="0" err="1">
                <a:latin typeface="Segoe UI"/>
                <a:cs typeface="Segoe UI"/>
              </a:rPr>
              <a:t>dinero</a:t>
            </a:r>
            <a:r>
              <a:rPr lang="de-DE" sz="1100" dirty="0">
                <a:latin typeface="Segoe UI"/>
                <a:cs typeface="Segoe UI"/>
              </a:rPr>
              <a:t>/</a:t>
            </a:r>
            <a:r>
              <a:rPr lang="de-DE" sz="1100" dirty="0" err="1">
                <a:latin typeface="Segoe UI"/>
                <a:cs typeface="Segoe UI"/>
              </a:rPr>
              <a:t>beneficio</a:t>
            </a:r>
            <a:r>
              <a:rPr lang="de-DE" sz="1100" dirty="0">
                <a:latin typeface="Segoe UI"/>
                <a:cs typeface="Segoe UI"/>
              </a:rPr>
              <a:t>) + </a:t>
            </a:r>
            <a:r>
              <a:rPr lang="de-DE" sz="1100" dirty="0" err="1">
                <a:latin typeface="Segoe UI"/>
                <a:cs typeface="Segoe UI"/>
              </a:rPr>
              <a:t>reglas</a:t>
            </a:r>
            <a:r>
              <a:rPr lang="de-DE" sz="1100" dirty="0">
                <a:latin typeface="Segoe UI"/>
                <a:cs typeface="Segoe UI"/>
              </a:rPr>
              <a:t>/</a:t>
            </a:r>
            <a:r>
              <a:rPr lang="de-DE" sz="1100" dirty="0" err="1">
                <a:latin typeface="Segoe UI"/>
                <a:cs typeface="Segoe UI"/>
              </a:rPr>
              <a:t>targeting</a:t>
            </a:r>
            <a:r>
              <a:rPr lang="de-DE" sz="1100" dirty="0">
                <a:latin typeface="Segoe UI"/>
                <a:cs typeface="Segoe UI"/>
              </a:rPr>
              <a:t> (</a:t>
            </a:r>
            <a:r>
              <a:rPr lang="de-DE" sz="1100" dirty="0" err="1">
                <a:latin typeface="Segoe UI"/>
                <a:cs typeface="Segoe UI"/>
              </a:rPr>
              <a:t>múltiples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propiedades</a:t>
            </a:r>
            <a:r>
              <a:rPr lang="de-DE" sz="1100" dirty="0">
                <a:latin typeface="Segoe UI"/>
                <a:cs typeface="Segoe UI"/>
              </a:rPr>
              <a:t>)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r>
              <a:rPr lang="de-DE" sz="1100" b="1" dirty="0" err="1">
                <a:latin typeface="Segoe UI"/>
                <a:cs typeface="Segoe UI"/>
              </a:rPr>
              <a:t>Experiences</a:t>
            </a:r>
            <a:r>
              <a:rPr lang="de-DE" sz="1100" dirty="0">
                <a:latin typeface="Segoe UI"/>
                <a:cs typeface="Segoe UI"/>
              </a:rPr>
              <a:t> = </a:t>
            </a:r>
            <a:r>
              <a:rPr lang="de-DE" sz="1100" dirty="0" err="1">
                <a:latin typeface="Segoe UI"/>
                <a:cs typeface="Segoe UI"/>
              </a:rPr>
              <a:t>secuencia</a:t>
            </a:r>
            <a:r>
              <a:rPr lang="de-DE" sz="1100" dirty="0">
                <a:latin typeface="Segoe UI"/>
                <a:cs typeface="Segoe UI"/>
              </a:rPr>
              <a:t> de </a:t>
            </a:r>
            <a:r>
              <a:rPr lang="de-DE" sz="1100" dirty="0" err="1">
                <a:latin typeface="Segoe UI"/>
                <a:cs typeface="Segoe UI"/>
              </a:rPr>
              <a:t>eventos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que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crea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comportamiento</a:t>
            </a:r>
            <a:r>
              <a:rPr lang="de-DE" sz="1100" dirty="0">
                <a:latin typeface="Segoe UI"/>
                <a:cs typeface="Segoe UI"/>
              </a:rPr>
              <a:t> (USP)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r>
              <a:rPr lang="de-DE" sz="1100" b="1" dirty="0">
                <a:latin typeface="Segoe UI"/>
                <a:cs typeface="Segoe UI"/>
              </a:rPr>
              <a:t>Gamification</a:t>
            </a:r>
            <a:r>
              <a:rPr lang="de-DE" sz="1100" dirty="0">
                <a:latin typeface="Segoe UI"/>
                <a:cs typeface="Segoe UI"/>
              </a:rPr>
              <a:t> = </a:t>
            </a:r>
            <a:r>
              <a:rPr lang="de-DE" sz="1100" dirty="0" err="1">
                <a:latin typeface="Segoe UI"/>
                <a:cs typeface="Segoe UI"/>
              </a:rPr>
              <a:t>retos</a:t>
            </a:r>
            <a:r>
              <a:rPr lang="de-DE" sz="1100" dirty="0">
                <a:latin typeface="Segoe UI"/>
                <a:cs typeface="Segoe UI"/>
              </a:rPr>
              <a:t>, </a:t>
            </a:r>
            <a:r>
              <a:rPr lang="de-DE" sz="1100" dirty="0" err="1">
                <a:latin typeface="Segoe UI"/>
                <a:cs typeface="Segoe UI"/>
              </a:rPr>
              <a:t>sellos</a:t>
            </a:r>
            <a:r>
              <a:rPr lang="de-DE" sz="1100" dirty="0">
                <a:latin typeface="Segoe UI"/>
                <a:cs typeface="Segoe UI"/>
              </a:rPr>
              <a:t>/</a:t>
            </a:r>
            <a:r>
              <a:rPr lang="de-DE" sz="1100" dirty="0" err="1">
                <a:latin typeface="Segoe UI"/>
                <a:cs typeface="Segoe UI"/>
              </a:rPr>
              <a:t>estampillas</a:t>
            </a:r>
            <a:r>
              <a:rPr lang="de-DE" sz="1100" dirty="0">
                <a:latin typeface="Segoe UI"/>
                <a:cs typeface="Segoe UI"/>
              </a:rPr>
              <a:t>, </a:t>
            </a:r>
            <a:r>
              <a:rPr lang="de-DE" sz="1100" dirty="0" err="1">
                <a:latin typeface="Segoe UI"/>
                <a:cs typeface="Segoe UI"/>
              </a:rPr>
              <a:t>progreso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r>
              <a:rPr lang="de-DE" sz="1100" b="1" dirty="0" err="1">
                <a:latin typeface="Segoe UI"/>
                <a:cs typeface="Segoe UI"/>
              </a:rPr>
              <a:t>Referral</a:t>
            </a:r>
            <a:r>
              <a:rPr lang="de-DE" sz="1100" dirty="0">
                <a:latin typeface="Segoe UI"/>
                <a:cs typeface="Segoe UI"/>
              </a:rPr>
              <a:t> = </a:t>
            </a:r>
            <a:r>
              <a:rPr lang="de-DE" sz="1100" dirty="0" err="1">
                <a:latin typeface="Segoe UI"/>
                <a:cs typeface="Segoe UI"/>
              </a:rPr>
              <a:t>recomendar</a:t>
            </a:r>
            <a:r>
              <a:rPr lang="de-DE" sz="1100" dirty="0">
                <a:latin typeface="Segoe UI"/>
                <a:cs typeface="Segoe UI"/>
              </a:rPr>
              <a:t> a </a:t>
            </a:r>
            <a:r>
              <a:rPr lang="de-DE" sz="1100" dirty="0" err="1">
                <a:latin typeface="Segoe UI"/>
                <a:cs typeface="Segoe UI"/>
              </a:rPr>
              <a:t>un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amigo</a:t>
            </a:r>
            <a:r>
              <a:rPr lang="de-DE" sz="1100" dirty="0">
                <a:latin typeface="Segoe UI"/>
                <a:cs typeface="Segoe UI"/>
              </a:rPr>
              <a:t> / </a:t>
            </a:r>
            <a:r>
              <a:rPr lang="de-DE" sz="1100" dirty="0" err="1">
                <a:latin typeface="Segoe UI"/>
                <a:cs typeface="Segoe UI"/>
              </a:rPr>
              <a:t>código</a:t>
            </a:r>
            <a:r>
              <a:rPr lang="de-DE" sz="1100" dirty="0">
                <a:latin typeface="Segoe UI"/>
                <a:cs typeface="Segoe UI"/>
              </a:rPr>
              <a:t> </a:t>
            </a:r>
            <a:br>
              <a:rPr lang="de-DE" sz="1100" dirty="0">
                <a:latin typeface="Segoe UI"/>
                <a:cs typeface="Segoe UI"/>
              </a:rPr>
            </a:br>
            <a:r>
              <a:rPr lang="de-DE" sz="1100" dirty="0">
                <a:latin typeface="Segoe UI"/>
                <a:cs typeface="Segoe UI"/>
              </a:rPr>
              <a:t>Visual: </a:t>
            </a:r>
            <a:r>
              <a:rPr lang="de-DE" sz="1100" dirty="0" err="1">
                <a:latin typeface="Segoe UI"/>
                <a:cs typeface="Segoe UI"/>
              </a:rPr>
              <a:t>Diagrama</a:t>
            </a:r>
            <a:r>
              <a:rPr lang="de-DE" sz="1100" dirty="0">
                <a:latin typeface="Segoe UI"/>
                <a:cs typeface="Segoe UI"/>
              </a:rPr>
              <a:t> “Newsfeed ↔ </a:t>
            </a:r>
            <a:r>
              <a:rPr lang="de-DE" sz="1100" dirty="0" err="1">
                <a:latin typeface="Segoe UI"/>
                <a:cs typeface="Segoe UI"/>
              </a:rPr>
              <a:t>Cupón</a:t>
            </a:r>
            <a:r>
              <a:rPr lang="de-DE" sz="1100" dirty="0">
                <a:latin typeface="Segoe UI"/>
                <a:cs typeface="Segoe UI"/>
              </a:rPr>
              <a:t> ↔ Experience” + </a:t>
            </a:r>
            <a:r>
              <a:rPr lang="de-DE" sz="1100" dirty="0" err="1">
                <a:latin typeface="Segoe UI"/>
                <a:cs typeface="Segoe UI"/>
              </a:rPr>
              <a:t>gamification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alrededor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2766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D25B87-2A3B-25D2-F602-C89F0835F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7F059B-420F-351F-1C2B-2D1D0AA45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Slide 11 — Deep Dive “</a:t>
            </a:r>
            <a:r>
              <a:rPr lang="de-DE" dirty="0" err="1"/>
              <a:t>ligero</a:t>
            </a:r>
            <a:r>
              <a:rPr lang="de-DE" dirty="0"/>
              <a:t>”: </a:t>
            </a:r>
            <a:r>
              <a:rPr lang="de-DE" dirty="0" err="1"/>
              <a:t>ejemplo</a:t>
            </a:r>
            <a:r>
              <a:rPr lang="de-DE" dirty="0"/>
              <a:t> de 1 </a:t>
            </a:r>
            <a:r>
              <a:rPr lang="de-DE" dirty="0" err="1"/>
              <a:t>caso</a:t>
            </a:r>
            <a:r>
              <a:rPr lang="de-DE" dirty="0"/>
              <a:t>, </a:t>
            </a:r>
            <a:r>
              <a:rPr lang="de-DE" dirty="0" err="1"/>
              <a:t>cómo</a:t>
            </a:r>
            <a:r>
              <a:rPr lang="de-DE" dirty="0"/>
              <a:t> </a:t>
            </a:r>
            <a:r>
              <a:rPr lang="de-DE" dirty="0" err="1"/>
              <a:t>está</a:t>
            </a:r>
            <a:r>
              <a:rPr lang="de-DE" dirty="0"/>
              <a:t> </a:t>
            </a:r>
            <a:r>
              <a:rPr lang="de-DE" dirty="0" err="1"/>
              <a:t>construido</a:t>
            </a:r>
          </a:p>
          <a:p>
            <a:r>
              <a:rPr lang="de-DE" sz="1100" b="1" dirty="0" err="1">
                <a:latin typeface="Segoe UI"/>
                <a:cs typeface="Segoe UI"/>
              </a:rPr>
              <a:t>Título</a:t>
            </a:r>
            <a:r>
              <a:rPr lang="de-DE" sz="1100" b="1" dirty="0">
                <a:latin typeface="Segoe UI"/>
                <a:cs typeface="Segoe UI"/>
              </a:rPr>
              <a:t>: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i="1" dirty="0">
                <a:latin typeface="Segoe UI"/>
                <a:cs typeface="Segoe UI"/>
              </a:rPr>
              <a:t>Deep </a:t>
            </a:r>
            <a:r>
              <a:rPr lang="de-DE" sz="1100" i="1" dirty="0" err="1">
                <a:latin typeface="Segoe UI"/>
                <a:cs typeface="Segoe UI"/>
              </a:rPr>
              <a:t>dive</a:t>
            </a:r>
            <a:r>
              <a:rPr lang="de-DE" sz="1100" i="1" dirty="0">
                <a:latin typeface="Segoe UI"/>
                <a:cs typeface="Segoe UI"/>
              </a:rPr>
              <a:t>: “</a:t>
            </a:r>
            <a:r>
              <a:rPr lang="de-DE" sz="1100" i="1" dirty="0" err="1">
                <a:latin typeface="Segoe UI"/>
                <a:cs typeface="Segoe UI"/>
              </a:rPr>
              <a:t>un</a:t>
            </a: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caso</a:t>
            </a:r>
            <a:r>
              <a:rPr lang="de-DE" sz="1100" i="1" dirty="0">
                <a:latin typeface="Segoe UI"/>
                <a:cs typeface="Segoe UI"/>
              </a:rPr>
              <a:t> real </a:t>
            </a:r>
            <a:r>
              <a:rPr lang="de-DE" sz="1100" i="1" dirty="0" err="1">
                <a:latin typeface="Segoe UI"/>
                <a:cs typeface="Segoe UI"/>
              </a:rPr>
              <a:t>por</a:t>
            </a: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dentro</a:t>
            </a:r>
            <a:r>
              <a:rPr lang="de-DE" sz="1100" i="1" dirty="0">
                <a:latin typeface="Segoe UI"/>
                <a:cs typeface="Segoe UI"/>
              </a:rPr>
              <a:t>” (sin </a:t>
            </a:r>
            <a:r>
              <a:rPr lang="de-DE" sz="1100" i="1" dirty="0" err="1">
                <a:latin typeface="Segoe UI"/>
                <a:cs typeface="Segoe UI"/>
              </a:rPr>
              <a:t>entrar</a:t>
            </a:r>
            <a:r>
              <a:rPr lang="de-DE" sz="1100" i="1" dirty="0">
                <a:latin typeface="Segoe UI"/>
                <a:cs typeface="Segoe UI"/>
              </a:rPr>
              <a:t> en </a:t>
            </a:r>
            <a:r>
              <a:rPr lang="de-DE" sz="1100" i="1" dirty="0" err="1">
                <a:latin typeface="Segoe UI"/>
                <a:cs typeface="Segoe UI"/>
              </a:rPr>
              <a:t>tecnología</a:t>
            </a: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pesada</a:t>
            </a:r>
            <a:r>
              <a:rPr lang="de-DE" sz="1100" i="1" dirty="0">
                <a:latin typeface="Segoe UI"/>
                <a:cs typeface="Segoe UI"/>
              </a:rPr>
              <a:t>)</a:t>
            </a:r>
            <a:br>
              <a:rPr lang="de-DE" sz="1100" i="1" dirty="0">
                <a:latin typeface="Segoe UI"/>
                <a:cs typeface="Segoe UI"/>
              </a:rPr>
            </a:b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Mensaje</a:t>
            </a:r>
            <a:r>
              <a:rPr lang="de-DE" sz="1100" b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clave</a:t>
            </a:r>
            <a:r>
              <a:rPr lang="de-DE" sz="1100" b="1" dirty="0">
                <a:latin typeface="Segoe UI"/>
                <a:cs typeface="Segoe UI"/>
              </a:rPr>
              <a:t>: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Mostrar</a:t>
            </a:r>
            <a:r>
              <a:rPr lang="de-DE" sz="1100" dirty="0">
                <a:latin typeface="Segoe UI"/>
                <a:cs typeface="Segoe UI"/>
              </a:rPr>
              <a:t> “</a:t>
            </a:r>
            <a:r>
              <a:rPr lang="de-DE" sz="1100" dirty="0" err="1">
                <a:latin typeface="Segoe UI"/>
                <a:cs typeface="Segoe UI"/>
              </a:rPr>
              <a:t>cómo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está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construido</a:t>
            </a:r>
            <a:r>
              <a:rPr lang="de-DE" sz="1100" dirty="0">
                <a:latin typeface="Segoe UI"/>
                <a:cs typeface="Segoe UI"/>
              </a:rPr>
              <a:t>” </a:t>
            </a:r>
            <a:r>
              <a:rPr lang="de-DE" sz="1100" dirty="0" err="1">
                <a:latin typeface="Segoe UI"/>
                <a:cs typeface="Segoe UI"/>
              </a:rPr>
              <a:t>un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cupón</a:t>
            </a:r>
            <a:r>
              <a:rPr lang="de-DE" sz="1100" dirty="0">
                <a:latin typeface="Segoe UI"/>
                <a:cs typeface="Segoe UI"/>
              </a:rPr>
              <a:t>/</a:t>
            </a:r>
            <a:r>
              <a:rPr lang="de-DE" sz="1100" dirty="0" err="1">
                <a:latin typeface="Segoe UI"/>
                <a:cs typeface="Segoe UI"/>
              </a:rPr>
              <a:t>experience</a:t>
            </a:r>
            <a:r>
              <a:rPr lang="de-DE" sz="1100" dirty="0">
                <a:latin typeface="Segoe UI"/>
                <a:cs typeface="Segoe UI"/>
              </a:rPr>
              <a:t> (</a:t>
            </a:r>
            <a:r>
              <a:rPr lang="de-DE" sz="1100" dirty="0" err="1">
                <a:latin typeface="Segoe UI"/>
                <a:cs typeface="Segoe UI"/>
              </a:rPr>
              <a:t>el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tipo</a:t>
            </a:r>
            <a:r>
              <a:rPr lang="de-DE" sz="1100" dirty="0">
                <a:latin typeface="Segoe UI"/>
                <a:cs typeface="Segoe UI"/>
              </a:rPr>
              <a:t> de </a:t>
            </a:r>
            <a:r>
              <a:rPr lang="de-DE" sz="1100" dirty="0" err="1">
                <a:latin typeface="Segoe UI"/>
                <a:cs typeface="Segoe UI"/>
              </a:rPr>
              <a:t>ejemplo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que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Juanjo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pidió</a:t>
            </a:r>
            <a:r>
              <a:rPr lang="de-DE" sz="1100" dirty="0">
                <a:latin typeface="Segoe UI"/>
                <a:cs typeface="Segoe UI"/>
              </a:rPr>
              <a:t>). </a:t>
            </a:r>
            <a:br>
              <a:rPr lang="de-DE" sz="1100" dirty="0">
                <a:latin typeface="Segoe UI"/>
                <a:cs typeface="Segoe UI"/>
              </a:rPr>
            </a:br>
            <a:r>
              <a:rPr lang="de-DE" sz="1100" dirty="0" err="1">
                <a:latin typeface="Segoe UI"/>
                <a:cs typeface="Segoe UI"/>
              </a:rPr>
              <a:t>Bullets</a:t>
            </a:r>
            <a:r>
              <a:rPr lang="de-DE" sz="1100" dirty="0">
                <a:latin typeface="Segoe UI"/>
                <a:cs typeface="Segoe UI"/>
              </a:rPr>
              <a:t> (</a:t>
            </a:r>
            <a:r>
              <a:rPr lang="de-DE" sz="1100" dirty="0" err="1">
                <a:latin typeface="Segoe UI"/>
                <a:cs typeface="Segoe UI"/>
              </a:rPr>
              <a:t>nivel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agencia</a:t>
            </a:r>
            <a:r>
              <a:rPr lang="de-DE" sz="1100" dirty="0">
                <a:latin typeface="Segoe UI"/>
                <a:cs typeface="Segoe UI"/>
              </a:rPr>
              <a:t>):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r>
              <a:rPr lang="de-DE" sz="1100" dirty="0">
                <a:latin typeface="Segoe UI"/>
                <a:cs typeface="Segoe UI"/>
              </a:rPr>
              <a:t>Inputs: </a:t>
            </a:r>
            <a:r>
              <a:rPr lang="de-DE" sz="1100" dirty="0" err="1">
                <a:latin typeface="Segoe UI"/>
                <a:cs typeface="Segoe UI"/>
              </a:rPr>
              <a:t>segmento</a:t>
            </a:r>
            <a:r>
              <a:rPr lang="de-DE" sz="1100" dirty="0">
                <a:latin typeface="Segoe UI"/>
                <a:cs typeface="Segoe UI"/>
              </a:rPr>
              <a:t> / </a:t>
            </a:r>
            <a:r>
              <a:rPr lang="de-DE" sz="1100" dirty="0" err="1">
                <a:latin typeface="Segoe UI"/>
                <a:cs typeface="Segoe UI"/>
              </a:rPr>
              <a:t>trigger</a:t>
            </a:r>
            <a:r>
              <a:rPr lang="de-DE" sz="1100" dirty="0">
                <a:latin typeface="Segoe UI"/>
                <a:cs typeface="Segoe UI"/>
              </a:rPr>
              <a:t> / </a:t>
            </a:r>
            <a:r>
              <a:rPr lang="de-DE" sz="1100" dirty="0" err="1">
                <a:latin typeface="Segoe UI"/>
                <a:cs typeface="Segoe UI"/>
              </a:rPr>
              <a:t>condición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r>
              <a:rPr lang="de-DE" sz="1100" dirty="0" err="1">
                <a:latin typeface="Segoe UI"/>
                <a:cs typeface="Segoe UI"/>
              </a:rPr>
              <a:t>Acción</a:t>
            </a:r>
            <a:r>
              <a:rPr lang="de-DE" sz="1100" dirty="0">
                <a:latin typeface="Segoe UI"/>
                <a:cs typeface="Segoe UI"/>
              </a:rPr>
              <a:t>: </a:t>
            </a:r>
            <a:r>
              <a:rPr lang="de-DE" sz="1100" dirty="0" err="1">
                <a:latin typeface="Segoe UI"/>
                <a:cs typeface="Segoe UI"/>
              </a:rPr>
              <a:t>publicar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newsfeed</a:t>
            </a:r>
            <a:r>
              <a:rPr lang="de-DE" sz="1100" dirty="0">
                <a:latin typeface="Segoe UI"/>
                <a:cs typeface="Segoe UI"/>
              </a:rPr>
              <a:t> + </a:t>
            </a:r>
            <a:r>
              <a:rPr lang="de-DE" sz="1100" dirty="0" err="1">
                <a:latin typeface="Segoe UI"/>
                <a:cs typeface="Segoe UI"/>
              </a:rPr>
              <a:t>cupón</a:t>
            </a:r>
            <a:r>
              <a:rPr lang="de-DE" sz="1100" dirty="0">
                <a:latin typeface="Segoe UI"/>
                <a:cs typeface="Segoe UI"/>
              </a:rPr>
              <a:t> + push </a:t>
            </a:r>
            <a:r>
              <a:rPr lang="de-DE" sz="1100" dirty="0" err="1">
                <a:latin typeface="Segoe UI"/>
                <a:cs typeface="Segoe UI"/>
              </a:rPr>
              <a:t>opcional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r>
              <a:rPr lang="de-DE" sz="1100" dirty="0" err="1">
                <a:latin typeface="Segoe UI"/>
                <a:cs typeface="Segoe UI"/>
              </a:rPr>
              <a:t>Resultado</a:t>
            </a:r>
            <a:r>
              <a:rPr lang="de-DE" sz="1100" dirty="0">
                <a:latin typeface="Segoe UI"/>
                <a:cs typeface="Segoe UI"/>
              </a:rPr>
              <a:t>: </a:t>
            </a:r>
            <a:r>
              <a:rPr lang="de-DE" sz="1100" dirty="0" err="1">
                <a:latin typeface="Segoe UI"/>
                <a:cs typeface="Segoe UI"/>
              </a:rPr>
              <a:t>progreso</a:t>
            </a:r>
            <a:r>
              <a:rPr lang="de-DE" sz="1100" dirty="0">
                <a:latin typeface="Segoe UI"/>
                <a:cs typeface="Segoe UI"/>
              </a:rPr>
              <a:t>/</a:t>
            </a:r>
            <a:r>
              <a:rPr lang="de-DE" sz="1100" dirty="0" err="1">
                <a:latin typeface="Segoe UI"/>
                <a:cs typeface="Segoe UI"/>
              </a:rPr>
              <a:t>estado</a:t>
            </a:r>
            <a:r>
              <a:rPr lang="de-DE" sz="1100" dirty="0">
                <a:latin typeface="Segoe UI"/>
                <a:cs typeface="Segoe UI"/>
              </a:rPr>
              <a:t> visible (</a:t>
            </a:r>
            <a:r>
              <a:rPr lang="de-DE" sz="1100" dirty="0" err="1">
                <a:latin typeface="Segoe UI"/>
                <a:cs typeface="Segoe UI"/>
              </a:rPr>
              <a:t>challenge</a:t>
            </a:r>
            <a:r>
              <a:rPr lang="de-DE" sz="1100" dirty="0">
                <a:latin typeface="Segoe UI"/>
                <a:cs typeface="Segoe UI"/>
              </a:rPr>
              <a:t>) </a:t>
            </a:r>
            <a:br>
              <a:rPr lang="de-DE" sz="1100" dirty="0">
                <a:latin typeface="Segoe UI"/>
                <a:cs typeface="Segoe UI"/>
              </a:rPr>
            </a:br>
            <a:r>
              <a:rPr lang="de-DE" sz="1100" dirty="0">
                <a:latin typeface="Segoe UI"/>
                <a:cs typeface="Segoe UI"/>
              </a:rPr>
              <a:t>Nota de </a:t>
            </a:r>
            <a:r>
              <a:rPr lang="de-DE" sz="1100" dirty="0" err="1">
                <a:latin typeface="Segoe UI"/>
                <a:cs typeface="Segoe UI"/>
              </a:rPr>
              <a:t>estilo</a:t>
            </a:r>
            <a:r>
              <a:rPr lang="de-DE" sz="1100" dirty="0">
                <a:latin typeface="Segoe UI"/>
                <a:cs typeface="Segoe UI"/>
              </a:rPr>
              <a:t> (</a:t>
            </a:r>
            <a:r>
              <a:rPr lang="de-DE" sz="1100" dirty="0" err="1">
                <a:latin typeface="Segoe UI"/>
                <a:cs typeface="Segoe UI"/>
              </a:rPr>
              <a:t>importante</a:t>
            </a:r>
            <a:r>
              <a:rPr lang="de-DE" sz="1100" dirty="0">
                <a:latin typeface="Segoe UI"/>
                <a:cs typeface="Segoe UI"/>
              </a:rPr>
              <a:t>): </a:t>
            </a:r>
            <a:r>
              <a:rPr lang="de-DE" sz="1100" dirty="0" err="1">
                <a:latin typeface="Segoe UI"/>
                <a:cs typeface="Segoe UI"/>
              </a:rPr>
              <a:t>evitar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pantallas</a:t>
            </a:r>
            <a:r>
              <a:rPr lang="de-DE" sz="1100" dirty="0">
                <a:latin typeface="Segoe UI"/>
                <a:cs typeface="Segoe UI"/>
              </a:rPr>
              <a:t> “</a:t>
            </a:r>
            <a:r>
              <a:rPr lang="de-DE" sz="1100" dirty="0" err="1">
                <a:latin typeface="Segoe UI"/>
                <a:cs typeface="Segoe UI"/>
              </a:rPr>
              <a:t>cero</a:t>
            </a:r>
            <a:r>
              <a:rPr lang="de-DE" sz="1100" dirty="0">
                <a:latin typeface="Segoe UI"/>
                <a:cs typeface="Segoe UI"/>
              </a:rPr>
              <a:t> sexy”; </a:t>
            </a:r>
            <a:r>
              <a:rPr lang="de-DE" sz="1100" dirty="0" err="1">
                <a:latin typeface="Segoe UI"/>
                <a:cs typeface="Segoe UI"/>
              </a:rPr>
              <a:t>usar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esquema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visual</a:t>
            </a:r>
            <a:r>
              <a:rPr lang="de-DE" sz="1100" dirty="0">
                <a:latin typeface="Segoe UI"/>
                <a:cs typeface="Segoe UI"/>
              </a:rPr>
              <a:t> y 1 </a:t>
            </a:r>
            <a:r>
              <a:rPr lang="de-DE" sz="1100" dirty="0" err="1">
                <a:latin typeface="Segoe UI"/>
                <a:cs typeface="Segoe UI"/>
              </a:rPr>
              <a:t>screenshot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máximo</a:t>
            </a:r>
            <a:r>
              <a:rPr lang="de-DE" sz="1100" dirty="0">
                <a:latin typeface="Segoe UI"/>
                <a:cs typeface="Segoe UI"/>
              </a:rPr>
              <a:t>. </a:t>
            </a:r>
            <a:br>
              <a:rPr lang="de-DE" sz="1100" dirty="0">
                <a:latin typeface="Segoe UI"/>
                <a:cs typeface="Segoe UI"/>
              </a:rPr>
            </a:br>
            <a:r>
              <a:rPr lang="de-DE" sz="1100" dirty="0">
                <a:latin typeface="Segoe UI"/>
                <a:cs typeface="Segoe UI"/>
              </a:rPr>
              <a:t>Visual: </a:t>
            </a:r>
            <a:r>
              <a:rPr lang="de-DE" sz="1100" dirty="0" err="1">
                <a:latin typeface="Segoe UI"/>
                <a:cs typeface="Segoe UI"/>
              </a:rPr>
              <a:t>diagrama</a:t>
            </a:r>
            <a:r>
              <a:rPr lang="de-DE" sz="1100" dirty="0">
                <a:latin typeface="Segoe UI"/>
                <a:cs typeface="Segoe UI"/>
              </a:rPr>
              <a:t> “Trigger → </a:t>
            </a:r>
            <a:r>
              <a:rPr lang="de-DE" sz="1100" dirty="0" err="1">
                <a:latin typeface="Segoe UI"/>
                <a:cs typeface="Segoe UI"/>
              </a:rPr>
              <a:t>Regla</a:t>
            </a:r>
            <a:r>
              <a:rPr lang="de-DE" sz="1100" dirty="0">
                <a:latin typeface="Segoe UI"/>
                <a:cs typeface="Segoe UI"/>
              </a:rPr>
              <a:t> → </a:t>
            </a:r>
            <a:r>
              <a:rPr lang="de-DE" sz="1100" dirty="0" err="1">
                <a:latin typeface="Segoe UI"/>
                <a:cs typeface="Segoe UI"/>
              </a:rPr>
              <a:t>Beneficio</a:t>
            </a:r>
            <a:r>
              <a:rPr lang="de-DE" sz="1100" dirty="0">
                <a:latin typeface="Segoe UI"/>
                <a:cs typeface="Segoe UI"/>
              </a:rPr>
              <a:t> → Progreso” </a:t>
            </a:r>
            <a:r>
              <a:rPr lang="de-DE" sz="1100" dirty="0">
                <a:latin typeface="Segoe UI"/>
                <a:cs typeface="Segoe UI"/>
                <a:hlinkClick r:id="rId2"/>
              </a:rPr>
              <a:t>[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Agencia</a:t>
            </a:r>
            <a:r>
              <a:rPr lang="de-DE" sz="1100" dirty="0">
                <a:latin typeface="Segoe UI"/>
                <a:cs typeface="Segoe UI"/>
                <a:hlinkClick r:id="rId2"/>
              </a:rPr>
              <a:t>- c...n </a:t>
            </a:r>
            <a:r>
              <a:rPr lang="de-DE" sz="1100" dirty="0" err="1">
                <a:latin typeface="Segoe UI"/>
                <a:cs typeface="Segoe UI"/>
                <a:hlinkClick r:id="rId2"/>
              </a:rPr>
              <a:t>storming</a:t>
            </a:r>
            <a:r>
              <a:rPr lang="de-DE" sz="1100" dirty="0">
                <a:latin typeface="Segoe UI"/>
                <a:cs typeface="Segoe UI"/>
                <a:hlinkClick r:id="rId2"/>
              </a:rPr>
              <a:t> | Word]</a:t>
            </a:r>
            <a:endParaRPr lang="de-DE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3557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887C-5D8E-542F-C3FF-67DD97C32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6DD4CE4-2198-33BD-9A3A-38FF5ADB8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4777" y="3838239"/>
            <a:ext cx="12921916" cy="1121835"/>
          </a:xfrm>
          <a:prstGeom prst="rect">
            <a:avLst/>
          </a:prstGeom>
        </p:spPr>
      </p:pic>
      <p:cxnSp>
        <p:nvCxnSpPr>
          <p:cNvPr id="22" name="Gerade Verbindung 44">
            <a:extLst>
              <a:ext uri="{FF2B5EF4-FFF2-40B4-BE49-F238E27FC236}">
                <a16:creationId xmlns:a16="http://schemas.microsoft.com/office/drawing/2014/main" id="{3895A3D3-7450-4816-40A6-DA0B979850D5}"/>
              </a:ext>
            </a:extLst>
          </p:cNvPr>
          <p:cNvCxnSpPr>
            <a:cxnSpLocks/>
          </p:cNvCxnSpPr>
          <p:nvPr/>
        </p:nvCxnSpPr>
        <p:spPr>
          <a:xfrm>
            <a:off x="10677620" y="3898913"/>
            <a:ext cx="0" cy="328342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94389A3-A418-14A8-A6F6-72F62F31245E}"/>
              </a:ext>
            </a:extLst>
          </p:cNvPr>
          <p:cNvSpPr txBox="1"/>
          <p:nvPr/>
        </p:nvSpPr>
        <p:spPr>
          <a:xfrm>
            <a:off x="3463569" y="4320946"/>
            <a:ext cx="2894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>
                <a:solidFill>
                  <a:srgbClr val="216CFE"/>
                </a:solidFill>
                <a:latin typeface="Wingdings" pitchFamily="2" charset="2"/>
              </a:rPr>
              <a:t></a:t>
            </a:r>
            <a:endParaRPr lang="en-US" sz="900" dirty="0">
              <a:solidFill>
                <a:srgbClr val="216CFE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DF3BE9D-0873-5F05-C137-53F848024F95}"/>
              </a:ext>
            </a:extLst>
          </p:cNvPr>
          <p:cNvSpPr/>
          <p:nvPr/>
        </p:nvSpPr>
        <p:spPr>
          <a:xfrm>
            <a:off x="3518350" y="4392053"/>
            <a:ext cx="182396" cy="182396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900">
              <a:solidFill>
                <a:srgbClr val="216CFE"/>
              </a:solidFill>
              <a:latin typeface="Sofia Sans Light" pitchFamily="2" charset="0"/>
            </a:endParaRPr>
          </a:p>
        </p:txBody>
      </p:sp>
      <p:sp>
        <p:nvSpPr>
          <p:cNvPr id="10" name="Oval 30">
            <a:extLst>
              <a:ext uri="{FF2B5EF4-FFF2-40B4-BE49-F238E27FC236}">
                <a16:creationId xmlns:a16="http://schemas.microsoft.com/office/drawing/2014/main" id="{3B93E307-32E5-9CBC-F495-A9DA27E37E9E}"/>
              </a:ext>
            </a:extLst>
          </p:cNvPr>
          <p:cNvSpPr/>
          <p:nvPr/>
        </p:nvSpPr>
        <p:spPr>
          <a:xfrm>
            <a:off x="5190538" y="3902464"/>
            <a:ext cx="182396" cy="182396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900">
              <a:solidFill>
                <a:srgbClr val="216CFE"/>
              </a:solidFill>
              <a:latin typeface="Sofia Sans Light" pitchFamily="2" charset="0"/>
            </a:endParaRPr>
          </a:p>
        </p:txBody>
      </p:sp>
      <p:sp>
        <p:nvSpPr>
          <p:cNvPr id="12" name="Oval 32">
            <a:extLst>
              <a:ext uri="{FF2B5EF4-FFF2-40B4-BE49-F238E27FC236}">
                <a16:creationId xmlns:a16="http://schemas.microsoft.com/office/drawing/2014/main" id="{2F35C905-CA94-AE10-295C-7B6E147885E3}"/>
              </a:ext>
            </a:extLst>
          </p:cNvPr>
          <p:cNvSpPr/>
          <p:nvPr/>
        </p:nvSpPr>
        <p:spPr>
          <a:xfrm>
            <a:off x="7079163" y="4460016"/>
            <a:ext cx="182036" cy="182396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900">
              <a:solidFill>
                <a:srgbClr val="216CFE"/>
              </a:solidFill>
              <a:latin typeface="Sofia Sans Light" pitchFamily="2" charset="0"/>
            </a:endParaRPr>
          </a:p>
        </p:txBody>
      </p:sp>
      <p:sp>
        <p:nvSpPr>
          <p:cNvPr id="13" name="Oval 34">
            <a:extLst>
              <a:ext uri="{FF2B5EF4-FFF2-40B4-BE49-F238E27FC236}">
                <a16:creationId xmlns:a16="http://schemas.microsoft.com/office/drawing/2014/main" id="{7015214C-82E6-76FD-9064-330107572458}"/>
              </a:ext>
            </a:extLst>
          </p:cNvPr>
          <p:cNvSpPr/>
          <p:nvPr/>
        </p:nvSpPr>
        <p:spPr>
          <a:xfrm>
            <a:off x="8848639" y="4264423"/>
            <a:ext cx="182396" cy="182396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900">
              <a:solidFill>
                <a:srgbClr val="216CFE"/>
              </a:solidFill>
              <a:latin typeface="Sofia Sans Light" pitchFamily="2" charset="0"/>
            </a:endParaRPr>
          </a:p>
        </p:txBody>
      </p:sp>
      <p:sp>
        <p:nvSpPr>
          <p:cNvPr id="14" name="Oval 36">
            <a:extLst>
              <a:ext uri="{FF2B5EF4-FFF2-40B4-BE49-F238E27FC236}">
                <a16:creationId xmlns:a16="http://schemas.microsoft.com/office/drawing/2014/main" id="{53A9152D-E7A9-9B4F-75C8-32740562FE85}"/>
              </a:ext>
            </a:extLst>
          </p:cNvPr>
          <p:cNvSpPr/>
          <p:nvPr/>
        </p:nvSpPr>
        <p:spPr>
          <a:xfrm>
            <a:off x="10594790" y="4240139"/>
            <a:ext cx="182396" cy="182396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900">
              <a:solidFill>
                <a:srgbClr val="216CFE"/>
              </a:solidFill>
              <a:latin typeface="Sofia Sans Light" pitchFamily="2" charset="0"/>
            </a:endParaRPr>
          </a:p>
        </p:txBody>
      </p:sp>
      <p:sp>
        <p:nvSpPr>
          <p:cNvPr id="16" name="Oval 38">
            <a:extLst>
              <a:ext uri="{FF2B5EF4-FFF2-40B4-BE49-F238E27FC236}">
                <a16:creationId xmlns:a16="http://schemas.microsoft.com/office/drawing/2014/main" id="{2A5C6916-2D18-601B-714C-AF33C4F0A749}"/>
              </a:ext>
            </a:extLst>
          </p:cNvPr>
          <p:cNvSpPr/>
          <p:nvPr/>
        </p:nvSpPr>
        <p:spPr>
          <a:xfrm>
            <a:off x="834350" y="3693110"/>
            <a:ext cx="182396" cy="182396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900">
              <a:solidFill>
                <a:srgbClr val="216CFE"/>
              </a:solidFill>
              <a:latin typeface="Sofia Sans Light" pitchFamily="2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58692FE-C919-AD43-0F10-CAD0FF547378}"/>
              </a:ext>
            </a:extLst>
          </p:cNvPr>
          <p:cNvSpPr txBox="1"/>
          <p:nvPr/>
        </p:nvSpPr>
        <p:spPr>
          <a:xfrm>
            <a:off x="5136520" y="3829564"/>
            <a:ext cx="24857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>
                <a:solidFill>
                  <a:srgbClr val="216CFE"/>
                </a:solidFill>
                <a:latin typeface="Wingdings" pitchFamily="2" charset="2"/>
              </a:rPr>
              <a:t></a:t>
            </a:r>
            <a:endParaRPr lang="en-US" sz="900" dirty="0">
              <a:solidFill>
                <a:srgbClr val="216CFE"/>
              </a:solidFill>
            </a:endParaRPr>
          </a:p>
        </p:txBody>
      </p:sp>
      <p:cxnSp>
        <p:nvCxnSpPr>
          <p:cNvPr id="17" name="Gerade Verbindung 39">
            <a:extLst>
              <a:ext uri="{FF2B5EF4-FFF2-40B4-BE49-F238E27FC236}">
                <a16:creationId xmlns:a16="http://schemas.microsoft.com/office/drawing/2014/main" id="{3CA10BCF-771D-8AF9-2501-639823106F36}"/>
              </a:ext>
            </a:extLst>
          </p:cNvPr>
          <p:cNvCxnSpPr>
            <a:cxnSpLocks/>
          </p:cNvCxnSpPr>
          <p:nvPr/>
        </p:nvCxnSpPr>
        <p:spPr>
          <a:xfrm flipV="1">
            <a:off x="925548" y="3876764"/>
            <a:ext cx="0" cy="218084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40">
            <a:extLst>
              <a:ext uri="{FF2B5EF4-FFF2-40B4-BE49-F238E27FC236}">
                <a16:creationId xmlns:a16="http://schemas.microsoft.com/office/drawing/2014/main" id="{2C606B03-941C-0F46-F678-643708059E86}"/>
              </a:ext>
            </a:extLst>
          </p:cNvPr>
          <p:cNvCxnSpPr>
            <a:cxnSpLocks/>
            <a:stCxn id="8" idx="4"/>
          </p:cNvCxnSpPr>
          <p:nvPr/>
        </p:nvCxnSpPr>
        <p:spPr>
          <a:xfrm flipH="1">
            <a:off x="3609548" y="4574449"/>
            <a:ext cx="1" cy="184467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41">
            <a:extLst>
              <a:ext uri="{FF2B5EF4-FFF2-40B4-BE49-F238E27FC236}">
                <a16:creationId xmlns:a16="http://schemas.microsoft.com/office/drawing/2014/main" id="{2CE99E24-DFA1-E3D0-CAD7-DA2FAF56A813}"/>
              </a:ext>
            </a:extLst>
          </p:cNvPr>
          <p:cNvCxnSpPr>
            <a:cxnSpLocks/>
          </p:cNvCxnSpPr>
          <p:nvPr/>
        </p:nvCxnSpPr>
        <p:spPr>
          <a:xfrm flipV="1">
            <a:off x="5283905" y="4094848"/>
            <a:ext cx="0" cy="218084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42">
            <a:extLst>
              <a:ext uri="{FF2B5EF4-FFF2-40B4-BE49-F238E27FC236}">
                <a16:creationId xmlns:a16="http://schemas.microsoft.com/office/drawing/2014/main" id="{DFB7E66F-89FF-3A1B-1CC9-B958352DC695}"/>
              </a:ext>
            </a:extLst>
          </p:cNvPr>
          <p:cNvCxnSpPr>
            <a:cxnSpLocks/>
            <a:endCxn id="13" idx="4"/>
          </p:cNvCxnSpPr>
          <p:nvPr/>
        </p:nvCxnSpPr>
        <p:spPr>
          <a:xfrm flipV="1">
            <a:off x="8939836" y="4446819"/>
            <a:ext cx="1" cy="36936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43">
            <a:extLst>
              <a:ext uri="{FF2B5EF4-FFF2-40B4-BE49-F238E27FC236}">
                <a16:creationId xmlns:a16="http://schemas.microsoft.com/office/drawing/2014/main" id="{1DDA2B49-FE14-EEC0-F76F-D014AEE81C92}"/>
              </a:ext>
            </a:extLst>
          </p:cNvPr>
          <p:cNvCxnSpPr/>
          <p:nvPr/>
        </p:nvCxnSpPr>
        <p:spPr>
          <a:xfrm flipH="1">
            <a:off x="7172473" y="4277881"/>
            <a:ext cx="1" cy="184467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BBA9234-6A8B-ACAB-81CB-EE381694DD46}"/>
              </a:ext>
            </a:extLst>
          </p:cNvPr>
          <p:cNvSpPr txBox="1"/>
          <p:nvPr/>
        </p:nvSpPr>
        <p:spPr>
          <a:xfrm>
            <a:off x="2416036" y="4961151"/>
            <a:ext cx="26706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ofia Sans Light" pitchFamily="2" charset="0"/>
              </a:defRPr>
            </a:lvl1pPr>
          </a:lstStyle>
          <a:p>
            <a:r>
              <a:rPr lang="es-ES" sz="1600" dirty="0">
                <a:solidFill>
                  <a:srgbClr val="216CFE"/>
                </a:solidFill>
                <a:latin typeface="Wingdings" pitchFamily="2" charset="2"/>
              </a:rPr>
              <a:t></a:t>
            </a:r>
            <a:r>
              <a:rPr lang="es-ES_tradnl" sz="1200" dirty="0">
                <a:solidFill>
                  <a:srgbClr val="216CFE"/>
                </a:solidFill>
              </a:rPr>
              <a:t> </a:t>
            </a:r>
            <a:r>
              <a:rPr lang="es-ES_tradnl" sz="1600" dirty="0">
                <a:solidFill>
                  <a:srgbClr val="216CFE"/>
                </a:solidFill>
                <a:latin typeface="Sofia Sans Medium" pitchFamily="2" charset="0"/>
              </a:rPr>
              <a:t>Registro en App / Programa</a:t>
            </a:r>
          </a:p>
          <a:p>
            <a:endParaRPr lang="es-ES_tradnl" sz="1600" dirty="0">
              <a:solidFill>
                <a:srgbClr val="F72485"/>
              </a:solidFill>
              <a:latin typeface="Sofia Sans Medium" pitchFamily="2" charset="0"/>
            </a:endParaRPr>
          </a:p>
          <a:p>
            <a:r>
              <a:rPr lang="es-ES_tradnl" sz="1200" dirty="0"/>
              <a:t>- A la llegada, el recepcionista asiste al registro en la app.</a:t>
            </a:r>
          </a:p>
          <a:p>
            <a:endParaRPr lang="es-ES_tradnl" sz="1200" dirty="0"/>
          </a:p>
          <a:p>
            <a:r>
              <a:rPr lang="es-ES_tradnl" sz="1200" dirty="0"/>
              <a:t>- Se crea un panel personalizado “Mi Aventura”.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529F090-72C0-D3A4-390E-37454C46B887}"/>
              </a:ext>
            </a:extLst>
          </p:cNvPr>
          <p:cNvSpPr txBox="1"/>
          <p:nvPr/>
        </p:nvSpPr>
        <p:spPr>
          <a:xfrm>
            <a:off x="4576763" y="1928067"/>
            <a:ext cx="2694171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ofia Sans Light" pitchFamily="2" charset="0"/>
              </a:defRPr>
            </a:lvl1pPr>
          </a:lstStyle>
          <a:p>
            <a:r>
              <a:rPr lang="es-ES" sz="1600" dirty="0">
                <a:solidFill>
                  <a:srgbClr val="216CFE"/>
                </a:solidFill>
                <a:latin typeface="Wingdings" pitchFamily="2" charset="2"/>
              </a:rPr>
              <a:t></a:t>
            </a:r>
            <a:r>
              <a:rPr lang="es-ES_tradnl" sz="1200" dirty="0">
                <a:solidFill>
                  <a:srgbClr val="216CFE"/>
                </a:solidFill>
              </a:rPr>
              <a:t> </a:t>
            </a:r>
            <a:r>
              <a:rPr lang="es-ES_tradnl" sz="1600" dirty="0">
                <a:solidFill>
                  <a:srgbClr val="216CFE"/>
                </a:solidFill>
                <a:latin typeface="Sofia Sans Medium" pitchFamily="2" charset="0"/>
              </a:rPr>
              <a:t>Actividades diarias</a:t>
            </a:r>
          </a:p>
          <a:p>
            <a:endParaRPr lang="es-ES_tradnl" sz="1200" dirty="0"/>
          </a:p>
          <a:p>
            <a:r>
              <a:rPr lang="es-ES_tradnl" sz="1200" dirty="0"/>
              <a:t>- Por cada actividad completada (búsqueda del tesoro, clase de cocina, torneo de fútbol, taller de arte), los niños/</a:t>
            </a:r>
            <a:r>
              <a:rPr lang="es-ES_tradnl" sz="1200" dirty="0" err="1"/>
              <a:t>paritcipantes</a:t>
            </a:r>
            <a:r>
              <a:rPr lang="es-ES_tradnl" sz="1200" dirty="0"/>
              <a:t> escanean un QR o son marcados por el staff desde la app (integración POS).</a:t>
            </a:r>
          </a:p>
          <a:p>
            <a:endParaRPr lang="es-ES_tradnl" sz="1200" dirty="0"/>
          </a:p>
          <a:p>
            <a:r>
              <a:rPr lang="es-ES_tradnl" sz="1200" dirty="0"/>
              <a:t>- Cada logro suma “estrellas digitales”.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84FE317-029B-AA23-ADDD-8067B0C01901}"/>
              </a:ext>
            </a:extLst>
          </p:cNvPr>
          <p:cNvSpPr txBox="1"/>
          <p:nvPr/>
        </p:nvSpPr>
        <p:spPr>
          <a:xfrm>
            <a:off x="6330476" y="4961151"/>
            <a:ext cx="247213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ofia Sans Light" pitchFamily="2" charset="0"/>
              </a:defRPr>
            </a:lvl1pPr>
          </a:lstStyle>
          <a:p>
            <a:r>
              <a:rPr lang="es-ES" sz="1600" dirty="0">
                <a:solidFill>
                  <a:srgbClr val="216CFE"/>
                </a:solidFill>
                <a:latin typeface="Wingdings" pitchFamily="2" charset="2"/>
              </a:rPr>
              <a:t></a:t>
            </a:r>
            <a:r>
              <a:rPr lang="es-ES" sz="1200" dirty="0">
                <a:solidFill>
                  <a:srgbClr val="216CFE"/>
                </a:solidFill>
                <a:latin typeface="Wingdings" pitchFamily="2" charset="2"/>
              </a:rPr>
              <a:t> </a:t>
            </a:r>
            <a:r>
              <a:rPr lang="es-ES_tradnl" sz="1600" dirty="0">
                <a:solidFill>
                  <a:srgbClr val="216CFE"/>
                </a:solidFill>
                <a:latin typeface="Sofia Sans Medium" pitchFamily="2" charset="0"/>
              </a:rPr>
              <a:t>Progresión </a:t>
            </a:r>
            <a:r>
              <a:rPr lang="es-ES_tradnl" sz="1600" dirty="0" err="1">
                <a:solidFill>
                  <a:srgbClr val="216CFE"/>
                </a:solidFill>
                <a:latin typeface="Sofia Sans Medium" pitchFamily="2" charset="0"/>
              </a:rPr>
              <a:t>gamificada</a:t>
            </a:r>
            <a:endParaRPr lang="es-ES_tradnl" sz="1600" dirty="0">
              <a:solidFill>
                <a:srgbClr val="216CFE"/>
              </a:solidFill>
              <a:latin typeface="Sofia Sans Medium" pitchFamily="2" charset="0"/>
            </a:endParaRPr>
          </a:p>
          <a:p>
            <a:endParaRPr lang="es-ES_tradnl" sz="1200" dirty="0"/>
          </a:p>
          <a:p>
            <a:r>
              <a:rPr lang="es-ES_tradnl" sz="1200" dirty="0"/>
              <a:t>- Cada actividad desbloquea mensajes personalizados (“¡Felicitaciones, ya solo falta una actividad para ganar un batido gratis en el bar de piscina!”).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3EE9CAD-A79B-D205-3A13-F1B011CDFE0D}"/>
              </a:ext>
            </a:extLst>
          </p:cNvPr>
          <p:cNvSpPr txBox="1"/>
          <p:nvPr/>
        </p:nvSpPr>
        <p:spPr>
          <a:xfrm>
            <a:off x="7979573" y="2450317"/>
            <a:ext cx="203880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ofia Sans Light" pitchFamily="2" charset="0"/>
              </a:defRPr>
            </a:lvl1pPr>
          </a:lstStyle>
          <a:p>
            <a:r>
              <a:rPr lang="es-ES" sz="1600" dirty="0">
                <a:solidFill>
                  <a:srgbClr val="216CFE"/>
                </a:solidFill>
                <a:latin typeface="Wingdings" pitchFamily="2" charset="2"/>
              </a:rPr>
              <a:t></a:t>
            </a:r>
            <a:r>
              <a:rPr lang="es-ES_tradnl" sz="1600" dirty="0">
                <a:solidFill>
                  <a:srgbClr val="216CFE"/>
                </a:solidFill>
              </a:rPr>
              <a:t> </a:t>
            </a:r>
            <a:r>
              <a:rPr lang="es-ES_tradnl" sz="1600" dirty="0">
                <a:solidFill>
                  <a:srgbClr val="216CFE"/>
                </a:solidFill>
                <a:latin typeface="Sofia Sans Medium" pitchFamily="2" charset="0"/>
              </a:rPr>
              <a:t>Recompensa final</a:t>
            </a:r>
          </a:p>
          <a:p>
            <a:endParaRPr lang="es-ES_tradnl" sz="1200" dirty="0"/>
          </a:p>
          <a:p>
            <a:r>
              <a:rPr lang="es-ES_tradnl" sz="1200" dirty="0"/>
              <a:t>- Al alcanzar cierto número de estrellas, la familia recibe cupones automáticos: snacks, acceso prioritario a cenas temáticas, foto familiar impresa, etc.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D8AF35A1-3803-46DD-DD0A-32F99B23C89E}"/>
              </a:ext>
            </a:extLst>
          </p:cNvPr>
          <p:cNvSpPr txBox="1"/>
          <p:nvPr/>
        </p:nvSpPr>
        <p:spPr>
          <a:xfrm>
            <a:off x="9747709" y="4961151"/>
            <a:ext cx="244270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ofia Sans Light" pitchFamily="2" charset="0"/>
              </a:defRPr>
            </a:lvl1pPr>
          </a:lstStyle>
          <a:p>
            <a:r>
              <a:rPr lang="es-ES" sz="1600" dirty="0">
                <a:solidFill>
                  <a:srgbClr val="216CFE"/>
                </a:solidFill>
                <a:latin typeface="Wingdings" pitchFamily="2" charset="2"/>
              </a:rPr>
              <a:t></a:t>
            </a:r>
            <a:r>
              <a:rPr lang="es-ES_tradnl" sz="1200" dirty="0">
                <a:solidFill>
                  <a:srgbClr val="216CFE"/>
                </a:solidFill>
              </a:rPr>
              <a:t> </a:t>
            </a:r>
            <a:r>
              <a:rPr lang="es-ES_tradnl" sz="1600" dirty="0" err="1">
                <a:solidFill>
                  <a:srgbClr val="216CFE"/>
                </a:solidFill>
                <a:latin typeface="Sofia Sans Medium" pitchFamily="2" charset="0"/>
              </a:rPr>
              <a:t>Check-out</a:t>
            </a:r>
            <a:endParaRPr lang="es-ES_tradnl" sz="1600" dirty="0">
              <a:solidFill>
                <a:srgbClr val="216CFE"/>
              </a:solidFill>
              <a:latin typeface="Sofia Sans Medium" pitchFamily="2" charset="0"/>
            </a:endParaRPr>
          </a:p>
          <a:p>
            <a:endParaRPr lang="es-ES_tradnl" sz="1200" dirty="0"/>
          </a:p>
          <a:p>
            <a:r>
              <a:rPr lang="es-ES_tradnl" sz="1200" dirty="0"/>
              <a:t>- Mensaje final agradeciendo su participación e invitando a compartir su experiencia con una foto personalizada digital y 10% off en próximas vacaciones si reservan antes de 30 días.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8CBE7E6-8C97-9D86-3BF7-672B317F1E93}"/>
              </a:ext>
            </a:extLst>
          </p:cNvPr>
          <p:cNvSpPr txBox="1"/>
          <p:nvPr/>
        </p:nvSpPr>
        <p:spPr>
          <a:xfrm>
            <a:off x="780843" y="3631142"/>
            <a:ext cx="2894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>
                <a:solidFill>
                  <a:srgbClr val="216CFE"/>
                </a:solidFill>
                <a:latin typeface="Wingdings" pitchFamily="2" charset="2"/>
              </a:rPr>
              <a:t></a:t>
            </a:r>
            <a:endParaRPr lang="en-US" sz="900" dirty="0">
              <a:solidFill>
                <a:srgbClr val="216CFE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6D7C2C4-FC5F-A2A2-C69C-C2A9C4DFD6E4}"/>
              </a:ext>
            </a:extLst>
          </p:cNvPr>
          <p:cNvSpPr txBox="1"/>
          <p:nvPr/>
        </p:nvSpPr>
        <p:spPr>
          <a:xfrm>
            <a:off x="7023003" y="4387026"/>
            <a:ext cx="28725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900" dirty="0">
                <a:solidFill>
                  <a:srgbClr val="216CFE"/>
                </a:solidFill>
                <a:latin typeface="Wingdings" pitchFamily="2" charset="2"/>
              </a:rPr>
              <a:t></a:t>
            </a:r>
            <a:endParaRPr lang="en-US" sz="900" dirty="0">
              <a:solidFill>
                <a:srgbClr val="216CFE"/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E3487570-E023-D7E2-B68C-4C9B95244867}"/>
              </a:ext>
            </a:extLst>
          </p:cNvPr>
          <p:cNvSpPr txBox="1"/>
          <p:nvPr/>
        </p:nvSpPr>
        <p:spPr>
          <a:xfrm>
            <a:off x="10546911" y="4169754"/>
            <a:ext cx="28725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900" dirty="0">
                <a:solidFill>
                  <a:srgbClr val="216CFE"/>
                </a:solidFill>
                <a:latin typeface="Wingdings" pitchFamily="2" charset="2"/>
              </a:rPr>
              <a:t></a:t>
            </a:r>
            <a:endParaRPr lang="en-US" sz="900" dirty="0">
              <a:solidFill>
                <a:srgbClr val="216CFE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2850169-306A-0E8C-69E8-D9F24930F75D}"/>
              </a:ext>
            </a:extLst>
          </p:cNvPr>
          <p:cNvSpPr txBox="1"/>
          <p:nvPr/>
        </p:nvSpPr>
        <p:spPr>
          <a:xfrm>
            <a:off x="8797419" y="4189672"/>
            <a:ext cx="28725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900" dirty="0">
                <a:solidFill>
                  <a:srgbClr val="216CFE"/>
                </a:solidFill>
                <a:latin typeface="Wingdings" pitchFamily="2" charset="2"/>
              </a:rPr>
              <a:t></a:t>
            </a:r>
            <a:endParaRPr lang="en-US" sz="900" dirty="0">
              <a:solidFill>
                <a:srgbClr val="216CFE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6AD5B3-F4DF-CBCC-7FBB-00F1EA83E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_tradnl" noProof="0" dirty="0"/>
              <a:t>Lealtad Social: Aventura Familiar, búsqueda del tesoro.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13AF16-3412-87A8-C7D4-7D16119B2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57" y="885115"/>
            <a:ext cx="10913268" cy="629110"/>
          </a:xfrm>
        </p:spPr>
        <p:txBody>
          <a:bodyPr>
            <a:normAutofit fontScale="92500" lnSpcReduction="20000"/>
          </a:bodyPr>
          <a:lstStyle/>
          <a:p>
            <a:r>
              <a:rPr lang="es-ES_tradnl" sz="2000" dirty="0">
                <a:latin typeface="Sofia Sans Medium" pitchFamily="2" charset="0"/>
              </a:rPr>
              <a:t>Incrementar la participación de familias en actividades del hotel y aumentar el consumo en servicios complementarios (F&amp;B, souvenirs, experiencias locales).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6AC9A30-9450-10EE-9EFA-9A589007BCE4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" r="8"/>
          <a:stretch/>
        </p:blipFill>
        <p:spPr bwMode="auto">
          <a:xfrm>
            <a:off x="10737892" y="2492311"/>
            <a:ext cx="1215189" cy="1116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CE8A0B88-60A2-3F9A-0739-9A407BE1F1AF}"/>
              </a:ext>
            </a:extLst>
          </p:cNvPr>
          <p:cNvSpPr txBox="1"/>
          <p:nvPr/>
        </p:nvSpPr>
        <p:spPr>
          <a:xfrm>
            <a:off x="459564" y="1976040"/>
            <a:ext cx="32934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216CFE"/>
                </a:solidFill>
                <a:latin typeface="Wingdings" pitchFamily="2" charset="2"/>
              </a:rPr>
              <a:t></a:t>
            </a:r>
            <a:r>
              <a:rPr lang="es-ES_tradnl" sz="1200" dirty="0">
                <a:solidFill>
                  <a:srgbClr val="216CFE"/>
                </a:solidFill>
                <a:latin typeface="Sofia Sans Light" pitchFamily="2" charset="0"/>
              </a:rPr>
              <a:t> </a:t>
            </a:r>
            <a:r>
              <a:rPr lang="es-ES_tradnl" sz="1600" dirty="0" err="1">
                <a:solidFill>
                  <a:srgbClr val="216CFE"/>
                </a:solidFill>
                <a:latin typeface="Sofia Sans Medium" pitchFamily="2" charset="0"/>
              </a:rPr>
              <a:t>Check</a:t>
            </a:r>
            <a:r>
              <a:rPr lang="es-ES_tradnl" sz="1600" dirty="0">
                <a:solidFill>
                  <a:srgbClr val="216CFE"/>
                </a:solidFill>
                <a:latin typeface="Sofia Sans Medium" pitchFamily="2" charset="0"/>
              </a:rPr>
              <a:t>-in</a:t>
            </a:r>
            <a:endParaRPr lang="es-ES_tradnl" sz="1200" dirty="0">
              <a:solidFill>
                <a:srgbClr val="216CFE"/>
              </a:solidFill>
              <a:latin typeface="Sofia Sans Medium" pitchFamily="2" charset="0"/>
            </a:endParaRPr>
          </a:p>
          <a:p>
            <a:endParaRPr lang="es-ES_tradnl" sz="1200" dirty="0">
              <a:latin typeface="Sofia Sans Light" pitchFamily="2" charset="0"/>
            </a:endParaRPr>
          </a:p>
          <a:p>
            <a:r>
              <a:rPr lang="es-ES_tradnl" sz="1200" dirty="0">
                <a:latin typeface="Sofia Sans Light" pitchFamily="2" charset="0"/>
              </a:rPr>
              <a:t>- El sistema identifica una reserva familiar/grupo.</a:t>
            </a:r>
          </a:p>
          <a:p>
            <a:r>
              <a:rPr lang="es-ES_tradnl" sz="1200" dirty="0">
                <a:latin typeface="Sofia Sans Light" pitchFamily="2" charset="0"/>
              </a:rPr>
              <a:t>- Mensaje de bienvenida: “¡Bienvenidos, familia! ¡Consigue estrellas participando en nuestras actividades y canjéalas por sorpresas!”</a:t>
            </a:r>
          </a:p>
        </p:txBody>
      </p:sp>
      <p:pic>
        <p:nvPicPr>
          <p:cNvPr id="11" name="Grafik 3" descr="Ein Bild, das Kreis, Grafiken, Symbol, Grafikdesign enthält.&#10;&#10;KI-generierte Inhalte können fehlerhaft sein.">
            <a:extLst>
              <a:ext uri="{FF2B5EF4-FFF2-40B4-BE49-F238E27FC236}">
                <a16:creationId xmlns:a16="http://schemas.microsoft.com/office/drawing/2014/main" id="{54AF5224-C812-B88A-7797-915324A340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82" y="807391"/>
            <a:ext cx="730071" cy="73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900272"/>
      </p:ext>
    </p:extLst>
  </p:cSld>
  <p:clrMapOvr>
    <a:masterClrMapping/>
  </p:clrMapOvr>
  <p:transition/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2B0A2A-025E-11FD-52C4-F5AD7B97C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6DB5CC-5EC5-79D4-8E38-1450A4ECF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Slide 12 — Enablement: qué necesita una agencia para operar</a:t>
            </a:r>
          </a:p>
          <a:p>
            <a:r>
              <a:rPr lang="de-DE" sz="1100" b="1">
                <a:latin typeface="Segoe UI"/>
                <a:cs typeface="Segoe UI"/>
              </a:rPr>
              <a:t>Título:</a:t>
            </a:r>
            <a:r>
              <a:rPr lang="de-DE" sz="1100">
                <a:latin typeface="Segoe UI"/>
                <a:cs typeface="Segoe UI"/>
              </a:rPr>
              <a:t> </a:t>
            </a:r>
            <a:r>
              <a:rPr lang="de-DE" sz="1100" i="1">
                <a:latin typeface="Segoe UI"/>
                <a:cs typeface="Segoe UI"/>
              </a:rPr>
              <a:t>Enablement: de “lo vendo” a “lo opero”</a:t>
            </a:r>
            <a:br>
              <a:rPr lang="de-DE" sz="1100" i="1" dirty="0">
                <a:latin typeface="Segoe UI"/>
                <a:cs typeface="Segoe UI"/>
              </a:rPr>
            </a:br>
            <a:r>
              <a:rPr lang="de-DE" sz="1100" i="1">
                <a:latin typeface="Segoe UI"/>
                <a:cs typeface="Segoe UI"/>
              </a:rPr>
              <a:t> </a:t>
            </a:r>
            <a:r>
              <a:rPr lang="de-DE" sz="1100" b="1">
                <a:latin typeface="Segoe UI"/>
                <a:cs typeface="Segoe UI"/>
              </a:rPr>
              <a:t>Bullets (por niveles):</a:t>
            </a:r>
            <a:endParaRPr lang="de-DE"/>
          </a:p>
          <a:p>
            <a:r>
              <a:rPr lang="de-DE" sz="1100">
                <a:latin typeface="Segoe UI"/>
                <a:cs typeface="Segoe UI"/>
              </a:rPr>
              <a:t>Nivel 1: entender casos &amp; narrativa (industria/objetivo)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endParaRPr lang="de-DE"/>
          </a:p>
          <a:p>
            <a:r>
              <a:rPr lang="de-DE" sz="1100">
                <a:latin typeface="Segoe UI"/>
                <a:cs typeface="Segoe UI"/>
              </a:rPr>
              <a:t>Nivel 2: operar toolkit (newsfeeds, cupones, experiences)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endParaRPr lang="de-DE"/>
          </a:p>
          <a:p>
            <a:r>
              <a:rPr lang="de-DE" sz="1100">
                <a:latin typeface="Segoe UI"/>
                <a:cs typeface="Segoe UI"/>
              </a:rPr>
              <a:t>Nivel 3: soporte y QA (p.ej. 16h/mes como idea de modelo)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endParaRPr lang="de-DE"/>
          </a:p>
          <a:p>
            <a:r>
              <a:rPr lang="de-DE" sz="1100">
                <a:latin typeface="Segoe UI"/>
                <a:cs typeface="Segoe UI"/>
              </a:rPr>
              <a:t>Tecnología entra </a:t>
            </a:r>
            <a:r>
              <a:rPr lang="de-DE" sz="1100" b="1">
                <a:latin typeface="Segoe UI"/>
                <a:cs typeface="Segoe UI"/>
              </a:rPr>
              <a:t>después</a:t>
            </a:r>
            <a:r>
              <a:rPr lang="de-DE" sz="1100">
                <a:latin typeface="Segoe UI"/>
                <a:cs typeface="Segoe UI"/>
              </a:rPr>
              <a:t>, cuando el discurso ya hace puente (para que no “se desmayen”). </a:t>
            </a:r>
            <a:br>
              <a:rPr lang="de-DE" sz="1100" dirty="0">
                <a:latin typeface="Segoe UI"/>
                <a:cs typeface="Segoe UI"/>
              </a:rPr>
            </a:br>
            <a:r>
              <a:rPr lang="de-DE" sz="1100">
                <a:latin typeface="Segoe UI"/>
                <a:cs typeface="Segoe UI"/>
              </a:rPr>
              <a:t>Visual: escalera 1–2–3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endParaRPr lang="de-DE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31398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D946F8-05D4-4FE7-531E-689470A4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E76EB7-2BAF-A615-93B1-AD59818E1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sz="1100" b="1" dirty="0" err="1">
                <a:latin typeface="Segoe UI"/>
                <a:cs typeface="Segoe UI"/>
              </a:rPr>
              <a:t>Título</a:t>
            </a:r>
            <a:r>
              <a:rPr lang="de-DE" sz="1100" b="1" dirty="0">
                <a:latin typeface="Segoe UI"/>
                <a:cs typeface="Segoe UI"/>
              </a:rPr>
              <a:t>: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i="1" dirty="0">
                <a:latin typeface="Segoe UI"/>
                <a:cs typeface="Segoe UI"/>
              </a:rPr>
              <a:t>Materiales en </a:t>
            </a:r>
            <a:r>
              <a:rPr lang="de-DE" sz="1100" i="1" dirty="0" err="1">
                <a:latin typeface="Segoe UI"/>
                <a:cs typeface="Segoe UI"/>
              </a:rPr>
              <a:t>español</a:t>
            </a: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para</a:t>
            </a: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i="1" dirty="0" err="1">
                <a:latin typeface="Segoe UI"/>
                <a:cs typeface="Segoe UI"/>
              </a:rPr>
              <a:t>vender</a:t>
            </a:r>
            <a:br>
              <a:rPr lang="de-DE" sz="1100" i="1" dirty="0">
                <a:latin typeface="Segoe UI"/>
                <a:cs typeface="Segoe UI"/>
              </a:rPr>
            </a:br>
            <a:r>
              <a:rPr lang="de-DE" sz="1100" i="1" dirty="0">
                <a:latin typeface="Segoe UI"/>
                <a:cs typeface="Segoe UI"/>
              </a:rPr>
              <a:t> </a:t>
            </a:r>
            <a:r>
              <a:rPr lang="de-DE" sz="1100" b="1" dirty="0" err="1">
                <a:latin typeface="Segoe UI"/>
                <a:cs typeface="Segoe UI"/>
              </a:rPr>
              <a:t>Bullets</a:t>
            </a:r>
            <a:r>
              <a:rPr lang="de-DE" sz="1100" b="1" dirty="0">
                <a:latin typeface="Segoe UI"/>
                <a:cs typeface="Segoe UI"/>
              </a:rPr>
              <a:t>:</a:t>
            </a:r>
            <a:endParaRPr lang="de-DE" dirty="0"/>
          </a:p>
          <a:p>
            <a:r>
              <a:rPr lang="de-DE" sz="1100" dirty="0">
                <a:latin typeface="Segoe UI"/>
                <a:cs typeface="Segoe UI"/>
              </a:rPr>
              <a:t>Necesario </a:t>
            </a:r>
            <a:r>
              <a:rPr lang="de-DE" sz="1100" dirty="0" err="1">
                <a:latin typeface="Segoe UI"/>
                <a:cs typeface="Segoe UI"/>
              </a:rPr>
              <a:t>tener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demo</a:t>
            </a:r>
            <a:r>
              <a:rPr lang="de-DE" sz="1100" dirty="0">
                <a:latin typeface="Segoe UI"/>
                <a:cs typeface="Segoe UI"/>
              </a:rPr>
              <a:t>/</a:t>
            </a:r>
            <a:r>
              <a:rPr lang="de-DE" sz="1100" dirty="0" err="1">
                <a:latin typeface="Segoe UI"/>
                <a:cs typeface="Segoe UI"/>
              </a:rPr>
              <a:t>ejemplos</a:t>
            </a:r>
            <a:r>
              <a:rPr lang="de-DE" sz="1100" dirty="0">
                <a:latin typeface="Segoe UI"/>
                <a:cs typeface="Segoe UI"/>
              </a:rPr>
              <a:t> en </a:t>
            </a:r>
            <a:r>
              <a:rPr lang="de-DE" sz="1100" dirty="0" err="1">
                <a:latin typeface="Segoe UI"/>
                <a:cs typeface="Segoe UI"/>
              </a:rPr>
              <a:t>español</a:t>
            </a:r>
            <a:r>
              <a:rPr lang="de-DE" sz="1100" dirty="0">
                <a:latin typeface="Segoe UI"/>
                <a:cs typeface="Segoe UI"/>
              </a:rPr>
              <a:t> (o “fake” en PowerPoint) </a:t>
            </a:r>
            <a:r>
              <a:rPr lang="de-DE" sz="1100" dirty="0">
                <a:latin typeface="Segoe UI"/>
                <a:cs typeface="Segoe UI"/>
                <a:hlinkClick r:id="rId3"/>
              </a:rPr>
              <a:t>[Agencia- c...n storming | Word]</a:t>
            </a:r>
            <a:endParaRPr lang="de-DE" dirty="0"/>
          </a:p>
          <a:p>
            <a:r>
              <a:rPr lang="de-DE" sz="1100" dirty="0" err="1">
                <a:latin typeface="Segoe UI"/>
                <a:cs typeface="Segoe UI"/>
              </a:rPr>
              <a:t>Seleccionar</a:t>
            </a:r>
            <a:r>
              <a:rPr lang="de-DE" sz="1100" dirty="0">
                <a:latin typeface="Segoe UI"/>
                <a:cs typeface="Segoe UI"/>
              </a:rPr>
              <a:t> 3–5 </a:t>
            </a:r>
            <a:r>
              <a:rPr lang="de-DE" sz="1100" dirty="0" err="1">
                <a:latin typeface="Segoe UI"/>
                <a:cs typeface="Segoe UI"/>
              </a:rPr>
              <a:t>newsfeeds</a:t>
            </a:r>
            <a:r>
              <a:rPr lang="de-DE" sz="1100" dirty="0">
                <a:latin typeface="Segoe UI"/>
                <a:cs typeface="Segoe UI"/>
              </a:rPr>
              <a:t> y </a:t>
            </a:r>
            <a:r>
              <a:rPr lang="de-DE" sz="1100" dirty="0" err="1">
                <a:latin typeface="Segoe UI"/>
                <a:cs typeface="Segoe UI"/>
              </a:rPr>
              <a:t>traducirlos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para</a:t>
            </a:r>
            <a:r>
              <a:rPr lang="de-DE" sz="1100" dirty="0">
                <a:latin typeface="Segoe UI"/>
                <a:cs typeface="Segoe UI"/>
              </a:rPr>
              <a:t> </a:t>
            </a:r>
            <a:r>
              <a:rPr lang="de-DE" sz="1100" dirty="0" err="1">
                <a:latin typeface="Segoe UI"/>
                <a:cs typeface="Segoe UI"/>
              </a:rPr>
              <a:t>slides</a:t>
            </a:r>
            <a:r>
              <a:rPr lang="de-DE" sz="1100" dirty="0">
                <a:latin typeface="Segoe UI"/>
                <a:cs typeface="Segoe UI"/>
              </a:rPr>
              <a:t> </a:t>
            </a:r>
            <a:br>
              <a:rPr lang="de-DE" sz="1100" dirty="0">
                <a:latin typeface="Segoe UI"/>
                <a:cs typeface="Segoe UI"/>
              </a:rPr>
            </a:br>
            <a:r>
              <a:rPr lang="de-DE" sz="1100" dirty="0">
                <a:latin typeface="Segoe UI"/>
                <a:cs typeface="Segoe UI"/>
              </a:rPr>
              <a:t>Visual: “DE → ES” + </a:t>
            </a:r>
            <a:r>
              <a:rPr lang="de-DE" sz="1100" dirty="0" err="1">
                <a:latin typeface="Segoe UI"/>
                <a:cs typeface="Segoe UI"/>
              </a:rPr>
              <a:t>icono</a:t>
            </a:r>
            <a:r>
              <a:rPr lang="de-DE" sz="1100" dirty="0">
                <a:latin typeface="Segoe UI"/>
                <a:cs typeface="Segoe UI"/>
              </a:rPr>
              <a:t> de deck </a:t>
            </a:r>
            <a:r>
              <a:rPr lang="de-DE" sz="1100" dirty="0">
                <a:latin typeface="Segoe UI"/>
                <a:cs typeface="Segoe UI"/>
                <a:hlinkClick r:id="rId3"/>
              </a:rPr>
              <a:t>[Agencia- c...n storming | Word]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48082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6F8B1D-173C-1035-E039-CF8263271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27CF99-14E5-1CF3-F7FE-C0AC7B927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Slide 14 — Next steps (plan accionable)</a:t>
            </a:r>
          </a:p>
          <a:p>
            <a:r>
              <a:rPr lang="de-DE" sz="1100" b="1">
                <a:latin typeface="Segoe UI"/>
                <a:cs typeface="Segoe UI"/>
              </a:rPr>
              <a:t>Título:</a:t>
            </a:r>
            <a:r>
              <a:rPr lang="de-DE" sz="1100">
                <a:latin typeface="Segoe UI"/>
                <a:cs typeface="Segoe UI"/>
              </a:rPr>
              <a:t> </a:t>
            </a:r>
            <a:r>
              <a:rPr lang="de-DE" sz="1100" i="1">
                <a:latin typeface="Segoe UI"/>
                <a:cs typeface="Segoe UI"/>
              </a:rPr>
              <a:t>Siguientes pasos (piloto con Mínima)</a:t>
            </a:r>
            <a:br>
              <a:rPr lang="de-DE" sz="1100" i="1" dirty="0">
                <a:latin typeface="Segoe UI"/>
                <a:cs typeface="Segoe UI"/>
              </a:rPr>
            </a:br>
            <a:r>
              <a:rPr lang="de-DE" sz="1100" i="1">
                <a:latin typeface="Segoe UI"/>
                <a:cs typeface="Segoe UI"/>
              </a:rPr>
              <a:t> </a:t>
            </a:r>
            <a:r>
              <a:rPr lang="de-DE" sz="1100" b="1">
                <a:latin typeface="Segoe UI"/>
                <a:cs typeface="Segoe UI"/>
              </a:rPr>
              <a:t>Bullets (derivados del cierre):</a:t>
            </a:r>
            <a:endParaRPr lang="de-DE"/>
          </a:p>
          <a:p>
            <a:r>
              <a:rPr lang="de-DE" sz="1100">
                <a:latin typeface="Segoe UI"/>
                <a:cs typeface="Segoe UI"/>
              </a:rPr>
              <a:t>Definir guion en 5–6 slides (este deck)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endParaRPr lang="de-DE"/>
          </a:p>
          <a:p>
            <a:r>
              <a:rPr lang="de-DE" sz="1100">
                <a:latin typeface="Segoe UI"/>
                <a:cs typeface="Segoe UI"/>
              </a:rPr>
              <a:t>Seleccionar 3–5 ejemplos (newsfeed/cupón/experience) y preparar versión ES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endParaRPr lang="de-DE"/>
          </a:p>
          <a:p>
            <a:r>
              <a:rPr lang="de-DE" sz="1100">
                <a:latin typeface="Segoe UI"/>
                <a:cs typeface="Segoe UI"/>
              </a:rPr>
              <a:t>Sesión 2 (corta): revisar narrativa + ontología (newsfeed–cupón–experience)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endParaRPr lang="de-DE"/>
          </a:p>
          <a:p>
            <a:r>
              <a:rPr lang="de-DE" sz="1100">
                <a:latin typeface="Segoe UI"/>
                <a:cs typeface="Segoe UI"/>
              </a:rPr>
              <a:t>Sesión 3: invitar a perfil técnico solo para “cómo se construye” (sin abrumar) </a:t>
            </a:r>
            <a:br>
              <a:rPr lang="de-DE" sz="1100" dirty="0">
                <a:latin typeface="Segoe UI"/>
                <a:cs typeface="Segoe UI"/>
              </a:rPr>
            </a:br>
            <a:r>
              <a:rPr lang="de-DE" sz="1100">
                <a:latin typeface="Segoe UI"/>
                <a:cs typeface="Segoe UI"/>
              </a:rPr>
              <a:t>Visual: checklist </a:t>
            </a:r>
            <a:r>
              <a:rPr lang="de-DE" sz="1100" dirty="0">
                <a:latin typeface="Segoe UI"/>
                <a:cs typeface="Segoe UI"/>
                <a:hlinkClick r:id="rId2"/>
              </a:rPr>
              <a:t>[Agencia- c...n storming | Word]</a:t>
            </a:r>
            <a:endParaRPr lang="de-DE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44751175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arissa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d9532885-5f53-4566-bd02-4c7865205278" xsi:nil="true"/>
    <_ip_UnifiedCompliancePolicyProperties xmlns="http://schemas.microsoft.com/sharepoint/v3" xsi:nil="true"/>
    <lcf76f155ced4ddcb4097134ff3c332f xmlns="65953dc5-f563-4235-ab12-53c7c4ec3e34">
      <Terms xmlns="http://schemas.microsoft.com/office/infopath/2007/PartnerControls"/>
    </lcf76f155ced4ddcb4097134ff3c332f>
    <Comments xmlns="65953dc5-f563-4235-ab12-53c7c4ec3e3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480E5CF55E5A4469A1DDF6A3059F916" ma:contentTypeVersion="15" ma:contentTypeDescription="Ein neues Dokument erstellen." ma:contentTypeScope="" ma:versionID="bc3fc0d4aecf0151039186f6ab45caf5">
  <xsd:schema xmlns:xsd="http://www.w3.org/2001/XMLSchema" xmlns:xs="http://www.w3.org/2001/XMLSchema" xmlns:p="http://schemas.microsoft.com/office/2006/metadata/properties" xmlns:ns1="http://schemas.microsoft.com/sharepoint/v3" xmlns:ns2="65953dc5-f563-4235-ab12-53c7c4ec3e34" xmlns:ns3="d9532885-5f53-4566-bd02-4c7865205278" targetNamespace="http://schemas.microsoft.com/office/2006/metadata/properties" ma:root="true" ma:fieldsID="b53a5140ad156c5afeb9b0435d52c08d" ns1:_="" ns2:_="" ns3:_="">
    <xsd:import namespace="http://schemas.microsoft.com/sharepoint/v3"/>
    <xsd:import namespace="65953dc5-f563-4235-ab12-53c7c4ec3e34"/>
    <xsd:import namespace="d9532885-5f53-4566-bd02-4c78652052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Comme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Eigenschaften der einheitlichen Compliancerichtlinie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I-Aktion der einheitlichen Compliancerichtlini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953dc5-f563-4235-ab12-53c7c4ec3e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Bildmarkierungen" ma:readOnly="false" ma:fieldId="{5cf76f15-5ced-4ddc-b409-7134ff3c332f}" ma:taxonomyMulti="true" ma:sspId="125309b7-f53d-47ea-b87b-706861e1f9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Comments" ma:index="22" nillable="true" ma:displayName="Comments" ma:format="Dropdown" ma:internalName="Comments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532885-5f53-4566-bd02-4c786520527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802d67c8-84f3-499a-969d-772766e4b783}" ma:internalName="TaxCatchAll" ma:showField="CatchAllData" ma:web="d9532885-5f53-4566-bd02-4c78652052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2D09E67-C668-4AE9-9F7E-4D2EC23D91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27D9CA-59BB-4BD9-A960-639E228E4A70}">
  <ds:schemaRefs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http://schemas.microsoft.com/sharepoint/v3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d9532885-5f53-4566-bd02-4c7865205278"/>
    <ds:schemaRef ds:uri="65953dc5-f563-4235-ab12-53c7c4ec3e34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F95916C-DCDA-4C72-A076-F6E6687E9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5953dc5-f563-4235-ab12-53c7c4ec3e34"/>
    <ds:schemaRef ds:uri="d9532885-5f53-4566-bd02-4c78652052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2231</Words>
  <Application>Microsoft Macintosh PowerPoint</Application>
  <PresentationFormat>Panorámica</PresentationFormat>
  <Paragraphs>126</Paragraphs>
  <Slides>19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7" baseType="lpstr">
      <vt:lpstr>Aptos</vt:lpstr>
      <vt:lpstr>Aptos Display</vt:lpstr>
      <vt:lpstr>Arial</vt:lpstr>
      <vt:lpstr>Segoe UI</vt:lpstr>
      <vt:lpstr>Sofia Sans Light</vt:lpstr>
      <vt:lpstr>Sofia Sans Medium</vt:lpstr>
      <vt:lpstr>Wingdings</vt:lpstr>
      <vt:lpstr>Larissa</vt:lpstr>
      <vt:lpstr>Sales enablement</vt:lpstr>
      <vt:lpstr>content</vt:lpstr>
      <vt:lpstr>Por qué el CRM no resuelve la fidelización</vt:lpstr>
      <vt:lpstr>Presentación de PowerPoint</vt:lpstr>
      <vt:lpstr>Presentación de PowerPoint</vt:lpstr>
      <vt:lpstr>Presentación de PowerPoint</vt:lpstr>
      <vt:lpstr>Parte 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Parte 3</vt:lpstr>
      <vt:lpstr>Presentación de PowerPoint</vt:lpstr>
      <vt:lpstr>Presentación de PowerPoint</vt:lpstr>
      <vt:lpstr>Lealtad Social: Aventura Familiar, búsqueda del tesoro.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Juan Jose Vazquez</cp:lastModifiedBy>
  <cp:revision>39</cp:revision>
  <dcterms:created xsi:type="dcterms:W3CDTF">2026-04-30T13:36:20Z</dcterms:created>
  <dcterms:modified xsi:type="dcterms:W3CDTF">2026-05-06T15:20:58Z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0x010100A480E5CF55E5A4469A1DDF6A3059F916</vt:lpwstr>
  </property>
  <property fmtid="{D5CDD505-2E9C-101B-9397-08002B2CF9AE}" pid="3" name="MediaServiceImageTags">
    <vt:lpwstr/>
  </property>
</Properties>
</file>