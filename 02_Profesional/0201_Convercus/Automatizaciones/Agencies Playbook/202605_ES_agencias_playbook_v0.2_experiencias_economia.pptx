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6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92BFD"/>
          </a:solidFill>
          <a:ln w="12700">
            <a:solidFill>
              <a:srgbClr val="092B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>
                <a:alpha val="0"/>
              </a:srgbClr>
            </a:solidFill>
            <a:prstDash val="solid"/>
          </a:ln>
        </p:spPr>
      </p:sp>
      <p:pic>
        <p:nvPicPr>
          <p:cNvPr id="4" name="Image 0" descr="/mnt/data/Convercus Logo 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155" y="859536"/>
            <a:ext cx="1151235" cy="4937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2688" y="18928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EFFF"/>
                </a:solidFill>
              </a:rPr>
              <a:t>SALES ENABLEMENT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932688" y="2212848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</a:rPr>
              <a:t>Convercus para agencias</a:t>
            </a:r>
            <a:endParaRPr lang="en-US" sz="3900" dirty="0"/>
          </a:p>
        </p:txBody>
      </p:sp>
      <p:sp>
        <p:nvSpPr>
          <p:cNvPr id="7" name="Text 4"/>
          <p:cNvSpPr/>
          <p:nvPr/>
        </p:nvSpPr>
        <p:spPr>
          <a:xfrm>
            <a:off x="960120" y="3236976"/>
            <a:ext cx="66751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Playbook de experiencias, campañas holísticas y servicios recurrentes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532180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EFBFF"/>
                </a:solidFill>
              </a:rPr>
              <a:t>De campañas aisladas a experiencias medibles, operadas y rentables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357616" y="550468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Versión reordenada · Mayo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7558851" cy="36576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58851" y="146304"/>
            <a:ext cx="4632844" cy="36576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pic>
        <p:nvPicPr>
          <p:cNvPr id="5" name="Image 0" descr="/mnt/data/Convercus Logo 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554" y="329184"/>
            <a:ext cx="895405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" y="9418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72585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ESTRUCTURA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12064" y="115214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El deck queda reordenado alrededor de cuatro decisiones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12064" y="6510528"/>
            <a:ext cx="5577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A8A"/>
                </a:solidFill>
              </a:rPr>
              <a:t>Convercus para agencias · Playbook de ecosistema y servicios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02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58368" y="1975104"/>
            <a:ext cx="786384" cy="274320"/>
          </a:xfrm>
          <a:prstGeom prst="rect">
            <a:avLst/>
          </a:prstGeom>
          <a:solidFill>
            <a:srgbClr val="F72585"/>
          </a:solidFill>
          <a:ln>
            <a:solidFill>
              <a:srgbClr val="F72585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ACTO 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58368" y="2404872"/>
            <a:ext cx="2340864" cy="1572768"/>
          </a:xfrm>
          <a:prstGeom prst="rect">
            <a:avLst/>
          </a:prstGeom>
          <a:solidFill>
            <a:srgbClr val="FDD3E6"/>
          </a:solidFill>
          <a:ln w="12700">
            <a:solidFill>
              <a:srgbClr val="F725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Experiencias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La unidad central de diseño, operación y medición.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3054096" y="3182112"/>
            <a:ext cx="274320" cy="0"/>
          </a:xfrm>
          <a:prstGeom prst="line">
            <a:avLst/>
          </a:prstGeom>
          <a:noFill/>
          <a:ln w="17780">
            <a:solidFill>
              <a:srgbClr val="090685"/>
            </a:solidFill>
            <a:prstDash val="solid"/>
            <a:headEnd type="none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3520440" y="1975104"/>
            <a:ext cx="786384" cy="274320"/>
          </a:xfrm>
          <a:prstGeom prst="rect">
            <a:avLst/>
          </a:prstGeom>
          <a:solidFill>
            <a:srgbClr val="092BFD"/>
          </a:solidFill>
          <a:ln>
            <a:solidFill>
              <a:srgbClr val="092BFD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ACTO 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520440" y="2404872"/>
            <a:ext cx="2340864" cy="1572768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Economía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Cómo se monetiza para la agencia y cómo se justifica para el cliente.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916168" y="3182112"/>
            <a:ext cx="274320" cy="0"/>
          </a:xfrm>
          <a:prstGeom prst="line">
            <a:avLst/>
          </a:prstGeom>
          <a:noFill/>
          <a:ln w="17780">
            <a:solidFill>
              <a:srgbClr val="090685"/>
            </a:solidFill>
            <a:prstDash val="solid"/>
            <a:headEnd type="none"/>
            <a:tailEnd type="triangle"/>
          </a:ln>
        </p:spPr>
      </p:sp>
      <p:sp>
        <p:nvSpPr>
          <p:cNvPr id="16" name="Text 13"/>
          <p:cNvSpPr/>
          <p:nvPr/>
        </p:nvSpPr>
        <p:spPr>
          <a:xfrm>
            <a:off x="6382512" y="1975104"/>
            <a:ext cx="786384" cy="274320"/>
          </a:xfrm>
          <a:prstGeom prst="rect">
            <a:avLst/>
          </a:prstGeom>
          <a:solidFill>
            <a:srgbClr val="092BFD"/>
          </a:solidFill>
          <a:ln>
            <a:solidFill>
              <a:srgbClr val="092BFD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ACTO 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382512" y="2404872"/>
            <a:ext cx="2340864" cy="1572768"/>
          </a:xfrm>
          <a:prstGeom prst="rect">
            <a:avLst/>
          </a:prstGeom>
          <a:solidFill>
            <a:srgbClr val="CDD4FE"/>
          </a:solidFill>
          <a:ln w="12700">
            <a:solidFill>
              <a:srgbClr val="092B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Campaña holística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La campaña como marco que incluye canales, comunicación, punto de venta y lealtad.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8778240" y="3182112"/>
            <a:ext cx="274320" cy="0"/>
          </a:xfrm>
          <a:prstGeom prst="line">
            <a:avLst/>
          </a:prstGeom>
          <a:noFill/>
          <a:ln w="17780">
            <a:solidFill>
              <a:srgbClr val="090685"/>
            </a:solidFill>
            <a:prstDash val="solid"/>
            <a:headEnd type="none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9244584" y="1975104"/>
            <a:ext cx="786384" cy="274320"/>
          </a:xfrm>
          <a:prstGeom prst="rect">
            <a:avLst/>
          </a:prstGeom>
          <a:solidFill>
            <a:srgbClr val="092BFD"/>
          </a:solidFill>
          <a:ln>
            <a:solidFill>
              <a:srgbClr val="092BFD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ACTO 4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9244584" y="2404872"/>
            <a:ext cx="2340864" cy="1572768"/>
          </a:xfrm>
          <a:prstGeom prst="rect">
            <a:avLst/>
          </a:prstGeom>
          <a:solidFill>
            <a:srgbClr val="F1F1F1"/>
          </a:solidFill>
          <a:ln w="12700">
            <a:solidFill>
              <a:srgbClr val="0906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Activación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Casos, toolkit, piloto y próximos pasos comerciales.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960120" y="4709160"/>
            <a:ext cx="103784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90685"/>
                </a:solidFill>
              </a:rPr>
              <a:t>El mensaje deja de ser “Convercus ayuda a hacer campañas” y pasa a ser: Convercus permite a la agencia diseñar, activar, operar y medir experiencias que convierten la inversión de campaña en progresión económica.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7558851" cy="36576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58851" y="146304"/>
            <a:ext cx="4632844" cy="36576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pic>
        <p:nvPicPr>
          <p:cNvPr id="5" name="Image 0" descr="/mnt/data/Convercus Logo 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554" y="329184"/>
            <a:ext cx="895405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" y="9418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72585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TESIS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12064" y="115214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De impactos de campaña a progresiones de comportamiento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12064" y="6510528"/>
            <a:ext cx="5577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A8A"/>
                </a:solidFill>
              </a:rPr>
              <a:t>Convercus para agencias · Playbook de ecosistema y servicios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03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13232" y="2148840"/>
            <a:ext cx="2834640" cy="914400"/>
          </a:xfrm>
          <a:prstGeom prst="rect">
            <a:avLst/>
          </a:prstGeom>
          <a:solidFill>
            <a:srgbClr val="F1F1F1"/>
          </a:solidFill>
          <a:ln w="12700">
            <a:solidFill>
              <a:srgbClr val="D8D8D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ANTES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Campañas como impactos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96112" y="3401568"/>
            <a:ext cx="24688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Piezas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Canales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Mensajes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Promos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Reporting de actividad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526280" y="1874520"/>
            <a:ext cx="3154680" cy="1097280"/>
          </a:xfrm>
          <a:prstGeom prst="rect">
            <a:avLst/>
          </a:prstGeom>
          <a:solidFill>
            <a:srgbClr val="090685"/>
          </a:solidFill>
          <a:ln w="12700">
            <a:solidFill>
              <a:srgbClr val="0906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AHORA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Experiencias como arquitectura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800600" y="3337560"/>
            <a:ext cx="2606040" cy="1600200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Eventos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Secuencias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Hitos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Incentivos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Resultado económico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705088" y="2148840"/>
            <a:ext cx="2788920" cy="91440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RESULTADO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Servicios recurrentes para la agencia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897112" y="3401568"/>
            <a:ext cx="2432304" cy="1463040"/>
          </a:xfrm>
          <a:prstGeom prst="rect">
            <a:avLst/>
          </a:prstGeom>
          <a:solidFill>
            <a:srgbClr val="FDD3E6"/>
          </a:solidFill>
          <a:ln w="12700">
            <a:solidFill>
              <a:srgbClr val="F725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Consultoría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Diseño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Operación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Medición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Optimización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3566160" y="2743200"/>
            <a:ext cx="777240" cy="0"/>
          </a:xfrm>
          <a:prstGeom prst="line">
            <a:avLst/>
          </a:prstGeom>
          <a:noFill/>
          <a:ln w="25400">
            <a:solidFill>
              <a:srgbClr val="092BFD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7699248" y="2743200"/>
            <a:ext cx="777240" cy="0"/>
          </a:xfrm>
          <a:prstGeom prst="line">
            <a:avLst/>
          </a:prstGeom>
          <a:noFill/>
          <a:ln w="25400">
            <a:solidFill>
              <a:srgbClr val="092BFD"/>
            </a:solidFill>
            <a:prstDash val="solid"/>
            <a:headEnd type="none"/>
            <a:tailEnd type="triangle"/>
          </a:ln>
        </p:spPr>
      </p:sp>
      <p:sp>
        <p:nvSpPr>
          <p:cNvPr id="18" name="Text 15"/>
          <p:cNvSpPr/>
          <p:nvPr/>
        </p:nvSpPr>
        <p:spPr>
          <a:xfrm>
            <a:off x="1143000" y="5486400"/>
            <a:ext cx="992124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90685"/>
                </a:solidFill>
              </a:rPr>
              <a:t>La campaña deja de ser un conjunto de soportes y pasa a ser el marco operativo donde una experiencia se diseña, se distribuye y se mide.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7558851" cy="36576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58851" y="146304"/>
            <a:ext cx="4632844" cy="36576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pic>
        <p:nvPicPr>
          <p:cNvPr id="5" name="Image 0" descr="/mnt/data/Convercus Logo 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554" y="329184"/>
            <a:ext cx="895405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" y="9418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72585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RELACIÓN DE INCLUSIÓN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12064" y="115214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La campaña holística: marco inclusivo de actuación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12064" y="6510528"/>
            <a:ext cx="5577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A8A"/>
                </a:solidFill>
              </a:rPr>
              <a:t>Convercus para agencias · Playbook de ecosistema y servicios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04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58368" y="1965960"/>
            <a:ext cx="2148840" cy="914400"/>
          </a:xfrm>
          <a:prstGeom prst="rect">
            <a:avLst/>
          </a:prstGeom>
          <a:solidFill>
            <a:srgbClr val="090685"/>
          </a:solidFill>
          <a:ln w="12700">
            <a:solidFill>
              <a:srgbClr val="0906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CAMPAÑA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marco de actuación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090672" y="1828800"/>
            <a:ext cx="2011680" cy="502920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PUBLICIDAD DIGITAL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349240" y="1828800"/>
            <a:ext cx="2121408" cy="502920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PUBLICIDAD TRADICIONAL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54112" y="1828800"/>
            <a:ext cx="1691640" cy="502920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COMUNICACIÓN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054096" y="4754880"/>
            <a:ext cx="1810512" cy="502920"/>
          </a:xfrm>
          <a:prstGeom prst="rect">
            <a:avLst/>
          </a:prstGeom>
          <a:solidFill>
            <a:srgbClr val="CDD4FE"/>
          </a:solidFill>
          <a:ln w="12700">
            <a:solidFill>
              <a:srgbClr val="092B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PUNTO DE VENTA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193792" y="4754880"/>
            <a:ext cx="1874520" cy="502920"/>
          </a:xfrm>
          <a:prstGeom prst="rect">
            <a:avLst/>
          </a:prstGeom>
          <a:solidFill>
            <a:srgbClr val="CDD4FE"/>
          </a:solidFill>
          <a:ln w="12700">
            <a:solidFill>
              <a:srgbClr val="092B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eCOMMERCE / WEB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406640" y="4754880"/>
            <a:ext cx="1874520" cy="502920"/>
          </a:xfrm>
          <a:prstGeom prst="rect">
            <a:avLst/>
          </a:prstGeom>
          <a:solidFill>
            <a:srgbClr val="CDD4FE"/>
          </a:solidFill>
          <a:ln w="12700">
            <a:solidFill>
              <a:srgbClr val="092B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CRM / CDP / MA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555480" y="3246120"/>
            <a:ext cx="1828800" cy="667512"/>
          </a:xfrm>
          <a:prstGeom prst="rect">
            <a:avLst/>
          </a:prstGeom>
          <a:solidFill>
            <a:srgbClr val="FDD3E6"/>
          </a:solidFill>
          <a:ln w="12700">
            <a:solidFill>
              <a:srgbClr val="F725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LEALTAD Y FIDELIZACIÓN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81728" y="3054096"/>
            <a:ext cx="2834640" cy="96012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EXPERIENCIA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unidad central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2834640" y="2423160"/>
            <a:ext cx="1600200" cy="978408"/>
          </a:xfrm>
          <a:prstGeom prst="line">
            <a:avLst/>
          </a:prstGeom>
          <a:noFill/>
          <a:ln w="12700">
            <a:solidFill>
              <a:srgbClr val="090685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5120640" y="2359152"/>
            <a:ext cx="621792" cy="676656"/>
          </a:xfrm>
          <a:prstGeom prst="line">
            <a:avLst/>
          </a:prstGeom>
          <a:noFill/>
          <a:ln w="12700">
            <a:solidFill>
              <a:srgbClr val="090685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7863840" y="2350008"/>
            <a:ext cx="-640080" cy="694944"/>
          </a:xfrm>
          <a:prstGeom prst="line">
            <a:avLst/>
          </a:prstGeom>
          <a:noFill/>
          <a:ln w="12700">
            <a:solidFill>
              <a:srgbClr val="090685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3886200" y="4700016"/>
            <a:ext cx="1280160" cy="-694944"/>
          </a:xfrm>
          <a:prstGeom prst="line">
            <a:avLst/>
          </a:prstGeom>
          <a:noFill/>
          <a:ln w="12700">
            <a:solidFill>
              <a:srgbClr val="090685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6126480" y="4700016"/>
            <a:ext cx="0" cy="-640080"/>
          </a:xfrm>
          <a:prstGeom prst="line">
            <a:avLst/>
          </a:prstGeom>
          <a:noFill/>
          <a:ln w="12700">
            <a:solidFill>
              <a:srgbClr val="090685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8001000" y="4700016"/>
            <a:ext cx="-850392" cy="-694944"/>
          </a:xfrm>
          <a:prstGeom prst="line">
            <a:avLst/>
          </a:prstGeom>
          <a:noFill/>
          <a:ln w="12700">
            <a:solidFill>
              <a:srgbClr val="090685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9546336" y="3584448"/>
            <a:ext cx="-2002536" cy="-54864"/>
          </a:xfrm>
          <a:prstGeom prst="line">
            <a:avLst/>
          </a:prstGeom>
          <a:noFill/>
          <a:ln w="15240">
            <a:solidFill>
              <a:srgbClr val="F72585"/>
            </a:solidFill>
            <a:prstDash val="solid"/>
            <a:headEnd type="none"/>
            <a:tailEnd type="triangle"/>
          </a:ln>
        </p:spPr>
      </p:sp>
      <p:sp>
        <p:nvSpPr>
          <p:cNvPr id="26" name="Text 23"/>
          <p:cNvSpPr/>
          <p:nvPr/>
        </p:nvSpPr>
        <p:spPr>
          <a:xfrm>
            <a:off x="877824" y="5623560"/>
            <a:ext cx="105613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90685"/>
                </a:solidFill>
              </a:rPr>
              <a:t>La lealtad no queda fuera de la campaña: se integra como la capa que hace que la inversión en canales produzca identificación, progresión, recurrencia y margen.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7558851" cy="36576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58851" y="146304"/>
            <a:ext cx="4632844" cy="36576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pic>
        <p:nvPicPr>
          <p:cNvPr id="5" name="Image 0" descr="/mnt/data/Convercus Logo 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554" y="329184"/>
            <a:ext cx="895405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" y="9418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72585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EJE TES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12064" y="115214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La experiencia es una cadena reconstruible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12064" y="6510528"/>
            <a:ext cx="5577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A8A"/>
                </a:solidFill>
              </a:rPr>
              <a:t>Convercus para agencias · Playbook de ecosistema y servicios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05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03504" y="2880360"/>
            <a:ext cx="1207008" cy="566928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Evento</a:t>
            </a:r>
            <a:endParaRPr lang="en-US" sz="1160" dirty="0"/>
          </a:p>
        </p:txBody>
      </p:sp>
      <p:sp>
        <p:nvSpPr>
          <p:cNvPr id="11" name="Shape 8"/>
          <p:cNvSpPr/>
          <p:nvPr/>
        </p:nvSpPr>
        <p:spPr>
          <a:xfrm>
            <a:off x="1828800" y="3163824"/>
            <a:ext cx="338328" cy="0"/>
          </a:xfrm>
          <a:prstGeom prst="line">
            <a:avLst/>
          </a:prstGeom>
          <a:noFill/>
          <a:ln w="15240">
            <a:solidFill>
              <a:srgbClr val="090685"/>
            </a:solidFill>
            <a:prstDash val="solid"/>
            <a:headEnd type="none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2231136" y="2880360"/>
            <a:ext cx="1207008" cy="566928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Patrón</a:t>
            </a:r>
            <a:endParaRPr lang="en-US" sz="1160" dirty="0"/>
          </a:p>
        </p:txBody>
      </p:sp>
      <p:sp>
        <p:nvSpPr>
          <p:cNvPr id="13" name="Shape 10"/>
          <p:cNvSpPr/>
          <p:nvPr/>
        </p:nvSpPr>
        <p:spPr>
          <a:xfrm>
            <a:off x="3456432" y="3163824"/>
            <a:ext cx="338328" cy="0"/>
          </a:xfrm>
          <a:prstGeom prst="line">
            <a:avLst/>
          </a:prstGeom>
          <a:noFill/>
          <a:ln w="15240">
            <a:solidFill>
              <a:srgbClr val="090685"/>
            </a:solidFill>
            <a:prstDash val="solid"/>
            <a:headEnd type="none"/>
            <a:tailEnd type="triangle"/>
          </a:ln>
        </p:spPr>
      </p:sp>
      <p:sp>
        <p:nvSpPr>
          <p:cNvPr id="14" name="Text 11"/>
          <p:cNvSpPr/>
          <p:nvPr/>
        </p:nvSpPr>
        <p:spPr>
          <a:xfrm>
            <a:off x="3858768" y="2880360"/>
            <a:ext cx="1207008" cy="566928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Secuencia</a:t>
            </a:r>
            <a:endParaRPr lang="en-US" sz="1160" dirty="0"/>
          </a:p>
        </p:txBody>
      </p:sp>
      <p:sp>
        <p:nvSpPr>
          <p:cNvPr id="15" name="Shape 12"/>
          <p:cNvSpPr/>
          <p:nvPr/>
        </p:nvSpPr>
        <p:spPr>
          <a:xfrm>
            <a:off x="5084064" y="3163824"/>
            <a:ext cx="338328" cy="0"/>
          </a:xfrm>
          <a:prstGeom prst="line">
            <a:avLst/>
          </a:prstGeom>
          <a:noFill/>
          <a:ln w="15240">
            <a:solidFill>
              <a:srgbClr val="090685"/>
            </a:solidFill>
            <a:prstDash val="solid"/>
            <a:headEnd type="none"/>
            <a:tailEnd type="triangle"/>
          </a:ln>
        </p:spPr>
      </p:sp>
      <p:sp>
        <p:nvSpPr>
          <p:cNvPr id="16" name="Text 13"/>
          <p:cNvSpPr/>
          <p:nvPr/>
        </p:nvSpPr>
        <p:spPr>
          <a:xfrm>
            <a:off x="5486400" y="2880360"/>
            <a:ext cx="1207008" cy="566928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Progresión</a:t>
            </a:r>
            <a:endParaRPr lang="en-US" sz="1160" dirty="0"/>
          </a:p>
        </p:txBody>
      </p:sp>
      <p:sp>
        <p:nvSpPr>
          <p:cNvPr id="17" name="Shape 14"/>
          <p:cNvSpPr/>
          <p:nvPr/>
        </p:nvSpPr>
        <p:spPr>
          <a:xfrm>
            <a:off x="6711696" y="3163824"/>
            <a:ext cx="338328" cy="0"/>
          </a:xfrm>
          <a:prstGeom prst="line">
            <a:avLst/>
          </a:prstGeom>
          <a:noFill/>
          <a:ln w="15240">
            <a:solidFill>
              <a:srgbClr val="090685"/>
            </a:solidFill>
            <a:prstDash val="solid"/>
            <a:headEnd type="none"/>
            <a:tailEnd type="triangle"/>
          </a:ln>
        </p:spPr>
      </p:sp>
      <p:sp>
        <p:nvSpPr>
          <p:cNvPr id="18" name="Text 15"/>
          <p:cNvSpPr/>
          <p:nvPr/>
        </p:nvSpPr>
        <p:spPr>
          <a:xfrm>
            <a:off x="7114032" y="2880360"/>
            <a:ext cx="1207008" cy="566928"/>
          </a:xfrm>
          <a:prstGeom prst="rect">
            <a:avLst/>
          </a:prstGeom>
          <a:solidFill>
            <a:srgbClr val="FDD3E6"/>
          </a:solidFill>
          <a:ln w="12700">
            <a:solidFill>
              <a:srgbClr val="F725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Resultado</a:t>
            </a:r>
            <a:endParaRPr lang="en-US" sz="1160" dirty="0"/>
          </a:p>
        </p:txBody>
      </p:sp>
      <p:sp>
        <p:nvSpPr>
          <p:cNvPr id="19" name="Shape 16"/>
          <p:cNvSpPr/>
          <p:nvPr/>
        </p:nvSpPr>
        <p:spPr>
          <a:xfrm>
            <a:off x="8339328" y="3163824"/>
            <a:ext cx="338328" cy="0"/>
          </a:xfrm>
          <a:prstGeom prst="line">
            <a:avLst/>
          </a:prstGeom>
          <a:noFill/>
          <a:ln w="15240">
            <a:solidFill>
              <a:srgbClr val="090685"/>
            </a:solidFill>
            <a:prstDash val="solid"/>
            <a:headEnd type="none"/>
            <a:tailEnd type="triangle"/>
          </a:ln>
        </p:spPr>
      </p:sp>
      <p:sp>
        <p:nvSpPr>
          <p:cNvPr id="20" name="Text 17"/>
          <p:cNvSpPr/>
          <p:nvPr/>
        </p:nvSpPr>
        <p:spPr>
          <a:xfrm>
            <a:off x="8741664" y="2880360"/>
            <a:ext cx="1207008" cy="566928"/>
          </a:xfrm>
          <a:prstGeom prst="rect">
            <a:avLst/>
          </a:prstGeom>
          <a:solidFill>
            <a:srgbClr val="CDD4FE"/>
          </a:solidFill>
          <a:ln w="12700">
            <a:solidFill>
              <a:srgbClr val="092B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Medición</a:t>
            </a:r>
            <a:endParaRPr lang="en-US" sz="1160" dirty="0"/>
          </a:p>
        </p:txBody>
      </p:sp>
      <p:sp>
        <p:nvSpPr>
          <p:cNvPr id="21" name="Shape 18"/>
          <p:cNvSpPr/>
          <p:nvPr/>
        </p:nvSpPr>
        <p:spPr>
          <a:xfrm>
            <a:off x="9966960" y="3163824"/>
            <a:ext cx="338328" cy="0"/>
          </a:xfrm>
          <a:prstGeom prst="line">
            <a:avLst/>
          </a:prstGeom>
          <a:noFill/>
          <a:ln w="15240">
            <a:solidFill>
              <a:srgbClr val="090685"/>
            </a:solidFill>
            <a:prstDash val="solid"/>
            <a:headEnd type="none"/>
            <a:tailEnd type="triangle"/>
          </a:ln>
        </p:spPr>
      </p:sp>
      <p:sp>
        <p:nvSpPr>
          <p:cNvPr id="22" name="Text 19"/>
          <p:cNvSpPr/>
          <p:nvPr/>
        </p:nvSpPr>
        <p:spPr>
          <a:xfrm>
            <a:off x="10369296" y="2880360"/>
            <a:ext cx="1207008" cy="566928"/>
          </a:xfrm>
          <a:prstGeom prst="rect">
            <a:avLst/>
          </a:prstGeom>
          <a:solidFill>
            <a:srgbClr val="CDD4FE"/>
          </a:solidFill>
          <a:ln w="12700">
            <a:solidFill>
              <a:srgbClr val="092B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Aprendizaje</a:t>
            </a:r>
            <a:endParaRPr lang="en-US" sz="1160" dirty="0"/>
          </a:p>
        </p:txBody>
      </p:sp>
      <p:sp>
        <p:nvSpPr>
          <p:cNvPr id="23" name="Text 20"/>
          <p:cNvSpPr/>
          <p:nvPr/>
        </p:nvSpPr>
        <p:spPr>
          <a:xfrm>
            <a:off x="1005840" y="1993392"/>
            <a:ext cx="1014984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90685"/>
                </a:solidFill>
              </a:rPr>
              <a:t>No basta con lanzar una pieza: una experiencia válida debe mostrar cómo un evento se convierte en progresión, qué resultado produce y qué aprendizaje deja para repetir o escalar.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2560320" y="4681728"/>
            <a:ext cx="7132320" cy="658368"/>
          </a:xfrm>
          <a:prstGeom prst="rect">
            <a:avLst/>
          </a:prstGeom>
          <a:solidFill>
            <a:srgbClr val="090685"/>
          </a:solidFill>
          <a:ln w="12700">
            <a:solidFill>
              <a:srgbClr val="0906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La medición sigue al resultado y precede al aprendizaje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1005840" y="5806440"/>
            <a:ext cx="9966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777777"/>
                </a:solidFill>
              </a:rPr>
              <a:t>Base conceptual: TES Experience Ledger — evento → patrón → secuencia → progresión → resultado → medición → aprendizaje.</a:t>
            </a:r>
            <a:endParaRPr lang="en-US" sz="8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7558851" cy="36576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58851" y="146304"/>
            <a:ext cx="4632844" cy="36576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pic>
        <p:nvPicPr>
          <p:cNvPr id="5" name="Image 0" descr="/mnt/data/Convercus Logo 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554" y="329184"/>
            <a:ext cx="895405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" y="9418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72585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POSICIONAMIENTO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12064" y="115214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Convercus complementa el stack: convierte eventos en progresión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12064" y="6510528"/>
            <a:ext cx="5577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A8A"/>
                </a:solidFill>
              </a:rPr>
              <a:t>Convercus para agencias · Playbook de ecosistema y servicios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06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005840" y="2011680"/>
            <a:ext cx="10195560" cy="658368"/>
          </a:xfrm>
          <a:prstGeom prst="rect">
            <a:avLst/>
          </a:prstGeom>
          <a:solidFill>
            <a:srgbClr val="F1F1F1"/>
          </a:solidFill>
          <a:ln w="12700">
            <a:solidFill>
              <a:srgbClr val="DDDD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Stack existente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TPV · eCommerce · CMS · CRM/MA · CDP · App · POS · BI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108192" y="2670048"/>
            <a:ext cx="0" cy="182880"/>
          </a:xfrm>
          <a:prstGeom prst="line">
            <a:avLst/>
          </a:prstGeom>
          <a:noFill/>
          <a:ln w="15240">
            <a:solidFill>
              <a:srgbClr val="090685"/>
            </a:solidFill>
            <a:prstDash val="solid"/>
            <a:headEnd type="none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1005840" y="2907792"/>
            <a:ext cx="10195560" cy="658368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Eventos disponibles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compra · visita · registro · canje · devolución · click · QR · interacción en tienda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08192" y="3566160"/>
            <a:ext cx="0" cy="182880"/>
          </a:xfrm>
          <a:prstGeom prst="line">
            <a:avLst/>
          </a:prstGeom>
          <a:noFill/>
          <a:ln w="15240">
            <a:solidFill>
              <a:srgbClr val="090685"/>
            </a:solidFill>
            <a:prstDash val="solid"/>
            <a:headEnd type="none"/>
            <a:tailEnd type="triangle"/>
          </a:ln>
        </p:spPr>
      </p:sp>
      <p:sp>
        <p:nvSpPr>
          <p:cNvPr id="14" name="Text 11"/>
          <p:cNvSpPr/>
          <p:nvPr/>
        </p:nvSpPr>
        <p:spPr>
          <a:xfrm>
            <a:off x="1005840" y="3803904"/>
            <a:ext cx="10195560" cy="658368"/>
          </a:xfrm>
          <a:prstGeom prst="rect">
            <a:avLst/>
          </a:prstGeom>
          <a:solidFill>
            <a:srgbClr val="FDD3E6"/>
          </a:solidFill>
          <a:ln w="12700">
            <a:solidFill>
              <a:srgbClr val="F725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Convercus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experiencias · puntos · cupones · wallet · gamificación · newsfeed · reglas · partners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108192" y="4462272"/>
            <a:ext cx="0" cy="182880"/>
          </a:xfrm>
          <a:prstGeom prst="line">
            <a:avLst/>
          </a:prstGeom>
          <a:noFill/>
          <a:ln w="15240">
            <a:solidFill>
              <a:srgbClr val="090685"/>
            </a:solidFill>
            <a:prstDash val="solid"/>
            <a:headEnd type="none"/>
            <a:tailEnd type="triangle"/>
          </a:ln>
        </p:spPr>
      </p:sp>
      <p:sp>
        <p:nvSpPr>
          <p:cNvPr id="16" name="Text 13"/>
          <p:cNvSpPr/>
          <p:nvPr/>
        </p:nvSpPr>
        <p:spPr>
          <a:xfrm>
            <a:off x="1005840" y="4700016"/>
            <a:ext cx="10195560" cy="658368"/>
          </a:xfrm>
          <a:prstGeom prst="rect">
            <a:avLst/>
          </a:prstGeom>
          <a:solidFill>
            <a:srgbClr val="CDD4FE"/>
          </a:solidFill>
          <a:ln w="12700">
            <a:solidFill>
              <a:srgbClr val="092B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Resultado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identificación · recurrencia · margen · menor coste de servicio · aprendizaje sectorial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987552" y="5705856"/>
            <a:ext cx="102412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90685"/>
                </a:solidFill>
              </a:rPr>
              <a:t>La tesis comercial para la agencia: Convercus no sustituye CRM, CDP, eCommerce, TPV ni automatización. Los usa como fuentes de realidad y añade la capa que organiza la conducta.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68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92BFD"/>
          </a:solidFill>
          <a:ln w="12700">
            <a:solidFill>
              <a:srgbClr val="092BF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>
                <a:alpha val="0"/>
              </a:srgbClr>
            </a:solidFill>
            <a:prstDash val="solid"/>
          </a:ln>
        </p:spPr>
      </p:sp>
      <p:pic>
        <p:nvPicPr>
          <p:cNvPr id="5" name="Image 0" descr="/mnt/data/Convercus Logo 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947" y="502920"/>
            <a:ext cx="980681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" y="1965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EFFF"/>
                </a:solidFill>
              </a:rPr>
              <a:t>ECONOMÍA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32688" y="233172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Acto 2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60120" y="3310128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CEFBFF"/>
                </a:solidFill>
              </a:rPr>
              <a:t>La capa económica: valor para agencia y cliente final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7558851" cy="36576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58851" y="146304"/>
            <a:ext cx="4632844" cy="36576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pic>
        <p:nvPicPr>
          <p:cNvPr id="5" name="Image 0" descr="/mnt/data/Convercus Logo 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554" y="329184"/>
            <a:ext cx="895405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" y="9418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72585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VALOR PARA LA AGENCIA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12064" y="115214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La agencia pasa de vender campañas a operar servicios recurrentes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12064" y="6510528"/>
            <a:ext cx="5577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A8A"/>
                </a:solidFill>
              </a:rPr>
              <a:t>Convercus para agencias · Playbook de ecosistema y servicios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08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04672" y="2194560"/>
            <a:ext cx="2834640" cy="960120"/>
          </a:xfrm>
          <a:prstGeom prst="rect">
            <a:avLst/>
          </a:prstGeom>
          <a:solidFill>
            <a:srgbClr val="F1F1F1"/>
          </a:solidFill>
          <a:ln w="12700">
            <a:solidFill>
              <a:srgbClr val="DDDD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Modelo anterior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Proyecto / campaña / entrega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370832" y="1965960"/>
            <a:ext cx="3474720" cy="123444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Modelo Convercus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Servicio continuado de experiencia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467344" y="2194560"/>
            <a:ext cx="2834640" cy="960120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Ingresos recurrentes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Retainer de operación + medición + optimización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3703320" y="2688336"/>
            <a:ext cx="466344" cy="0"/>
          </a:xfrm>
          <a:prstGeom prst="line">
            <a:avLst/>
          </a:prstGeom>
          <a:noFill/>
          <a:ln w="25400">
            <a:solidFill>
              <a:srgbClr val="092BFD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7882128" y="2688336"/>
            <a:ext cx="420624" cy="0"/>
          </a:xfrm>
          <a:prstGeom prst="line">
            <a:avLst/>
          </a:prstGeom>
          <a:noFill/>
          <a:ln w="25400">
            <a:solidFill>
              <a:srgbClr val="092BFD"/>
            </a:solidFill>
            <a:prstDash val="solid"/>
            <a:headEnd type="none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914400" y="4251960"/>
            <a:ext cx="2240280" cy="896112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Consultoría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diagnóstico y mapa de oportunidades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703320" y="4251960"/>
            <a:ext cx="2240280" cy="896112"/>
          </a:xfrm>
          <a:prstGeom prst="rect">
            <a:avLst/>
          </a:prstGeom>
          <a:solidFill>
            <a:srgbClr val="CDD4FE"/>
          </a:solidFill>
          <a:ln w="12700">
            <a:solidFill>
              <a:srgbClr val="092B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Diseño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experiencias, reglas, incentivos y contenidos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492240" y="4251960"/>
            <a:ext cx="2240280" cy="896112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Operación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publicación, segmentación, cupones y calendario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9281160" y="4251960"/>
            <a:ext cx="2240280" cy="896112"/>
          </a:xfrm>
          <a:prstGeom prst="rect">
            <a:avLst/>
          </a:prstGeom>
          <a:solidFill>
            <a:srgbClr val="CDD4FE"/>
          </a:solidFill>
          <a:ln w="12700">
            <a:solidFill>
              <a:srgbClr val="092B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Medición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scorecard, pruebas, aprendizaje y optimización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7558851" cy="36576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58851" y="146304"/>
            <a:ext cx="4632844" cy="36576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pic>
        <p:nvPicPr>
          <p:cNvPr id="5" name="Image 0" descr="/mnt/data/Convercus Logo 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554" y="329184"/>
            <a:ext cx="895405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" y="9418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72585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PAQUETIZACIÓN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12064" y="115214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Modelo económico de servicio para la agencia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12064" y="6510528"/>
            <a:ext cx="5577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A8A"/>
                </a:solidFill>
              </a:rPr>
              <a:t>Convercus para agencias · Playbook de ecosistema y servicios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09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5800" y="2057400"/>
            <a:ext cx="2340864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4FE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1 · Sprint de oportunidad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Diagnóstico, mapa de experiencias, hipótesis KPI y caso económico inicial.</a:t>
            </a:r>
            <a:endParaRPr lang="en-US" sz="1230" dirty="0"/>
          </a:p>
        </p:txBody>
      </p:sp>
      <p:sp>
        <p:nvSpPr>
          <p:cNvPr id="11" name="Text 8"/>
          <p:cNvSpPr/>
          <p:nvPr/>
        </p:nvSpPr>
        <p:spPr>
          <a:xfrm>
            <a:off x="813816" y="4160520"/>
            <a:ext cx="2084832" cy="274320"/>
          </a:xfrm>
          <a:prstGeom prst="rect">
            <a:avLst/>
          </a:prstGeom>
          <a:solidFill>
            <a:srgbClr val="090685"/>
          </a:solidFill>
          <a:ln>
            <a:solidFill>
              <a:srgbClr val="090685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Fee de arranque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483864" y="2057400"/>
            <a:ext cx="2340864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4FE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2 · Diseño de experiencias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Secuencias, reglas, incentivos, contenido, puntos/créditos, wallet y guardarraíles.</a:t>
            </a:r>
            <a:endParaRPr lang="en-US" sz="1230" dirty="0"/>
          </a:p>
        </p:txBody>
      </p:sp>
      <p:sp>
        <p:nvSpPr>
          <p:cNvPr id="13" name="Text 10"/>
          <p:cNvSpPr/>
          <p:nvPr/>
        </p:nvSpPr>
        <p:spPr>
          <a:xfrm>
            <a:off x="3611880" y="4160520"/>
            <a:ext cx="2084832" cy="274320"/>
          </a:xfrm>
          <a:prstGeom prst="rect">
            <a:avLst/>
          </a:prstGeom>
          <a:solidFill>
            <a:srgbClr val="090685"/>
          </a:solidFill>
          <a:ln>
            <a:solidFill>
              <a:srgbClr val="090685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Fee de diseño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281928" y="2057400"/>
            <a:ext cx="2340864" cy="1874520"/>
          </a:xfrm>
          <a:prstGeom prst="rect">
            <a:avLst/>
          </a:prstGeom>
          <a:solidFill>
            <a:srgbClr val="FDD3E6"/>
          </a:solidFill>
          <a:ln w="12700">
            <a:solidFill>
              <a:srgbClr val="F72585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3 · Operación mensual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Calendario, publicación, segmentación, cupones, QA, reporting y optimización.</a:t>
            </a:r>
            <a:endParaRPr lang="en-US" sz="1230" dirty="0"/>
          </a:p>
        </p:txBody>
      </p:sp>
      <p:sp>
        <p:nvSpPr>
          <p:cNvPr id="15" name="Text 12"/>
          <p:cNvSpPr/>
          <p:nvPr/>
        </p:nvSpPr>
        <p:spPr>
          <a:xfrm>
            <a:off x="6409944" y="4160520"/>
            <a:ext cx="2084832" cy="274320"/>
          </a:xfrm>
          <a:prstGeom prst="rect">
            <a:avLst/>
          </a:prstGeom>
          <a:solidFill>
            <a:srgbClr val="F72585"/>
          </a:solidFill>
          <a:ln>
            <a:solidFill>
              <a:srgbClr val="F72585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Retainer recurrente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079992" y="2057400"/>
            <a:ext cx="2340864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4FE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4 · Capa analítica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Baseline, cohortes, holdout, margen incremental, payback y aprendizaje reusable.</a:t>
            </a:r>
            <a:endParaRPr lang="en-US" sz="1230" dirty="0"/>
          </a:p>
        </p:txBody>
      </p:sp>
      <p:sp>
        <p:nvSpPr>
          <p:cNvPr id="17" name="Text 14"/>
          <p:cNvSpPr/>
          <p:nvPr/>
        </p:nvSpPr>
        <p:spPr>
          <a:xfrm>
            <a:off x="9208008" y="4160520"/>
            <a:ext cx="2084832" cy="274320"/>
          </a:xfrm>
          <a:prstGeom prst="rect">
            <a:avLst/>
          </a:prstGeom>
          <a:solidFill>
            <a:srgbClr val="090685"/>
          </a:solidFill>
          <a:ln>
            <a:solidFill>
              <a:srgbClr val="090685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Retainer / success fee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05840" y="5166360"/>
            <a:ext cx="100584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90685"/>
                </a:solidFill>
              </a:rPr>
              <a:t>La agencia monetiza capacidad estratégica, creatividad operativa y gobierno económico. Convercus aporta la infraestructura para que ese servicio sea repetible y escalable entre clientes.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1005840" y="5998464"/>
            <a:ext cx="9875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777777"/>
                </a:solidFill>
              </a:rPr>
              <a:t>Los importes concretos se fijan por agencia, sector, alcance y madurez del cliente. La lógica económica es modular, no una tarifa cerrada.</a:t>
            </a:r>
            <a:endParaRPr lang="en-US" sz="8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7558851" cy="36576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58851" y="146304"/>
            <a:ext cx="4632844" cy="36576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pic>
        <p:nvPicPr>
          <p:cNvPr id="5" name="Image 0" descr="/mnt/data/Convercus Logo 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554" y="329184"/>
            <a:ext cx="895405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" y="9418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72585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MODELO ROI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12064" y="115214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El cliente final compra impacto económico, no solo activación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12064" y="6510528"/>
            <a:ext cx="5577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A8A"/>
                </a:solidFill>
              </a:rPr>
              <a:t>Convercus para agencias · Playbook de ecosistema y servicios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10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77240" y="197510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90685"/>
                </a:solidFill>
              </a:rPr>
              <a:t>Fórmula de lectura económica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22960" y="2542032"/>
            <a:ext cx="3794760" cy="2194560"/>
          </a:xfrm>
          <a:prstGeom prst="rect">
            <a:avLst/>
          </a:prstGeom>
          <a:solidFill>
            <a:srgbClr val="090685"/>
          </a:solidFill>
          <a:ln w="12700">
            <a:solidFill>
              <a:srgbClr val="0906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Margen incremental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=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ventas incrementales × margen bruto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− coste de incentivos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− coste de servicio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− canibalización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257800" y="197510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90685"/>
                </a:solidFill>
              </a:rPr>
              <a:t>Palancas de creación de valor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257800" y="2514600"/>
            <a:ext cx="5760720" cy="502920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Subir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identificación · frecuencia · AOV · repetición · venta cruzada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257800" y="3200400"/>
            <a:ext cx="5760720" cy="502920"/>
          </a:xfrm>
          <a:prstGeom prst="rect">
            <a:avLst/>
          </a:prstGeom>
          <a:solidFill>
            <a:srgbClr val="FDD3E6"/>
          </a:solidFill>
          <a:ln w="12700">
            <a:solidFill>
              <a:srgbClr val="F725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Proteger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margen bruto · sell-through · precio percibido · mix rentable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257800" y="3886200"/>
            <a:ext cx="5760720" cy="502920"/>
          </a:xfrm>
          <a:prstGeom prst="rect">
            <a:avLst/>
          </a:prstGeom>
          <a:solidFill>
            <a:srgbClr val="CDD4FE"/>
          </a:solidFill>
          <a:ln w="12700">
            <a:solidFill>
              <a:srgbClr val="092B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Reducir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markdown · devoluciones · coste de servicio · dependencia paid media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257800" y="4572000"/>
            <a:ext cx="5760720" cy="502920"/>
          </a:xfrm>
          <a:prstGeom prst="rect">
            <a:avLst/>
          </a:prstGeom>
          <a:solidFill>
            <a:srgbClr val="F1F1F1"/>
          </a:solidFill>
          <a:ln w="12700">
            <a:solidFill>
              <a:srgbClr val="DDDD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Aprender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cohortes · incrementalidad · patrón sectorial · escalabilidad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60120" y="5715000"/>
            <a:ext cx="10058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777777"/>
                </a:solidFill>
              </a:rPr>
              <a:t>La capa económica debe conectarse a KPI auditables: fórmula, fuente, nivel de cálculo, frecuencia, owner y criterio de interpretación.</a:t>
            </a:r>
            <a:endParaRPr lang="en-US" sz="8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7558851" cy="36576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58851" y="146304"/>
            <a:ext cx="4632844" cy="36576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pic>
        <p:nvPicPr>
          <p:cNvPr id="5" name="Image 0" descr="/mnt/data/Convercus Logo 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554" y="329184"/>
            <a:ext cx="895405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" y="9418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72585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TES KPI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12064" y="115214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Scorecard económico-operativo para gobernar experiencias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12064" y="6510528"/>
            <a:ext cx="5577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A8A"/>
                </a:solidFill>
              </a:rPr>
              <a:t>Convercus para agencias · Playbook de ecosistema y servicios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11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58952" y="2057400"/>
            <a:ext cx="4983480" cy="1234440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Identidad y adopción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Customer Identification Rate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Member Penetration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Consentimiento válido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336792" y="2057400"/>
            <a:ext cx="4983480" cy="1234440"/>
          </a:xfrm>
          <a:prstGeom prst="rect">
            <a:avLst/>
          </a:prstGeom>
          <a:solidFill>
            <a:srgbClr val="CDD4FE"/>
          </a:solidFill>
          <a:ln w="12700">
            <a:solidFill>
              <a:srgbClr val="092BF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Progresión y lealtad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Start Rate / Completion Rate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Repeat Rate 60/90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Frecuencia de compra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8952" y="3749040"/>
            <a:ext cx="4983480" cy="1234440"/>
          </a:xfrm>
          <a:prstGeom prst="rect">
            <a:avLst/>
          </a:prstGeom>
          <a:solidFill>
            <a:srgbClr val="FDD3E6"/>
          </a:solidFill>
          <a:ln w="12700">
            <a:solidFill>
              <a:srgbClr val="F72585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Economía y margen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Gross Margin %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Contribution Margin/txn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Payback Period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Effective Rebate Rate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36792" y="3749040"/>
            <a:ext cx="4983480" cy="1234440"/>
          </a:xfrm>
          <a:prstGeom prst="rect">
            <a:avLst/>
          </a:prstGeom>
          <a:solidFill>
            <a:srgbClr val="F1F1F1"/>
          </a:solidFill>
          <a:ln w="12700">
            <a:solidFill>
              <a:srgbClr val="DDDDD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Operación y canal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Cost-to-Serve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Promo Uplift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BOPIS / BORIS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Return Rate / Markdown Rate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32688" y="5532120"/>
            <a:ext cx="10241280" cy="566928"/>
          </a:xfrm>
          <a:prstGeom prst="rect">
            <a:avLst/>
          </a:prstGeom>
          <a:solidFill>
            <a:srgbClr val="090685"/>
          </a:solidFill>
          <a:ln w="12700">
            <a:solidFill>
              <a:srgbClr val="0906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Regla de gobierno: ningún KPI vale solo por su nombre. Debe poder reconstruirse por fórmula, fuente, nivel de cálculo, frecuencia, responsable y compuerta de decisión.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68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92BFD"/>
          </a:solidFill>
          <a:ln w="12700">
            <a:solidFill>
              <a:srgbClr val="092BF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>
                <a:alpha val="0"/>
              </a:srgbClr>
            </a:solidFill>
            <a:prstDash val="solid"/>
          </a:ln>
        </p:spPr>
      </p:sp>
      <p:pic>
        <p:nvPicPr>
          <p:cNvPr id="5" name="Image 0" descr="/mnt/data/Convercus Logo 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947" y="502920"/>
            <a:ext cx="980681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" y="1965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EFFF"/>
                </a:solidFill>
              </a:rPr>
              <a:t>OPERACIÓN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32688" y="233172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Acto 3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60120" y="3310128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CEFBFF"/>
                </a:solidFill>
              </a:rPr>
              <a:t>Campaña holística, operación y toolkit de experiencias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7558851" cy="36576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58851" y="146304"/>
            <a:ext cx="4632844" cy="36576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pic>
        <p:nvPicPr>
          <p:cNvPr id="5" name="Image 0" descr="/mnt/data/Convercus Logo 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554" y="329184"/>
            <a:ext cx="895405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" y="9418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72585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MÉTODO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12064" y="115214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De brief de campaña a arquitectura de experiencia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12064" y="6510528"/>
            <a:ext cx="5577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A8A"/>
                </a:solidFill>
              </a:rPr>
              <a:t>Convercus para agencias · Playbook de ecosistema y servicios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13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02920" y="2029968"/>
            <a:ext cx="2304288" cy="841248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1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Objetivo económico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2816352" y="2450592"/>
            <a:ext cx="466344" cy="0"/>
          </a:xfrm>
          <a:prstGeom prst="line">
            <a:avLst/>
          </a:prstGeom>
          <a:noFill/>
          <a:ln w="12700">
            <a:solidFill>
              <a:srgbClr val="090685"/>
            </a:solidFill>
            <a:prstDash val="solid"/>
            <a:headEnd type="none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3410712" y="2029968"/>
            <a:ext cx="2304288" cy="841248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2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Evento disparador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5724144" y="2450592"/>
            <a:ext cx="466344" cy="0"/>
          </a:xfrm>
          <a:prstGeom prst="line">
            <a:avLst/>
          </a:prstGeom>
          <a:noFill/>
          <a:ln w="12700">
            <a:solidFill>
              <a:srgbClr val="090685"/>
            </a:solidFill>
            <a:prstDash val="solid"/>
            <a:headEnd type="none"/>
            <a:tailEnd type="triangle"/>
          </a:ln>
        </p:spPr>
      </p:sp>
      <p:sp>
        <p:nvSpPr>
          <p:cNvPr id="14" name="Text 11"/>
          <p:cNvSpPr/>
          <p:nvPr/>
        </p:nvSpPr>
        <p:spPr>
          <a:xfrm>
            <a:off x="6318504" y="2029968"/>
            <a:ext cx="2304288" cy="841248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3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Perfil de lealtad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8631936" y="2450592"/>
            <a:ext cx="466344" cy="0"/>
          </a:xfrm>
          <a:prstGeom prst="line">
            <a:avLst/>
          </a:prstGeom>
          <a:noFill/>
          <a:ln w="12700">
            <a:solidFill>
              <a:srgbClr val="090685"/>
            </a:solidFill>
            <a:prstDash val="solid"/>
            <a:headEnd type="none"/>
            <a:tailEnd type="triangle"/>
          </a:ln>
        </p:spPr>
      </p:sp>
      <p:sp>
        <p:nvSpPr>
          <p:cNvPr id="16" name="Text 13"/>
          <p:cNvSpPr/>
          <p:nvPr/>
        </p:nvSpPr>
        <p:spPr>
          <a:xfrm>
            <a:off x="9226296" y="2029968"/>
            <a:ext cx="2304288" cy="841248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4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Secuencia e hitos</a:t>
            </a:r>
            <a:endParaRPr lang="en-US" sz="1320" dirty="0"/>
          </a:p>
        </p:txBody>
      </p:sp>
      <p:sp>
        <p:nvSpPr>
          <p:cNvPr id="17" name="Text 14"/>
          <p:cNvSpPr/>
          <p:nvPr/>
        </p:nvSpPr>
        <p:spPr>
          <a:xfrm>
            <a:off x="502920" y="3447288"/>
            <a:ext cx="2304288" cy="841248"/>
          </a:xfrm>
          <a:prstGeom prst="rect">
            <a:avLst/>
          </a:prstGeom>
          <a:solidFill>
            <a:srgbClr val="CDD4FE"/>
          </a:solidFill>
          <a:ln w="12700">
            <a:solidFill>
              <a:srgbClr val="092B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5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Incentivos y reglas</a:t>
            </a:r>
            <a:endParaRPr lang="en-US" sz="1320" dirty="0"/>
          </a:p>
        </p:txBody>
      </p:sp>
      <p:sp>
        <p:nvSpPr>
          <p:cNvPr id="18" name="Shape 15"/>
          <p:cNvSpPr/>
          <p:nvPr/>
        </p:nvSpPr>
        <p:spPr>
          <a:xfrm>
            <a:off x="2816352" y="3867912"/>
            <a:ext cx="466344" cy="0"/>
          </a:xfrm>
          <a:prstGeom prst="line">
            <a:avLst/>
          </a:prstGeom>
          <a:noFill/>
          <a:ln w="12700">
            <a:solidFill>
              <a:srgbClr val="090685"/>
            </a:solidFill>
            <a:prstDash val="solid"/>
            <a:headEnd type="none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3410712" y="3447288"/>
            <a:ext cx="2304288" cy="841248"/>
          </a:xfrm>
          <a:prstGeom prst="rect">
            <a:avLst/>
          </a:prstGeom>
          <a:solidFill>
            <a:srgbClr val="CDD4FE"/>
          </a:solidFill>
          <a:ln w="12700">
            <a:solidFill>
              <a:srgbClr val="092B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6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Canales</a:t>
            </a:r>
            <a:endParaRPr lang="en-US" sz="1320" dirty="0"/>
          </a:p>
        </p:txBody>
      </p:sp>
      <p:sp>
        <p:nvSpPr>
          <p:cNvPr id="20" name="Shape 17"/>
          <p:cNvSpPr/>
          <p:nvPr/>
        </p:nvSpPr>
        <p:spPr>
          <a:xfrm>
            <a:off x="5724144" y="3867912"/>
            <a:ext cx="466344" cy="0"/>
          </a:xfrm>
          <a:prstGeom prst="line">
            <a:avLst/>
          </a:prstGeom>
          <a:noFill/>
          <a:ln w="12700">
            <a:solidFill>
              <a:srgbClr val="090685"/>
            </a:solidFill>
            <a:prstDash val="solid"/>
            <a:headEnd type="none"/>
            <a:tailEnd type="triangle"/>
          </a:ln>
        </p:spPr>
      </p:sp>
      <p:sp>
        <p:nvSpPr>
          <p:cNvPr id="21" name="Text 18"/>
          <p:cNvSpPr/>
          <p:nvPr/>
        </p:nvSpPr>
        <p:spPr>
          <a:xfrm>
            <a:off x="6318504" y="3447288"/>
            <a:ext cx="2304288" cy="841248"/>
          </a:xfrm>
          <a:prstGeom prst="rect">
            <a:avLst/>
          </a:prstGeom>
          <a:solidFill>
            <a:srgbClr val="CDD4FE"/>
          </a:solidFill>
          <a:ln w="12700">
            <a:solidFill>
              <a:srgbClr val="092B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7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Medición</a:t>
            </a:r>
            <a:endParaRPr lang="en-US" sz="1320" dirty="0"/>
          </a:p>
        </p:txBody>
      </p:sp>
      <p:sp>
        <p:nvSpPr>
          <p:cNvPr id="22" name="Shape 19"/>
          <p:cNvSpPr/>
          <p:nvPr/>
        </p:nvSpPr>
        <p:spPr>
          <a:xfrm>
            <a:off x="8631936" y="3867912"/>
            <a:ext cx="466344" cy="0"/>
          </a:xfrm>
          <a:prstGeom prst="line">
            <a:avLst/>
          </a:prstGeom>
          <a:noFill/>
          <a:ln w="12700">
            <a:solidFill>
              <a:srgbClr val="090685"/>
            </a:solidFill>
            <a:prstDash val="solid"/>
            <a:headEnd type="none"/>
            <a:tailEnd type="triangle"/>
          </a:ln>
        </p:spPr>
      </p:sp>
      <p:sp>
        <p:nvSpPr>
          <p:cNvPr id="23" name="Text 20"/>
          <p:cNvSpPr/>
          <p:nvPr/>
        </p:nvSpPr>
        <p:spPr>
          <a:xfrm>
            <a:off x="9226296" y="3447288"/>
            <a:ext cx="2304288" cy="841248"/>
          </a:xfrm>
          <a:prstGeom prst="rect">
            <a:avLst/>
          </a:prstGeom>
          <a:solidFill>
            <a:srgbClr val="CDD4FE"/>
          </a:solidFill>
          <a:ln w="12700">
            <a:solidFill>
              <a:srgbClr val="092B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8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Aprendizaje</a:t>
            </a:r>
            <a:endParaRPr lang="en-US" sz="1320" dirty="0"/>
          </a:p>
        </p:txBody>
      </p:sp>
      <p:sp>
        <p:nvSpPr>
          <p:cNvPr id="24" name="Shape 21"/>
          <p:cNvSpPr/>
          <p:nvPr/>
        </p:nvSpPr>
        <p:spPr>
          <a:xfrm>
            <a:off x="9345168" y="2871216"/>
            <a:ext cx="0" cy="530352"/>
          </a:xfrm>
          <a:prstGeom prst="line">
            <a:avLst/>
          </a:prstGeom>
          <a:noFill/>
          <a:ln w="12700">
            <a:solidFill>
              <a:srgbClr val="090685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3236976" y="3447288"/>
            <a:ext cx="466344" cy="0"/>
          </a:xfrm>
          <a:prstGeom prst="line">
            <a:avLst/>
          </a:prstGeom>
          <a:noFill/>
          <a:ln w="12700">
            <a:solidFill>
              <a:srgbClr val="090685"/>
            </a:solidFill>
            <a:prstDash val="solid"/>
            <a:headEnd type="none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6144768" y="3447288"/>
            <a:ext cx="466344" cy="0"/>
          </a:xfrm>
          <a:prstGeom prst="line">
            <a:avLst/>
          </a:prstGeom>
          <a:noFill/>
          <a:ln w="12700">
            <a:solidFill>
              <a:srgbClr val="090685"/>
            </a:solidFill>
            <a:prstDash val="solid"/>
            <a:headEnd type="none"/>
            <a:tailEnd type="triangle"/>
          </a:ln>
        </p:spPr>
      </p:sp>
      <p:sp>
        <p:nvSpPr>
          <p:cNvPr id="27" name="Text 24"/>
          <p:cNvSpPr/>
          <p:nvPr/>
        </p:nvSpPr>
        <p:spPr>
          <a:xfrm>
            <a:off x="987552" y="5394960"/>
            <a:ext cx="10195560" cy="566928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La agencia no “rellena canales”: diseña una progresión con intención económica y después decide qué soportes la hacen ocurrir.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7558851" cy="36576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58851" y="146304"/>
            <a:ext cx="4632844" cy="36576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pic>
        <p:nvPicPr>
          <p:cNvPr id="5" name="Image 0" descr="/mnt/data/Convercus Logo 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554" y="329184"/>
            <a:ext cx="895405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" y="9418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72585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TOOLKIT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12064" y="115214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Toolkit operativo: piezas que la agencia convierte en servicio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12064" y="6510528"/>
            <a:ext cx="5577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A8A"/>
                </a:solidFill>
              </a:rPr>
              <a:t>Convercus para agencias · Playbook de ecosistema y servicios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14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13232" y="2029968"/>
            <a:ext cx="2340864" cy="822960"/>
          </a:xfrm>
          <a:prstGeom prst="rect">
            <a:avLst/>
          </a:prstGeom>
          <a:solidFill>
            <a:srgbClr val="FDD3E6"/>
          </a:solidFill>
          <a:ln w="12700">
            <a:solidFill>
              <a:srgbClr val="F725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Experiencias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secuencias, hitos y progresión</a:t>
            </a:r>
            <a:endParaRPr lang="en-US" sz="1220" dirty="0"/>
          </a:p>
        </p:txBody>
      </p:sp>
      <p:sp>
        <p:nvSpPr>
          <p:cNvPr id="11" name="Text 8"/>
          <p:cNvSpPr/>
          <p:nvPr/>
        </p:nvSpPr>
        <p:spPr>
          <a:xfrm>
            <a:off x="3502152" y="2029968"/>
            <a:ext cx="2340864" cy="822960"/>
          </a:xfrm>
          <a:prstGeom prst="rect">
            <a:avLst/>
          </a:prstGeom>
          <a:solidFill>
            <a:srgbClr val="CDD4FE"/>
          </a:solidFill>
          <a:ln w="12700">
            <a:solidFill>
              <a:srgbClr val="092B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Newsfeed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contenido + CTA + push opcional</a:t>
            </a:r>
            <a:endParaRPr lang="en-US" sz="1220" dirty="0"/>
          </a:p>
        </p:txBody>
      </p:sp>
      <p:sp>
        <p:nvSpPr>
          <p:cNvPr id="12" name="Text 9"/>
          <p:cNvSpPr/>
          <p:nvPr/>
        </p:nvSpPr>
        <p:spPr>
          <a:xfrm>
            <a:off x="6291072" y="2029968"/>
            <a:ext cx="2340864" cy="822960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Cupones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beneficio + reglas + targeting</a:t>
            </a:r>
            <a:endParaRPr lang="en-US" sz="1220" dirty="0"/>
          </a:p>
        </p:txBody>
      </p:sp>
      <p:sp>
        <p:nvSpPr>
          <p:cNvPr id="13" name="Text 10"/>
          <p:cNvSpPr/>
          <p:nvPr/>
        </p:nvSpPr>
        <p:spPr>
          <a:xfrm>
            <a:off x="9079992" y="2029968"/>
            <a:ext cx="2340864" cy="822960"/>
          </a:xfrm>
          <a:prstGeom prst="rect">
            <a:avLst/>
          </a:prstGeom>
          <a:solidFill>
            <a:srgbClr val="CDD4FE"/>
          </a:solidFill>
          <a:ln w="12700">
            <a:solidFill>
              <a:srgbClr val="092B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Puntos / créditos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ganar y canjear con gobernanza</a:t>
            </a:r>
            <a:endParaRPr lang="en-US" sz="1220" dirty="0"/>
          </a:p>
        </p:txBody>
      </p:sp>
      <p:sp>
        <p:nvSpPr>
          <p:cNvPr id="14" name="Text 11"/>
          <p:cNvSpPr/>
          <p:nvPr/>
        </p:nvSpPr>
        <p:spPr>
          <a:xfrm>
            <a:off x="713232" y="3401568"/>
            <a:ext cx="2340864" cy="822960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Wallet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beneficios portables y visibles</a:t>
            </a:r>
            <a:endParaRPr lang="en-US" sz="1220" dirty="0"/>
          </a:p>
        </p:txBody>
      </p:sp>
      <p:sp>
        <p:nvSpPr>
          <p:cNvPr id="15" name="Text 12"/>
          <p:cNvSpPr/>
          <p:nvPr/>
        </p:nvSpPr>
        <p:spPr>
          <a:xfrm>
            <a:off x="3502152" y="3401568"/>
            <a:ext cx="2340864" cy="822960"/>
          </a:xfrm>
          <a:prstGeom prst="rect">
            <a:avLst/>
          </a:prstGeom>
          <a:solidFill>
            <a:srgbClr val="CDD4FE"/>
          </a:solidFill>
          <a:ln w="12700">
            <a:solidFill>
              <a:srgbClr val="092B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QR / OCR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identificación y validación de eventos</a:t>
            </a:r>
            <a:endParaRPr lang="en-US" sz="1220" dirty="0"/>
          </a:p>
        </p:txBody>
      </p:sp>
      <p:sp>
        <p:nvSpPr>
          <p:cNvPr id="16" name="Text 13"/>
          <p:cNvSpPr/>
          <p:nvPr/>
        </p:nvSpPr>
        <p:spPr>
          <a:xfrm>
            <a:off x="6291072" y="3401568"/>
            <a:ext cx="2340864" cy="822960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Gamificación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retos, sellos, niveles y badges</a:t>
            </a:r>
            <a:endParaRPr lang="en-US" sz="1220" dirty="0"/>
          </a:p>
        </p:txBody>
      </p:sp>
      <p:sp>
        <p:nvSpPr>
          <p:cNvPr id="17" name="Text 14"/>
          <p:cNvSpPr/>
          <p:nvPr/>
        </p:nvSpPr>
        <p:spPr>
          <a:xfrm>
            <a:off x="9079992" y="3401568"/>
            <a:ext cx="2340864" cy="822960"/>
          </a:xfrm>
          <a:prstGeom prst="rect">
            <a:avLst/>
          </a:prstGeom>
          <a:solidFill>
            <a:srgbClr val="CDD4FE"/>
          </a:solidFill>
          <a:ln w="12700">
            <a:solidFill>
              <a:srgbClr val="092B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Referral / socios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prescripción y ecosistema partner</a:t>
            </a:r>
            <a:endParaRPr lang="en-US" sz="1220" dirty="0"/>
          </a:p>
        </p:txBody>
      </p:sp>
      <p:sp>
        <p:nvSpPr>
          <p:cNvPr id="18" name="Text 15"/>
          <p:cNvSpPr/>
          <p:nvPr/>
        </p:nvSpPr>
        <p:spPr>
          <a:xfrm>
            <a:off x="914400" y="5349240"/>
            <a:ext cx="1037844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90685"/>
                </a:solidFill>
              </a:rPr>
              <a:t>Estas piezas no son módulos sueltos: la agencia las empaqueta como consultoría, diseño de experiencias, operación de campañas, medición y optimización continua.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7558851" cy="36576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58851" y="146304"/>
            <a:ext cx="4632844" cy="36576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pic>
        <p:nvPicPr>
          <p:cNvPr id="5" name="Image 0" descr="/mnt/data/Convercus Logo 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554" y="329184"/>
            <a:ext cx="895405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" y="9418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72585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GOBERNANZA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12064" y="115214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Modelo operativo de ecosistema: agencia, cliente y Convercus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12064" y="6510528"/>
            <a:ext cx="5577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A8A"/>
                </a:solidFill>
              </a:rPr>
              <a:t>Convercus para agencias · Playbook de ecosistema y servicios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15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68680" y="2011680"/>
            <a:ext cx="3246120" cy="2331720"/>
          </a:xfrm>
          <a:prstGeom prst="rect">
            <a:avLst/>
          </a:prstGeom>
          <a:solidFill>
            <a:srgbClr val="FDD3E6"/>
          </a:solidFill>
          <a:ln w="12700">
            <a:solidFill>
              <a:srgbClr val="F725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AGENCIA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Estrategia de experiencia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Creatividad y contenido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Calendario de campañas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Operación y reporting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462272" y="2011680"/>
            <a:ext cx="3246120" cy="2331720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CLIENTE FINAL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Objetivos de negocio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Datos y canales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Aprobación de reglas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Prioridades comerciales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065008" y="2011680"/>
            <a:ext cx="3246120" cy="2331720"/>
          </a:xfrm>
          <a:prstGeom prst="rect">
            <a:avLst/>
          </a:prstGeom>
          <a:solidFill>
            <a:srgbClr val="CDD4FE"/>
          </a:solidFill>
          <a:ln w="12700">
            <a:solidFill>
              <a:srgbClr val="092B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CONVERCUS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Plataforma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Integraciones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Capacidades loyalty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Enablement y soporte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142232" y="3172968"/>
            <a:ext cx="274320" cy="0"/>
          </a:xfrm>
          <a:prstGeom prst="line">
            <a:avLst/>
          </a:prstGeom>
          <a:noFill/>
          <a:ln w="16510">
            <a:solidFill>
              <a:srgbClr val="090685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7735824" y="3172968"/>
            <a:ext cx="274320" cy="0"/>
          </a:xfrm>
          <a:prstGeom prst="line">
            <a:avLst/>
          </a:prstGeom>
          <a:noFill/>
          <a:ln w="16510">
            <a:solidFill>
              <a:srgbClr val="090685"/>
            </a:solidFill>
            <a:prstDash val="solid"/>
            <a:headEnd type="none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1078992" y="5230368"/>
            <a:ext cx="9966960" cy="621792"/>
          </a:xfrm>
          <a:prstGeom prst="rect">
            <a:avLst/>
          </a:prstGeom>
          <a:solidFill>
            <a:srgbClr val="090685"/>
          </a:solidFill>
          <a:ln w="12700">
            <a:solidFill>
              <a:srgbClr val="0906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Principio comercial: la agencia no es mero prescriptor. Es socio de adopción, venta, diseño y operación de experiencias.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7558851" cy="36576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58851" y="146304"/>
            <a:ext cx="4632844" cy="36576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pic>
        <p:nvPicPr>
          <p:cNvPr id="5" name="Image 0" descr="/mnt/data/Convercus Logo 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554" y="329184"/>
            <a:ext cx="895405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" y="9418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72585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EJECUCIÓN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12064" y="115214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Una campaña holística se gobierna por experiencia, no por canal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12064" y="6510528"/>
            <a:ext cx="5577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A8A"/>
                </a:solidFill>
              </a:rPr>
              <a:t>Convercus para agencias · Playbook de ecosistema y servicios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16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13232" y="2084832"/>
            <a:ext cx="2999232" cy="658368"/>
          </a:xfrm>
          <a:prstGeom prst="rect">
            <a:avLst/>
          </a:prstGeom>
          <a:solidFill>
            <a:srgbClr val="F1F1F1"/>
          </a:solidFill>
          <a:ln w="12700">
            <a:solidFill>
              <a:srgbClr val="DDDD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Paid digital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audiencias y retargeting</a:t>
            </a:r>
            <a:endParaRPr lang="en-US" sz="1220" dirty="0"/>
          </a:p>
        </p:txBody>
      </p:sp>
      <p:sp>
        <p:nvSpPr>
          <p:cNvPr id="11" name="Text 8"/>
          <p:cNvSpPr/>
          <p:nvPr/>
        </p:nvSpPr>
        <p:spPr>
          <a:xfrm>
            <a:off x="4480560" y="2084832"/>
            <a:ext cx="2999232" cy="658368"/>
          </a:xfrm>
          <a:prstGeom prst="rect">
            <a:avLst/>
          </a:prstGeom>
          <a:solidFill>
            <a:srgbClr val="F1F1F1"/>
          </a:solidFill>
          <a:ln w="12700">
            <a:solidFill>
              <a:srgbClr val="DDDD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OOH / tradicional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presencia y memoria</a:t>
            </a:r>
            <a:endParaRPr lang="en-US" sz="1220" dirty="0"/>
          </a:p>
        </p:txBody>
      </p:sp>
      <p:sp>
        <p:nvSpPr>
          <p:cNvPr id="12" name="Text 9"/>
          <p:cNvSpPr/>
          <p:nvPr/>
        </p:nvSpPr>
        <p:spPr>
          <a:xfrm>
            <a:off x="8247888" y="2084832"/>
            <a:ext cx="2999232" cy="658368"/>
          </a:xfrm>
          <a:prstGeom prst="rect">
            <a:avLst/>
          </a:prstGeom>
          <a:solidFill>
            <a:srgbClr val="F1F1F1"/>
          </a:solidFill>
          <a:ln w="12700">
            <a:solidFill>
              <a:srgbClr val="DDDD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Comunicación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email, push, contenido</a:t>
            </a:r>
            <a:endParaRPr lang="en-US" sz="1220" dirty="0"/>
          </a:p>
        </p:txBody>
      </p:sp>
      <p:sp>
        <p:nvSpPr>
          <p:cNvPr id="13" name="Text 10"/>
          <p:cNvSpPr/>
          <p:nvPr/>
        </p:nvSpPr>
        <p:spPr>
          <a:xfrm>
            <a:off x="713232" y="3145536"/>
            <a:ext cx="2999232" cy="658368"/>
          </a:xfrm>
          <a:prstGeom prst="rect">
            <a:avLst/>
          </a:prstGeom>
          <a:solidFill>
            <a:srgbClr val="F1F1F1"/>
          </a:solidFill>
          <a:ln w="12700">
            <a:solidFill>
              <a:srgbClr val="DDDD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Punto de venta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staff, QR, TPV</a:t>
            </a:r>
            <a:endParaRPr lang="en-US" sz="1220" dirty="0"/>
          </a:p>
        </p:txBody>
      </p:sp>
      <p:sp>
        <p:nvSpPr>
          <p:cNvPr id="14" name="Text 11"/>
          <p:cNvSpPr/>
          <p:nvPr/>
        </p:nvSpPr>
        <p:spPr>
          <a:xfrm>
            <a:off x="4480560" y="3145536"/>
            <a:ext cx="2999232" cy="658368"/>
          </a:xfrm>
          <a:prstGeom prst="rect">
            <a:avLst/>
          </a:prstGeom>
          <a:solidFill>
            <a:srgbClr val="F1F1F1"/>
          </a:solidFill>
          <a:ln w="12700">
            <a:solidFill>
              <a:srgbClr val="DDDD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eCommerce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landing, checkout, click &amp; collect</a:t>
            </a:r>
            <a:endParaRPr lang="en-US" sz="1220" dirty="0"/>
          </a:p>
        </p:txBody>
      </p:sp>
      <p:sp>
        <p:nvSpPr>
          <p:cNvPr id="15" name="Text 12"/>
          <p:cNvSpPr/>
          <p:nvPr/>
        </p:nvSpPr>
        <p:spPr>
          <a:xfrm>
            <a:off x="8247888" y="3145536"/>
            <a:ext cx="2999232" cy="658368"/>
          </a:xfrm>
          <a:prstGeom prst="rect">
            <a:avLst/>
          </a:prstGeom>
          <a:solidFill>
            <a:srgbClr val="FDD3E6"/>
          </a:solidFill>
          <a:ln w="12700">
            <a:solidFill>
              <a:srgbClr val="F725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Lealtad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puntos, cupón, wallet, niveles</a:t>
            </a:r>
            <a:endParaRPr lang="en-US" sz="1220" dirty="0"/>
          </a:p>
        </p:txBody>
      </p:sp>
      <p:sp>
        <p:nvSpPr>
          <p:cNvPr id="16" name="Text 13"/>
          <p:cNvSpPr/>
          <p:nvPr/>
        </p:nvSpPr>
        <p:spPr>
          <a:xfrm>
            <a:off x="2423160" y="4809744"/>
            <a:ext cx="7360920" cy="777240"/>
          </a:xfrm>
          <a:prstGeom prst="rect">
            <a:avLst/>
          </a:prstGeom>
          <a:solidFill>
            <a:srgbClr val="090685"/>
          </a:solidFill>
          <a:ln w="12700">
            <a:solidFill>
              <a:srgbClr val="0906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EXPERIENCIA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secuencia común · reglas · incentivos · medición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68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92BFD"/>
          </a:solidFill>
          <a:ln w="12700">
            <a:solidFill>
              <a:srgbClr val="092BF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>
                <a:alpha val="0"/>
              </a:srgbClr>
            </a:solidFill>
            <a:prstDash val="solid"/>
          </a:ln>
        </p:spPr>
      </p:sp>
      <p:pic>
        <p:nvPicPr>
          <p:cNvPr id="5" name="Image 0" descr="/mnt/data/Convercus Logo 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947" y="502920"/>
            <a:ext cx="980681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" y="1965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EFFF"/>
                </a:solidFill>
              </a:rPr>
              <a:t>ACTIVACIÓN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32688" y="233172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Acto 4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60120" y="3310128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CEFBFF"/>
                </a:solidFill>
              </a:rPr>
              <a:t>Casos, piloto y próximos pasos comerciales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7558851" cy="36576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58851" y="146304"/>
            <a:ext cx="4632844" cy="36576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pic>
        <p:nvPicPr>
          <p:cNvPr id="5" name="Image 0" descr="/mnt/data/Convercus Logo 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554" y="329184"/>
            <a:ext cx="895405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" y="9418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72585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CASO SECTORIAL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12064" y="115214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Caso retail/moda: del descuento a la experiencia de criterio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12064" y="6510528"/>
            <a:ext cx="5577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A8A"/>
                </a:solidFill>
              </a:rPr>
              <a:t>Convercus para agencias · Playbook de ecosistema y servicios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18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86384" y="2029968"/>
            <a:ext cx="3246120" cy="1005840"/>
          </a:xfrm>
          <a:prstGeom prst="rect">
            <a:avLst/>
          </a:prstGeom>
          <a:solidFill>
            <a:srgbClr val="F1F1F1"/>
          </a:solidFill>
          <a:ln w="12700">
            <a:solidFill>
              <a:srgbClr val="DDDD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Problema económico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Markdown, devoluciones y dependencia de promociones planas.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443984" y="2029968"/>
            <a:ext cx="3246120" cy="1005840"/>
          </a:xfrm>
          <a:prstGeom prst="rect">
            <a:avLst/>
          </a:prstGeom>
          <a:solidFill>
            <a:srgbClr val="FDD3E6"/>
          </a:solidFill>
          <a:ln w="12700">
            <a:solidFill>
              <a:srgbClr val="F725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Experiencia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Explorar categoría → progresar → recibir incentivo solo si hay fricción real.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101584" y="2029968"/>
            <a:ext cx="3246120" cy="1005840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KPIs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Markdown Rate · Discount Dilution · GM% · Repeat Rate · Return Rate.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050792" y="2532888"/>
            <a:ext cx="301752" cy="0"/>
          </a:xfrm>
          <a:prstGeom prst="line">
            <a:avLst/>
          </a:prstGeom>
          <a:noFill/>
          <a:ln w="15240">
            <a:solidFill>
              <a:srgbClr val="090685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7717536" y="2532888"/>
            <a:ext cx="292608" cy="0"/>
          </a:xfrm>
          <a:prstGeom prst="line">
            <a:avLst/>
          </a:prstGeom>
          <a:noFill/>
          <a:ln w="15240">
            <a:solidFill>
              <a:srgbClr val="090685"/>
            </a:solidFill>
            <a:prstDash val="solid"/>
            <a:headEnd type="none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960120" y="4315968"/>
            <a:ext cx="10241280" cy="786384"/>
          </a:xfrm>
          <a:prstGeom prst="rect">
            <a:avLst/>
          </a:prstGeom>
          <a:solidFill>
            <a:srgbClr val="090685"/>
          </a:solidFill>
          <a:ln w="12700">
            <a:solidFill>
              <a:srgbClr val="0906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Tesis para la agencia: sustituir descuento plano por experiencia de orientación, reconocimiento y ventaja selectiva. El valor no es “más promoción”, sino mejor calidad de decisión.</a:t>
            </a:r>
            <a:endParaRPr lang="en-US" sz="1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7558851" cy="36576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58851" y="146304"/>
            <a:ext cx="4632844" cy="36576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pic>
        <p:nvPicPr>
          <p:cNvPr id="5" name="Image 0" descr="/mnt/data/Convercus Logo 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554" y="329184"/>
            <a:ext cx="895405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" y="9418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72585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CASO SECTORIAL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12064" y="115214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Caso hospitality/ocio: antes, durante y después de la estancia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12064" y="6510528"/>
            <a:ext cx="5577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A8A"/>
                </a:solidFill>
              </a:rPr>
              <a:t>Convercus para agencias · Playbook de ecosistema y servicios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19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14400" y="2377440"/>
            <a:ext cx="2816352" cy="1170432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Antes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reserva directa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beneficio exclusivo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794760" y="2962656"/>
            <a:ext cx="621792" cy="0"/>
          </a:xfrm>
          <a:prstGeom prst="line">
            <a:avLst/>
          </a:prstGeom>
          <a:noFill/>
          <a:ln w="19050">
            <a:solidFill>
              <a:srgbClr val="090685"/>
            </a:solidFill>
            <a:prstDash val="solid"/>
            <a:headEnd type="none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4663440" y="2377440"/>
            <a:ext cx="2816352" cy="1170432"/>
          </a:xfrm>
          <a:prstGeom prst="rect">
            <a:avLst/>
          </a:prstGeom>
          <a:solidFill>
            <a:srgbClr val="FDD3E6"/>
          </a:solidFill>
          <a:ln w="12700">
            <a:solidFill>
              <a:srgbClr val="F725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Durante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servicios, F&amp;B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actividades y upgrades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543800" y="2962656"/>
            <a:ext cx="621792" cy="0"/>
          </a:xfrm>
          <a:prstGeom prst="line">
            <a:avLst/>
          </a:prstGeom>
          <a:noFill/>
          <a:ln w="19050">
            <a:solidFill>
              <a:srgbClr val="090685"/>
            </a:solidFill>
            <a:prstDash val="solid"/>
            <a:headEnd type="none"/>
            <a:tailEnd type="triangle"/>
          </a:ln>
        </p:spPr>
      </p:sp>
      <p:sp>
        <p:nvSpPr>
          <p:cNvPr id="14" name="Text 11"/>
          <p:cNvSpPr/>
          <p:nvPr/>
        </p:nvSpPr>
        <p:spPr>
          <a:xfrm>
            <a:off x="8412480" y="2377440"/>
            <a:ext cx="2816352" cy="1170432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Después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agradecimiento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recompra y recomendación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51560" y="4709160"/>
            <a:ext cx="10058400" cy="658368"/>
          </a:xfrm>
          <a:prstGeom prst="rect">
            <a:avLst/>
          </a:prstGeom>
          <a:solidFill>
            <a:srgbClr val="090685"/>
          </a:solidFill>
          <a:ln w="12700">
            <a:solidFill>
              <a:srgbClr val="0906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Economía visible: más canal directo, mayor gasto por huésped, mejor uso de servicios complementarios, repetición y menor dependencia de intermediarios.</a:t>
            </a:r>
            <a:endParaRPr lang="en-US" sz="1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7558851" cy="36576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58851" y="146304"/>
            <a:ext cx="4632844" cy="36576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pic>
        <p:nvPicPr>
          <p:cNvPr id="5" name="Image 0" descr="/mnt/data/Convercus Logo 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554" y="329184"/>
            <a:ext cx="895405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" y="9418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72585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CASO SECTORIAL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12064" y="115214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Caso movilidad/territorio: del billete al ecosistema partner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12064" y="6510528"/>
            <a:ext cx="5577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A8A"/>
                </a:solidFill>
              </a:rPr>
              <a:t>Convercus para agencias · Playbook de ecosistema y servicios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20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22960" y="2286000"/>
            <a:ext cx="2423160" cy="914400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Evento inicial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Viaje, km o CO₂ evitado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611880" y="2286000"/>
            <a:ext cx="2880360" cy="914400"/>
          </a:xfrm>
          <a:prstGeom prst="rect">
            <a:avLst/>
          </a:prstGeom>
          <a:solidFill>
            <a:srgbClr val="FDD3E6"/>
          </a:solidFill>
          <a:ln w="12700">
            <a:solidFill>
              <a:srgbClr val="F725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Experiencia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Misiones de movilidad, cultura y comercio local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931152" y="2286000"/>
            <a:ext cx="2880360" cy="914400"/>
          </a:xfrm>
          <a:prstGeom prst="rect">
            <a:avLst/>
          </a:prstGeom>
          <a:solidFill>
            <a:srgbClr val="CDD4FE"/>
          </a:solidFill>
          <a:ln w="12700">
            <a:solidFill>
              <a:srgbClr val="092B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Ecosistema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Partners, beneficios, mapas y activaciones locales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012680" y="2286000"/>
            <a:ext cx="1417320" cy="914400"/>
          </a:xfrm>
          <a:prstGeom prst="rect">
            <a:avLst/>
          </a:prstGeom>
          <a:solidFill>
            <a:srgbClr val="090685"/>
          </a:solidFill>
          <a:ln w="12700">
            <a:solidFill>
              <a:srgbClr val="0906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Valor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Datos 1P, recurrencia, patrocinio y cross-visits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273552" y="2743200"/>
            <a:ext cx="292608" cy="0"/>
          </a:xfrm>
          <a:prstGeom prst="line">
            <a:avLst/>
          </a:prstGeom>
          <a:noFill/>
          <a:ln w="15240">
            <a:solidFill>
              <a:srgbClr val="090685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510528" y="2743200"/>
            <a:ext cx="365760" cy="0"/>
          </a:xfrm>
          <a:prstGeom prst="line">
            <a:avLst/>
          </a:prstGeom>
          <a:noFill/>
          <a:ln w="15240">
            <a:solidFill>
              <a:srgbClr val="090685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9829800" y="2743200"/>
            <a:ext cx="137160" cy="0"/>
          </a:xfrm>
          <a:prstGeom prst="line">
            <a:avLst/>
          </a:prstGeom>
          <a:noFill/>
          <a:ln w="15240">
            <a:solidFill>
              <a:srgbClr val="090685"/>
            </a:solidFill>
            <a:prstDash val="solid"/>
            <a:headEnd type="none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1097280" y="4709160"/>
            <a:ext cx="9966960" cy="658368"/>
          </a:xfrm>
          <a:prstGeom prst="rect">
            <a:avLst/>
          </a:prstGeom>
          <a:solidFill>
            <a:srgbClr val="090685"/>
          </a:solidFill>
          <a:ln w="12700">
            <a:solidFill>
              <a:srgbClr val="0906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Tesis para la agencia: la campaña no solo comunica movilidad sostenible; crea una experiencia medible que conecta comportamiento, territorio y partners.</a:t>
            </a:r>
            <a:endParaRPr lang="en-US" sz="1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7558851" cy="36576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58851" y="146304"/>
            <a:ext cx="4632844" cy="36576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pic>
        <p:nvPicPr>
          <p:cNvPr id="5" name="Image 0" descr="/mnt/data/Convercus Logo 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554" y="329184"/>
            <a:ext cx="895405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" y="9418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72585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PLAN ACCIONABLE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12064" y="115214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Piloto 90 días: demostrar servicio, operación y economía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12064" y="6510528"/>
            <a:ext cx="5577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A8A"/>
                </a:solidFill>
              </a:rPr>
              <a:t>Convercus para agencias · Playbook de ecosistema y servicios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21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49808" y="2194560"/>
            <a:ext cx="235915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4FE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0–2 semanas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selección de cliente/sector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baseline KPI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hipótesis económica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145536" y="2990088"/>
            <a:ext cx="301752" cy="0"/>
          </a:xfrm>
          <a:prstGeom prst="line">
            <a:avLst/>
          </a:prstGeom>
          <a:noFill/>
          <a:ln w="15240">
            <a:solidFill>
              <a:srgbClr val="090685"/>
            </a:solidFill>
            <a:prstDash val="solid"/>
            <a:headEnd type="none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3584448" y="2194560"/>
            <a:ext cx="235915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4FE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3–5 semanas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diseño de 2 experiencias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reglas e incentivos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plan de canales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980176" y="2990088"/>
            <a:ext cx="301752" cy="0"/>
          </a:xfrm>
          <a:prstGeom prst="line">
            <a:avLst/>
          </a:prstGeom>
          <a:noFill/>
          <a:ln w="15240">
            <a:solidFill>
              <a:srgbClr val="090685"/>
            </a:solidFill>
            <a:prstDash val="solid"/>
            <a:headEnd type="none"/>
            <a:tailEnd type="triangle"/>
          </a:ln>
        </p:spPr>
      </p:sp>
      <p:sp>
        <p:nvSpPr>
          <p:cNvPr id="14" name="Text 11"/>
          <p:cNvSpPr/>
          <p:nvPr/>
        </p:nvSpPr>
        <p:spPr>
          <a:xfrm>
            <a:off x="6419088" y="2194560"/>
            <a:ext cx="2359152" cy="1664208"/>
          </a:xfrm>
          <a:prstGeom prst="rect">
            <a:avLst/>
          </a:prstGeom>
          <a:solidFill>
            <a:srgbClr val="FDD3E6"/>
          </a:solidFill>
          <a:ln w="12700">
            <a:solidFill>
              <a:srgbClr val="F72585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6–10 semanas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activación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operación semanal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QA y ajustes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814816" y="2990088"/>
            <a:ext cx="301752" cy="0"/>
          </a:xfrm>
          <a:prstGeom prst="line">
            <a:avLst/>
          </a:prstGeom>
          <a:noFill/>
          <a:ln w="15240">
            <a:solidFill>
              <a:srgbClr val="090685"/>
            </a:solidFill>
            <a:prstDash val="solid"/>
            <a:headEnd type="none"/>
            <a:tailEnd type="triangle"/>
          </a:ln>
        </p:spPr>
      </p:sp>
      <p:sp>
        <p:nvSpPr>
          <p:cNvPr id="16" name="Text 13"/>
          <p:cNvSpPr/>
          <p:nvPr/>
        </p:nvSpPr>
        <p:spPr>
          <a:xfrm>
            <a:off x="9253728" y="2194560"/>
            <a:ext cx="235915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4FE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11–12 semanas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lectura de resultados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business case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plan de escala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50976" y="5074920"/>
            <a:ext cx="10287000" cy="658368"/>
          </a:xfrm>
          <a:prstGeom prst="rect">
            <a:avLst/>
          </a:prstGeom>
          <a:solidFill>
            <a:srgbClr val="090685"/>
          </a:solidFill>
          <a:ln w="12700">
            <a:solidFill>
              <a:srgbClr val="0906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FFFFF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Entregables: mapa de experiencias, calendario de campaña holística, scorecard económico, informe de aprendizaje y propuesta de servicio recurrente.</a:t>
            </a:r>
            <a:endParaRPr lang="en-US" sz="16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7558851" cy="36576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58851" y="146304"/>
            <a:ext cx="4632844" cy="36576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pic>
        <p:nvPicPr>
          <p:cNvPr id="5" name="Image 0" descr="/mnt/data/Convercus Logo 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554" y="329184"/>
            <a:ext cx="895405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" y="9418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72585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ENABLEMENT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12064" y="115214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Argumentario comercial para la agencia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12064" y="6510528"/>
            <a:ext cx="5577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A8A"/>
                </a:solidFill>
              </a:rPr>
              <a:t>Convercus para agencias · Playbook de ecosistema y servicios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22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005840" y="1920240"/>
            <a:ext cx="10058400" cy="438912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1  No vendemos “otro software”: habilitamos un servicio recurrente.</a:t>
            </a:r>
            <a:endParaRPr lang="en-US" sz="1380" dirty="0"/>
          </a:p>
        </p:txBody>
      </p:sp>
      <p:sp>
        <p:nvSpPr>
          <p:cNvPr id="11" name="Text 8"/>
          <p:cNvSpPr/>
          <p:nvPr/>
        </p:nvSpPr>
        <p:spPr>
          <a:xfrm>
            <a:off x="1005840" y="2633472"/>
            <a:ext cx="10058400" cy="438912"/>
          </a:xfrm>
          <a:prstGeom prst="rect">
            <a:avLst/>
          </a:prstGeom>
          <a:solidFill>
            <a:srgbClr val="F1F1F1"/>
          </a:solidFill>
          <a:ln w="12700">
            <a:solidFill>
              <a:srgbClr val="DDDDD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2  La experiencia es la unidad que une campaña, canal, punto de venta y lealtad.</a:t>
            </a:r>
            <a:endParaRPr lang="en-US" sz="1380" dirty="0"/>
          </a:p>
        </p:txBody>
      </p:sp>
      <p:sp>
        <p:nvSpPr>
          <p:cNvPr id="12" name="Text 9"/>
          <p:cNvSpPr/>
          <p:nvPr/>
        </p:nvSpPr>
        <p:spPr>
          <a:xfrm>
            <a:off x="1005840" y="3346704"/>
            <a:ext cx="10058400" cy="438912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3  Convercus complementa el stack existente: CRM, CDP, eCommerce, TPV y CMS.</a:t>
            </a:r>
            <a:endParaRPr lang="en-US" sz="1380" dirty="0"/>
          </a:p>
        </p:txBody>
      </p:sp>
      <p:sp>
        <p:nvSpPr>
          <p:cNvPr id="13" name="Text 10"/>
          <p:cNvSpPr/>
          <p:nvPr/>
        </p:nvSpPr>
        <p:spPr>
          <a:xfrm>
            <a:off x="1005840" y="4059936"/>
            <a:ext cx="10058400" cy="438912"/>
          </a:xfrm>
          <a:prstGeom prst="rect">
            <a:avLst/>
          </a:prstGeom>
          <a:solidFill>
            <a:srgbClr val="F1F1F1"/>
          </a:solidFill>
          <a:ln w="12700">
            <a:solidFill>
              <a:srgbClr val="DDDDD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4  La medición económica protege margen y evita comprar ventas con incentivos.</a:t>
            </a:r>
            <a:endParaRPr lang="en-US" sz="1380" dirty="0"/>
          </a:p>
        </p:txBody>
      </p:sp>
      <p:sp>
        <p:nvSpPr>
          <p:cNvPr id="14" name="Text 11"/>
          <p:cNvSpPr/>
          <p:nvPr/>
        </p:nvSpPr>
        <p:spPr>
          <a:xfrm>
            <a:off x="1005840" y="4773168"/>
            <a:ext cx="10058400" cy="438912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5  El modelo es sectorizable: retail, hospitality, movilidad, ocio, alimentación y redes federadas.</a:t>
            </a:r>
            <a:endParaRPr lang="en-US" sz="13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7558851" cy="36576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58851" y="146304"/>
            <a:ext cx="4632844" cy="36576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</p:sp>
      <p:pic>
        <p:nvPicPr>
          <p:cNvPr id="5" name="Image 0" descr="/mnt/data/Convercus Logo 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554" y="329184"/>
            <a:ext cx="895405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" y="9418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72585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CIERRE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12064" y="115214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Próximos pasos comerciales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12064" y="6510528"/>
            <a:ext cx="5577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A8A"/>
                </a:solidFill>
              </a:rPr>
              <a:t>Convercus para agencias · Playbook de ecosistema y servicios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23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005840" y="2057400"/>
            <a:ext cx="47091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4F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1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Validar esta narrativa con Mínima / agencia piloto.</a:t>
            </a:r>
            <a:endParaRPr lang="en-US" sz="1270" dirty="0"/>
          </a:p>
        </p:txBody>
      </p:sp>
      <p:sp>
        <p:nvSpPr>
          <p:cNvPr id="11" name="Text 8"/>
          <p:cNvSpPr/>
          <p:nvPr/>
        </p:nvSpPr>
        <p:spPr>
          <a:xfrm>
            <a:off x="6263640" y="2057400"/>
            <a:ext cx="47091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4F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2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Elegir 1–2 verticales prioritarios y 2 clientes candidatos.</a:t>
            </a:r>
            <a:endParaRPr lang="en-US" sz="1270" dirty="0"/>
          </a:p>
        </p:txBody>
      </p:sp>
      <p:sp>
        <p:nvSpPr>
          <p:cNvPr id="12" name="Text 9"/>
          <p:cNvSpPr/>
          <p:nvPr/>
        </p:nvSpPr>
        <p:spPr>
          <a:xfrm>
            <a:off x="1005840" y="3108960"/>
            <a:ext cx="47091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4F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3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Definir scorecard económico mínimo: identificación, progresión, margen y coste de servicio.</a:t>
            </a:r>
            <a:endParaRPr lang="en-US" sz="1270" dirty="0"/>
          </a:p>
        </p:txBody>
      </p:sp>
      <p:sp>
        <p:nvSpPr>
          <p:cNvPr id="13" name="Text 10"/>
          <p:cNvSpPr/>
          <p:nvPr/>
        </p:nvSpPr>
        <p:spPr>
          <a:xfrm>
            <a:off x="6263640" y="3108960"/>
            <a:ext cx="47091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4F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4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Co-diseñar dos experiencias demostrables y una campaña holística de activación.</a:t>
            </a:r>
            <a:endParaRPr lang="en-US" sz="1270" dirty="0"/>
          </a:p>
        </p:txBody>
      </p:sp>
      <p:sp>
        <p:nvSpPr>
          <p:cNvPr id="14" name="Text 11"/>
          <p:cNvSpPr/>
          <p:nvPr/>
        </p:nvSpPr>
        <p:spPr>
          <a:xfrm>
            <a:off x="1005840" y="4160520"/>
            <a:ext cx="4709160" cy="822960"/>
          </a:xfrm>
          <a:prstGeom prst="rect">
            <a:avLst/>
          </a:prstGeom>
          <a:solidFill>
            <a:srgbClr val="FDD3E6"/>
          </a:solidFill>
          <a:ln w="12700">
            <a:solidFill>
              <a:srgbClr val="F7258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5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111827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Cerrar paquete de enablement: pitch, casos sectoriales, playbook operativo y plantilla de reporting.</a:t>
            </a:r>
            <a:endParaRPr lang="en-US" sz="1270" dirty="0"/>
          </a:p>
        </p:txBody>
      </p:sp>
      <p:sp>
        <p:nvSpPr>
          <p:cNvPr id="15" name="Text 12"/>
          <p:cNvSpPr/>
          <p:nvPr/>
        </p:nvSpPr>
        <p:spPr>
          <a:xfrm>
            <a:off x="1188720" y="5623560"/>
            <a:ext cx="9784080" cy="475488"/>
          </a:xfrm>
          <a:prstGeom prst="rect">
            <a:avLst/>
          </a:prstGeom>
          <a:solidFill>
            <a:srgbClr val="090685"/>
          </a:solidFill>
          <a:ln w="12700">
            <a:solidFill>
              <a:srgbClr val="0906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FFFFF"/>
                </a:solidFill>
                <a:latin typeface="Sofia Sans" pitchFamily="34" charset="0"/>
                <a:ea typeface="Sofia Sans" pitchFamily="34" charset="-122"/>
                <a:cs typeface="Sofia Sans" pitchFamily="34" charset="-120"/>
              </a:rPr>
              <a:t>Objetivo: que la agencia pueda vender, diseñar, operar y medir experiencias Convercus como un servicio propio y recurrente.</a:t>
            </a:r>
            <a:endParaRPr lang="en-US" sz="16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fi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fi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Convercus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Convercus para agencias — Playbook de experiencias y servicios</dc:title>
  <dc:subject>Sales enablement para agencias</dc:subject>
  <dc:creator>OpenAI</dc:creator>
  <cp:lastModifiedBy>OpenAI</cp:lastModifiedBy>
  <cp:revision>1</cp:revision>
  <dcterms:created xsi:type="dcterms:W3CDTF">2026-05-06T17:30:39Z</dcterms:created>
  <dcterms:modified xsi:type="dcterms:W3CDTF">2026-05-06T17:30:39Z</dcterms:modified>
</cp:coreProperties>
</file>