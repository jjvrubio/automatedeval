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ofia Sans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ofia Sans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ofia Sans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ofia Sans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ofia Sans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ofia Sans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ofia Sans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ofia Sans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ofia Sans Regular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fia Sans Bold"/>
          <a:ea typeface="Sofia Sans Bold"/>
          <a:cs typeface="Sofia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Sofia Sans Bold"/>
          <a:ea typeface="Sofia Sans Bold"/>
          <a:cs typeface="Sofia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fia Sans Bold"/>
          <a:ea typeface="Sofia Sans Bold"/>
          <a:cs typeface="Sofia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Sofia Sans Bold"/>
          <a:ea typeface="Sofia Sans Bold"/>
          <a:cs typeface="Sofia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Sofia Sans Bold"/>
          <a:ea typeface="Sofia Sans Bold"/>
          <a:cs typeface="Sofia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692"/>
  </p:normalViewPr>
  <p:slideViewPr>
    <p:cSldViewPr snapToGrid="0" showGuides="1">
      <p:cViewPr varScale="1">
        <p:scale>
          <a:sx n="156" d="100"/>
          <a:sy n="156" d="100"/>
        </p:scale>
        <p:origin x="208" y="208"/>
      </p:cViewPr>
      <p:guideLst>
        <p:guide orient="horz" pos="2160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José Vázquez Rubio" userId="44812d6a-332f-4551-857d-f003f30831ae" providerId="ADAL" clId="{4F5728DF-B7B5-5B4D-BB01-54968F9A39A6}"/>
    <pc:docChg chg="custSel modSld">
      <pc:chgData name="Juan José Vázquez Rubio" userId="44812d6a-332f-4551-857d-f003f30831ae" providerId="ADAL" clId="{4F5728DF-B7B5-5B4D-BB01-54968F9A39A6}" dt="2026-05-08T08:29:28.071" v="20" actId="27636"/>
      <pc:docMkLst>
        <pc:docMk/>
      </pc:docMkLst>
      <pc:sldChg chg="modSp mod">
        <pc:chgData name="Juan José Vázquez Rubio" userId="44812d6a-332f-4551-857d-f003f30831ae" providerId="ADAL" clId="{4F5728DF-B7B5-5B4D-BB01-54968F9A39A6}" dt="2026-05-08T08:27:39.347" v="18" actId="20577"/>
        <pc:sldMkLst>
          <pc:docMk/>
          <pc:sldMk cId="0" sldId="261"/>
        </pc:sldMkLst>
        <pc:spChg chg="mod">
          <ac:chgData name="Juan José Vázquez Rubio" userId="44812d6a-332f-4551-857d-f003f30831ae" providerId="ADAL" clId="{4F5728DF-B7B5-5B4D-BB01-54968F9A39A6}" dt="2026-05-08T08:27:39.347" v="18" actId="20577"/>
          <ac:spMkLst>
            <pc:docMk/>
            <pc:sldMk cId="0" sldId="261"/>
            <ac:spMk id="209" creationId="{00000000-0000-0000-0000-000000000000}"/>
          </ac:spMkLst>
        </pc:spChg>
      </pc:sldChg>
      <pc:sldChg chg="modSp mod">
        <pc:chgData name="Juan José Vázquez Rubio" userId="44812d6a-332f-4551-857d-f003f30831ae" providerId="ADAL" clId="{4F5728DF-B7B5-5B4D-BB01-54968F9A39A6}" dt="2026-05-08T08:29:28.071" v="20" actId="27636"/>
        <pc:sldMkLst>
          <pc:docMk/>
          <pc:sldMk cId="0" sldId="264"/>
        </pc:sldMkLst>
        <pc:spChg chg="mod">
          <ac:chgData name="Juan José Vázquez Rubio" userId="44812d6a-332f-4551-857d-f003f30831ae" providerId="ADAL" clId="{4F5728DF-B7B5-5B4D-BB01-54968F9A39A6}" dt="2026-05-08T08:29:28.071" v="20" actId="27636"/>
          <ac:spMkLst>
            <pc:docMk/>
            <pc:sldMk cId="0" sldId="264"/>
            <ac:spMk id="28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Sofia Sans Regular"/>
      </a:defRPr>
    </a:lvl1pPr>
    <a:lvl2pPr indent="228600" latinLnBrk="0">
      <a:defRPr sz="1200">
        <a:latin typeface="+mj-lt"/>
        <a:ea typeface="+mj-ea"/>
        <a:cs typeface="+mj-cs"/>
        <a:sym typeface="Sofia Sans Regular"/>
      </a:defRPr>
    </a:lvl2pPr>
    <a:lvl3pPr indent="457200" latinLnBrk="0">
      <a:defRPr sz="1200">
        <a:latin typeface="+mj-lt"/>
        <a:ea typeface="+mj-ea"/>
        <a:cs typeface="+mj-cs"/>
        <a:sym typeface="Sofia Sans Regular"/>
      </a:defRPr>
    </a:lvl3pPr>
    <a:lvl4pPr indent="685800" latinLnBrk="0">
      <a:defRPr sz="1200">
        <a:latin typeface="+mj-lt"/>
        <a:ea typeface="+mj-ea"/>
        <a:cs typeface="+mj-cs"/>
        <a:sym typeface="Sofia Sans Regular"/>
      </a:defRPr>
    </a:lvl4pPr>
    <a:lvl5pPr indent="914400" latinLnBrk="0">
      <a:defRPr sz="1200">
        <a:latin typeface="+mj-lt"/>
        <a:ea typeface="+mj-ea"/>
        <a:cs typeface="+mj-cs"/>
        <a:sym typeface="Sofia Sans Regular"/>
      </a:defRPr>
    </a:lvl5pPr>
    <a:lvl6pPr indent="1143000" latinLnBrk="0">
      <a:defRPr sz="1200">
        <a:latin typeface="+mj-lt"/>
        <a:ea typeface="+mj-ea"/>
        <a:cs typeface="+mj-cs"/>
        <a:sym typeface="Sofia Sans Regular"/>
      </a:defRPr>
    </a:lvl6pPr>
    <a:lvl7pPr indent="1371600" latinLnBrk="0">
      <a:defRPr sz="1200">
        <a:latin typeface="+mj-lt"/>
        <a:ea typeface="+mj-ea"/>
        <a:cs typeface="+mj-cs"/>
        <a:sym typeface="Sofia Sans Regular"/>
      </a:defRPr>
    </a:lvl7pPr>
    <a:lvl8pPr indent="1600200" latinLnBrk="0">
      <a:defRPr sz="1200">
        <a:latin typeface="+mj-lt"/>
        <a:ea typeface="+mj-ea"/>
        <a:cs typeface="+mj-cs"/>
        <a:sym typeface="Sofia Sans Regular"/>
      </a:defRPr>
    </a:lvl8pPr>
    <a:lvl9pPr indent="1828800" latinLnBrk="0">
      <a:defRPr sz="1200">
        <a:latin typeface="+mj-lt"/>
        <a:ea typeface="+mj-ea"/>
        <a:cs typeface="+mj-cs"/>
        <a:sym typeface="Sofia Sans Regular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>
            <a:spLocks noGrp="1"/>
          </p:cNvSpPr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Texto del título</a:t>
            </a:r>
          </a:p>
        </p:txBody>
      </p:sp>
      <p:sp>
        <p:nvSpPr>
          <p:cNvPr id="3" name="Nivel de texto 1…"/>
          <p:cNvSpPr txBox="1"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ofia Sans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fia Sans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fia Sans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fia Sans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fia Sans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fia Sans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fia Sans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fia Sans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fia Sans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fia Sans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6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-1" y="-1"/>
            <a:ext cx="12191697" cy="201170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" name="Shape 1"/>
          <p:cNvSpPr/>
          <p:nvPr/>
        </p:nvSpPr>
        <p:spPr>
          <a:xfrm>
            <a:off x="-1" y="6656831"/>
            <a:ext cx="12191697" cy="201169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55" y="859536"/>
            <a:ext cx="1151235" cy="493777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ext 2"/>
          <p:cNvSpPr txBox="1"/>
          <p:nvPr/>
        </p:nvSpPr>
        <p:spPr>
          <a:xfrm>
            <a:off x="932687" y="1869185"/>
            <a:ext cx="29260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SALES ENABLEMENT</a:t>
            </a:r>
          </a:p>
        </p:txBody>
      </p:sp>
      <p:sp>
        <p:nvSpPr>
          <p:cNvPr id="31" name="Text 3"/>
          <p:cNvSpPr txBox="1"/>
          <p:nvPr/>
        </p:nvSpPr>
        <p:spPr>
          <a:xfrm>
            <a:off x="932687" y="2212848"/>
            <a:ext cx="7406642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Convercus for Agencies</a:t>
            </a:r>
          </a:p>
        </p:txBody>
      </p:sp>
      <p:sp>
        <p:nvSpPr>
          <p:cNvPr id="32" name="Text 4"/>
          <p:cNvSpPr txBox="1"/>
          <p:nvPr/>
        </p:nvSpPr>
        <p:spPr>
          <a:xfrm>
            <a:off x="960119" y="3236976"/>
            <a:ext cx="6675120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Playbook for experiences, holistic campaigns and recurring services</a:t>
            </a:r>
          </a:p>
        </p:txBody>
      </p:sp>
      <p:sp>
        <p:nvSpPr>
          <p:cNvPr id="33" name="Text 5"/>
          <p:cNvSpPr txBox="1"/>
          <p:nvPr/>
        </p:nvSpPr>
        <p:spPr>
          <a:xfrm>
            <a:off x="960119" y="5192267"/>
            <a:ext cx="69494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From isolated campaigns to measurable, operated and profitable experiences</a:t>
            </a:r>
          </a:p>
        </p:txBody>
      </p:sp>
      <p:sp>
        <p:nvSpPr>
          <p:cNvPr id="34" name="Text 6"/>
          <p:cNvSpPr txBox="1"/>
          <p:nvPr/>
        </p:nvSpPr>
        <p:spPr>
          <a:xfrm>
            <a:off x="8357616" y="5338572"/>
            <a:ext cx="224028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t>Reordered version · May 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STRUCTURE</a:t>
            </a:r>
          </a:p>
        </p:txBody>
      </p:sp>
      <p:sp>
        <p:nvSpPr>
          <p:cNvPr id="41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The deck is reordered around four decisions</a:t>
            </a:r>
          </a:p>
        </p:txBody>
      </p:sp>
      <p:sp>
        <p:nvSpPr>
          <p:cNvPr id="42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43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02</a:t>
            </a:r>
          </a:p>
        </p:txBody>
      </p:sp>
      <p:grpSp>
        <p:nvGrpSpPr>
          <p:cNvPr id="46" name="Text 7"/>
          <p:cNvGrpSpPr/>
          <p:nvPr/>
        </p:nvGrpSpPr>
        <p:grpSpPr>
          <a:xfrm>
            <a:off x="658367" y="1975104"/>
            <a:ext cx="786386" cy="275400"/>
            <a:chOff x="0" y="0"/>
            <a:chExt cx="786384" cy="275399"/>
          </a:xfrm>
        </p:grpSpPr>
        <p:sp>
          <p:nvSpPr>
            <p:cNvPr id="44" name="Rectángulo"/>
            <p:cNvSpPr/>
            <p:nvPr/>
          </p:nvSpPr>
          <p:spPr>
            <a:xfrm>
              <a:off x="-1" y="-1"/>
              <a:ext cx="786386" cy="274322"/>
            </a:xfrm>
            <a:prstGeom prst="rect">
              <a:avLst/>
            </a:prstGeom>
            <a:solidFill>
              <a:srgbClr val="F72585"/>
            </a:solidFill>
            <a:ln w="9525" cap="flat">
              <a:solidFill>
                <a:srgbClr val="F72585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  <a:endParaRPr/>
            </a:p>
          </p:txBody>
        </p:sp>
        <p:sp>
          <p:nvSpPr>
            <p:cNvPr id="45" name="ACT 1"/>
            <p:cNvSpPr txBox="1"/>
            <p:nvPr/>
          </p:nvSpPr>
          <p:spPr>
            <a:xfrm>
              <a:off x="4762" y="4762"/>
              <a:ext cx="776860" cy="2706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0" tIns="380" rIns="380" bIns="380" numCol="1" anchor="ctr">
              <a:normAutofit/>
            </a:bodyPr>
            <a:lstStyle>
              <a:lvl1pPr algn="ctr" defTabSz="868680">
                <a:defRPr sz="1710"/>
              </a:lvl1pPr>
            </a:lstStyle>
            <a:p>
              <a:r>
                <a:t>ACT 1</a:t>
              </a:r>
            </a:p>
          </p:txBody>
        </p:sp>
      </p:grpSp>
      <p:grpSp>
        <p:nvGrpSpPr>
          <p:cNvPr id="49" name="Text 8"/>
          <p:cNvGrpSpPr/>
          <p:nvPr/>
        </p:nvGrpSpPr>
        <p:grpSpPr>
          <a:xfrm>
            <a:off x="658367" y="2404871"/>
            <a:ext cx="2340866" cy="1572770"/>
            <a:chOff x="0" y="0"/>
            <a:chExt cx="2340864" cy="1572768"/>
          </a:xfrm>
        </p:grpSpPr>
        <p:sp>
          <p:nvSpPr>
            <p:cNvPr id="47" name="Rectángulo"/>
            <p:cNvSpPr/>
            <p:nvPr/>
          </p:nvSpPr>
          <p:spPr>
            <a:xfrm>
              <a:off x="-1" y="-1"/>
              <a:ext cx="2340866" cy="1572770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8" name="Experiences…"/>
            <p:cNvSpPr txBox="1"/>
            <p:nvPr/>
          </p:nvSpPr>
          <p:spPr>
            <a:xfrm>
              <a:off x="6349" y="6349"/>
              <a:ext cx="2328166" cy="1560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Experiences</a:t>
              </a:r>
              <a:endParaRPr sz="1300"/>
            </a:p>
            <a:p>
              <a:r>
                <a:t>The central unit for design, operation and measurement.</a:t>
              </a:r>
            </a:p>
          </p:txBody>
        </p:sp>
      </p:grpSp>
      <p:sp>
        <p:nvSpPr>
          <p:cNvPr id="50" name="Shape 9"/>
          <p:cNvSpPr/>
          <p:nvPr/>
        </p:nvSpPr>
        <p:spPr>
          <a:xfrm>
            <a:off x="3054095" y="3182111"/>
            <a:ext cx="274321" cy="1"/>
          </a:xfrm>
          <a:prstGeom prst="line">
            <a:avLst/>
          </a:prstGeom>
          <a:ln w="1778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53" name="Text 10"/>
          <p:cNvGrpSpPr/>
          <p:nvPr/>
        </p:nvGrpSpPr>
        <p:grpSpPr>
          <a:xfrm>
            <a:off x="3520440" y="1975104"/>
            <a:ext cx="786385" cy="275400"/>
            <a:chOff x="0" y="0"/>
            <a:chExt cx="786384" cy="275399"/>
          </a:xfrm>
        </p:grpSpPr>
        <p:sp>
          <p:nvSpPr>
            <p:cNvPr id="51" name="Rectángulo"/>
            <p:cNvSpPr/>
            <p:nvPr/>
          </p:nvSpPr>
          <p:spPr>
            <a:xfrm>
              <a:off x="-1" y="-1"/>
              <a:ext cx="786386" cy="274322"/>
            </a:xfrm>
            <a:prstGeom prst="rect">
              <a:avLst/>
            </a:prstGeom>
            <a:solidFill>
              <a:srgbClr val="092BFD"/>
            </a:solidFill>
            <a:ln w="9525" cap="flat">
              <a:solidFill>
                <a:srgbClr val="092BFD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2" name="ACT 2"/>
            <p:cNvSpPr txBox="1"/>
            <p:nvPr/>
          </p:nvSpPr>
          <p:spPr>
            <a:xfrm>
              <a:off x="4762" y="4762"/>
              <a:ext cx="776860" cy="2706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0" tIns="380" rIns="380" bIns="380" numCol="1" anchor="ctr">
              <a:normAutofit/>
            </a:bodyPr>
            <a:lstStyle>
              <a:lvl1pPr algn="ctr" defTabSz="868680">
                <a:defRPr sz="1710">
                  <a:solidFill>
                    <a:srgbClr val="FFFFFF"/>
                  </a:solidFill>
                </a:defRPr>
              </a:lvl1pPr>
            </a:lstStyle>
            <a:p>
              <a:r>
                <a:t>ACT 2</a:t>
              </a:r>
            </a:p>
          </p:txBody>
        </p:sp>
      </p:grpSp>
      <p:grpSp>
        <p:nvGrpSpPr>
          <p:cNvPr id="56" name="Text 11"/>
          <p:cNvGrpSpPr/>
          <p:nvPr/>
        </p:nvGrpSpPr>
        <p:grpSpPr>
          <a:xfrm>
            <a:off x="3520440" y="2404871"/>
            <a:ext cx="2340865" cy="1572770"/>
            <a:chOff x="0" y="0"/>
            <a:chExt cx="2340864" cy="1572768"/>
          </a:xfrm>
        </p:grpSpPr>
        <p:sp>
          <p:nvSpPr>
            <p:cNvPr id="54" name="Rectángulo"/>
            <p:cNvSpPr/>
            <p:nvPr/>
          </p:nvSpPr>
          <p:spPr>
            <a:xfrm>
              <a:off x="-1" y="-1"/>
              <a:ext cx="2340866" cy="1572770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5" name="Economics…"/>
            <p:cNvSpPr txBox="1"/>
            <p:nvPr/>
          </p:nvSpPr>
          <p:spPr>
            <a:xfrm>
              <a:off x="6349" y="6349"/>
              <a:ext cx="2328166" cy="1560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Economics</a:t>
              </a:r>
              <a:endParaRPr sz="1300"/>
            </a:p>
            <a:p>
              <a:r>
                <a:t>How the agency monetizes it and how the client justifies it.</a:t>
              </a:r>
            </a:p>
          </p:txBody>
        </p:sp>
      </p:grpSp>
      <p:sp>
        <p:nvSpPr>
          <p:cNvPr id="57" name="Shape 12"/>
          <p:cNvSpPr/>
          <p:nvPr/>
        </p:nvSpPr>
        <p:spPr>
          <a:xfrm>
            <a:off x="5916167" y="3182111"/>
            <a:ext cx="274321" cy="1"/>
          </a:xfrm>
          <a:prstGeom prst="line">
            <a:avLst/>
          </a:prstGeom>
          <a:ln w="1778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60" name="Text 13"/>
          <p:cNvGrpSpPr/>
          <p:nvPr/>
        </p:nvGrpSpPr>
        <p:grpSpPr>
          <a:xfrm>
            <a:off x="6382511" y="1975104"/>
            <a:ext cx="786385" cy="275400"/>
            <a:chOff x="0" y="0"/>
            <a:chExt cx="786384" cy="275399"/>
          </a:xfrm>
        </p:grpSpPr>
        <p:sp>
          <p:nvSpPr>
            <p:cNvPr id="58" name="Rectángulo"/>
            <p:cNvSpPr/>
            <p:nvPr/>
          </p:nvSpPr>
          <p:spPr>
            <a:xfrm>
              <a:off x="-1" y="-1"/>
              <a:ext cx="786386" cy="274322"/>
            </a:xfrm>
            <a:prstGeom prst="rect">
              <a:avLst/>
            </a:prstGeom>
            <a:solidFill>
              <a:srgbClr val="092BFD"/>
            </a:solidFill>
            <a:ln w="9525" cap="flat">
              <a:solidFill>
                <a:srgbClr val="092BFD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9" name="ACT 3"/>
            <p:cNvSpPr txBox="1"/>
            <p:nvPr/>
          </p:nvSpPr>
          <p:spPr>
            <a:xfrm>
              <a:off x="4762" y="4762"/>
              <a:ext cx="776860" cy="2706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0" tIns="380" rIns="380" bIns="380" numCol="1" anchor="ctr">
              <a:normAutofit/>
            </a:bodyPr>
            <a:lstStyle>
              <a:lvl1pPr algn="ctr" defTabSz="868680">
                <a:defRPr sz="1710">
                  <a:solidFill>
                    <a:srgbClr val="FFFFFF"/>
                  </a:solidFill>
                </a:defRPr>
              </a:lvl1pPr>
            </a:lstStyle>
            <a:p>
              <a:r>
                <a:t>ACT 3</a:t>
              </a:r>
            </a:p>
          </p:txBody>
        </p:sp>
      </p:grpSp>
      <p:grpSp>
        <p:nvGrpSpPr>
          <p:cNvPr id="63" name="Text 14"/>
          <p:cNvGrpSpPr/>
          <p:nvPr/>
        </p:nvGrpSpPr>
        <p:grpSpPr>
          <a:xfrm>
            <a:off x="6382511" y="2404871"/>
            <a:ext cx="2340866" cy="1572770"/>
            <a:chOff x="0" y="0"/>
            <a:chExt cx="2340864" cy="1572768"/>
          </a:xfrm>
        </p:grpSpPr>
        <p:sp>
          <p:nvSpPr>
            <p:cNvPr id="61" name="Rectángulo"/>
            <p:cNvSpPr/>
            <p:nvPr/>
          </p:nvSpPr>
          <p:spPr>
            <a:xfrm>
              <a:off x="-1" y="-1"/>
              <a:ext cx="2340866" cy="1572770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2" name="Holistic campaign…"/>
            <p:cNvSpPr txBox="1"/>
            <p:nvPr/>
          </p:nvSpPr>
          <p:spPr>
            <a:xfrm>
              <a:off x="6349" y="6349"/>
              <a:ext cx="2328166" cy="1560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 defTabSz="868680">
                <a:defRPr sz="1710"/>
              </a:pPr>
              <a:r>
                <a:t>Holistic campaign</a:t>
              </a:r>
              <a:endParaRPr sz="1235"/>
            </a:p>
            <a:p>
              <a:pPr defTabSz="868680">
                <a:defRPr sz="1710"/>
              </a:pPr>
              <a:r>
                <a:t>The campaign as a framework that includes channels, communication, point of sale and loyalty.</a:t>
              </a:r>
            </a:p>
          </p:txBody>
        </p:sp>
      </p:grpSp>
      <p:sp>
        <p:nvSpPr>
          <p:cNvPr id="64" name="Shape 15"/>
          <p:cNvSpPr/>
          <p:nvPr/>
        </p:nvSpPr>
        <p:spPr>
          <a:xfrm>
            <a:off x="8778240" y="3182111"/>
            <a:ext cx="274321" cy="1"/>
          </a:xfrm>
          <a:prstGeom prst="line">
            <a:avLst/>
          </a:prstGeom>
          <a:ln w="1778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67" name="Text 16"/>
          <p:cNvGrpSpPr/>
          <p:nvPr/>
        </p:nvGrpSpPr>
        <p:grpSpPr>
          <a:xfrm>
            <a:off x="9244583" y="1975104"/>
            <a:ext cx="786385" cy="275400"/>
            <a:chOff x="0" y="0"/>
            <a:chExt cx="786384" cy="275399"/>
          </a:xfrm>
        </p:grpSpPr>
        <p:sp>
          <p:nvSpPr>
            <p:cNvPr id="65" name="Rectángulo"/>
            <p:cNvSpPr/>
            <p:nvPr/>
          </p:nvSpPr>
          <p:spPr>
            <a:xfrm>
              <a:off x="-1" y="-1"/>
              <a:ext cx="786386" cy="274322"/>
            </a:xfrm>
            <a:prstGeom prst="rect">
              <a:avLst/>
            </a:prstGeom>
            <a:solidFill>
              <a:srgbClr val="092BFD"/>
            </a:solidFill>
            <a:ln w="9525" cap="flat">
              <a:solidFill>
                <a:srgbClr val="092BFD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6" name="ACT 4"/>
            <p:cNvSpPr txBox="1"/>
            <p:nvPr/>
          </p:nvSpPr>
          <p:spPr>
            <a:xfrm>
              <a:off x="4762" y="4762"/>
              <a:ext cx="776860" cy="2706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0" tIns="380" rIns="380" bIns="380" numCol="1" anchor="ctr">
              <a:normAutofit/>
            </a:bodyPr>
            <a:lstStyle>
              <a:lvl1pPr algn="ctr" defTabSz="868680">
                <a:defRPr sz="1710">
                  <a:solidFill>
                    <a:srgbClr val="FFFFFF"/>
                  </a:solidFill>
                </a:defRPr>
              </a:lvl1pPr>
            </a:lstStyle>
            <a:p>
              <a:r>
                <a:t>ACT 4</a:t>
              </a:r>
            </a:p>
          </p:txBody>
        </p:sp>
      </p:grpSp>
      <p:grpSp>
        <p:nvGrpSpPr>
          <p:cNvPr id="70" name="Text 17"/>
          <p:cNvGrpSpPr/>
          <p:nvPr/>
        </p:nvGrpSpPr>
        <p:grpSpPr>
          <a:xfrm>
            <a:off x="9244583" y="2404871"/>
            <a:ext cx="2340865" cy="1572770"/>
            <a:chOff x="0" y="0"/>
            <a:chExt cx="2340864" cy="1572768"/>
          </a:xfrm>
        </p:grpSpPr>
        <p:sp>
          <p:nvSpPr>
            <p:cNvPr id="68" name="Rectángulo"/>
            <p:cNvSpPr/>
            <p:nvPr/>
          </p:nvSpPr>
          <p:spPr>
            <a:xfrm>
              <a:off x="-1" y="-1"/>
              <a:ext cx="2340866" cy="1572770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9" name="Activation…"/>
            <p:cNvSpPr txBox="1"/>
            <p:nvPr/>
          </p:nvSpPr>
          <p:spPr>
            <a:xfrm>
              <a:off x="6349" y="6349"/>
              <a:ext cx="2328166" cy="1560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Activation</a:t>
              </a:r>
              <a:endParaRPr sz="1300"/>
            </a:p>
            <a:p>
              <a:r>
                <a:t>Use cases, toolkit, pilot and next commercial steps.</a:t>
              </a:r>
            </a:p>
          </p:txBody>
        </p:sp>
      </p:grpSp>
      <p:sp>
        <p:nvSpPr>
          <p:cNvPr id="71" name="Text 18"/>
          <p:cNvSpPr txBox="1"/>
          <p:nvPr/>
        </p:nvSpPr>
        <p:spPr>
          <a:xfrm>
            <a:off x="960119" y="4709159"/>
            <a:ext cx="10378442" cy="658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5" tIns="635" rIns="635" bIns="635">
            <a:normAutofit/>
          </a:bodyPr>
          <a:lstStyle>
            <a:lvl1pPr algn="ctr"/>
          </a:lstStyle>
          <a:p>
            <a:r>
              <a:t>The message shifts from “Convercus helps run campaigns” to: Convercus enables the agency to design, activate, operate and measure experiences that turn campaign investment into economic progression.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THESIS</a:t>
            </a:r>
          </a:p>
        </p:txBody>
      </p:sp>
      <p:sp>
        <p:nvSpPr>
          <p:cNvPr id="78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From campaign impacts to behavioral progressions</a:t>
            </a:r>
          </a:p>
        </p:txBody>
      </p:sp>
      <p:sp>
        <p:nvSpPr>
          <p:cNvPr id="79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80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03</a:t>
            </a:r>
          </a:p>
        </p:txBody>
      </p:sp>
      <p:grpSp>
        <p:nvGrpSpPr>
          <p:cNvPr id="83" name="Text 7"/>
          <p:cNvGrpSpPr/>
          <p:nvPr/>
        </p:nvGrpSpPr>
        <p:grpSpPr>
          <a:xfrm>
            <a:off x="713232" y="2148839"/>
            <a:ext cx="2834640" cy="914401"/>
            <a:chOff x="0" y="0"/>
            <a:chExt cx="2834639" cy="914400"/>
          </a:xfrm>
        </p:grpSpPr>
        <p:sp>
          <p:nvSpPr>
            <p:cNvPr id="81" name="Rectángulo"/>
            <p:cNvSpPr/>
            <p:nvPr/>
          </p:nvSpPr>
          <p:spPr>
            <a:xfrm>
              <a:off x="0" y="0"/>
              <a:ext cx="2834640" cy="914400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8D8D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2" name="BEFORE…"/>
            <p:cNvSpPr txBox="1"/>
            <p:nvPr/>
          </p:nvSpPr>
          <p:spPr>
            <a:xfrm>
              <a:off x="6350" y="6350"/>
              <a:ext cx="2821940" cy="90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BEFORE</a:t>
              </a:r>
              <a:endParaRPr sz="1700"/>
            </a:p>
            <a:p>
              <a:r>
                <a:t>Campaigns as impacts</a:t>
              </a:r>
            </a:p>
          </p:txBody>
        </p:sp>
      </p:grpSp>
      <p:grpSp>
        <p:nvGrpSpPr>
          <p:cNvPr id="86" name="Text 8"/>
          <p:cNvGrpSpPr/>
          <p:nvPr/>
        </p:nvGrpSpPr>
        <p:grpSpPr>
          <a:xfrm>
            <a:off x="896111" y="3401567"/>
            <a:ext cx="2468882" cy="1463041"/>
            <a:chOff x="0" y="0"/>
            <a:chExt cx="2468880" cy="1463040"/>
          </a:xfrm>
        </p:grpSpPr>
        <p:sp>
          <p:nvSpPr>
            <p:cNvPr id="84" name="Rectángulo"/>
            <p:cNvSpPr/>
            <p:nvPr/>
          </p:nvSpPr>
          <p:spPr>
            <a:xfrm>
              <a:off x="-1" y="-1"/>
              <a:ext cx="2468882" cy="146304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E4E4E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5" name="Assets…"/>
            <p:cNvSpPr txBox="1"/>
            <p:nvPr/>
          </p:nvSpPr>
          <p:spPr>
            <a:xfrm>
              <a:off x="6349" y="6349"/>
              <a:ext cx="2456182" cy="1450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Assets</a:t>
              </a:r>
              <a:endParaRPr sz="1300"/>
            </a:p>
            <a:p>
              <a:r>
                <a:t>Channels</a:t>
              </a:r>
            </a:p>
            <a:p>
              <a:r>
                <a:t>Messages</a:t>
              </a:r>
            </a:p>
            <a:p>
              <a:r>
                <a:t>Promotions</a:t>
              </a:r>
            </a:p>
            <a:p>
              <a:r>
                <a:t>Activity reporting</a:t>
              </a:r>
            </a:p>
          </p:txBody>
        </p:sp>
      </p:grpSp>
      <p:grpSp>
        <p:nvGrpSpPr>
          <p:cNvPr id="89" name="Text 9"/>
          <p:cNvGrpSpPr/>
          <p:nvPr/>
        </p:nvGrpSpPr>
        <p:grpSpPr>
          <a:xfrm>
            <a:off x="4526279" y="1874520"/>
            <a:ext cx="3154681" cy="1097281"/>
            <a:chOff x="0" y="0"/>
            <a:chExt cx="3154680" cy="1097280"/>
          </a:xfrm>
        </p:grpSpPr>
        <p:sp>
          <p:nvSpPr>
            <p:cNvPr id="87" name="Rectángulo"/>
            <p:cNvSpPr/>
            <p:nvPr/>
          </p:nvSpPr>
          <p:spPr>
            <a:xfrm>
              <a:off x="-1" y="-1"/>
              <a:ext cx="3154682" cy="1097282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8" name="NOW…"/>
            <p:cNvSpPr txBox="1"/>
            <p:nvPr/>
          </p:nvSpPr>
          <p:spPr>
            <a:xfrm>
              <a:off x="6349" y="6349"/>
              <a:ext cx="3141982" cy="10845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NOW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Experiences as architecture</a:t>
              </a:r>
            </a:p>
          </p:txBody>
        </p:sp>
      </p:grpSp>
      <p:grpSp>
        <p:nvGrpSpPr>
          <p:cNvPr id="92" name="Text 10"/>
          <p:cNvGrpSpPr/>
          <p:nvPr/>
        </p:nvGrpSpPr>
        <p:grpSpPr>
          <a:xfrm>
            <a:off x="4800600" y="3337559"/>
            <a:ext cx="2606040" cy="1600201"/>
            <a:chOff x="0" y="0"/>
            <a:chExt cx="2606039" cy="1600200"/>
          </a:xfrm>
        </p:grpSpPr>
        <p:sp>
          <p:nvSpPr>
            <p:cNvPr id="90" name="Rectángulo"/>
            <p:cNvSpPr/>
            <p:nvPr/>
          </p:nvSpPr>
          <p:spPr>
            <a:xfrm>
              <a:off x="0" y="0"/>
              <a:ext cx="2606040" cy="1600200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91" name="Events…"/>
            <p:cNvSpPr txBox="1"/>
            <p:nvPr/>
          </p:nvSpPr>
          <p:spPr>
            <a:xfrm>
              <a:off x="6350" y="6350"/>
              <a:ext cx="2593340" cy="1587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Events</a:t>
              </a:r>
              <a:endParaRPr sz="1300"/>
            </a:p>
            <a:p>
              <a:r>
                <a:t>Sequences</a:t>
              </a:r>
            </a:p>
            <a:p>
              <a:r>
                <a:t>Milestones</a:t>
              </a:r>
            </a:p>
            <a:p>
              <a:r>
                <a:t>Incentives</a:t>
              </a:r>
            </a:p>
            <a:p>
              <a:r>
                <a:t>Economic outcome</a:t>
              </a:r>
            </a:p>
          </p:txBody>
        </p:sp>
      </p:grpSp>
      <p:grpSp>
        <p:nvGrpSpPr>
          <p:cNvPr id="95" name="Text 11"/>
          <p:cNvGrpSpPr/>
          <p:nvPr/>
        </p:nvGrpSpPr>
        <p:grpSpPr>
          <a:xfrm>
            <a:off x="8705087" y="2148839"/>
            <a:ext cx="2788922" cy="914401"/>
            <a:chOff x="0" y="0"/>
            <a:chExt cx="2788920" cy="914400"/>
          </a:xfrm>
        </p:grpSpPr>
        <p:sp>
          <p:nvSpPr>
            <p:cNvPr id="93" name="Rectángulo"/>
            <p:cNvSpPr/>
            <p:nvPr/>
          </p:nvSpPr>
          <p:spPr>
            <a:xfrm>
              <a:off x="-1" y="0"/>
              <a:ext cx="2788922" cy="914400"/>
            </a:xfrm>
            <a:prstGeom prst="rect">
              <a:avLst/>
            </a:prstGeom>
            <a:solidFill>
              <a:srgbClr val="F72585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94" name="OUTCOME…"/>
            <p:cNvSpPr txBox="1"/>
            <p:nvPr/>
          </p:nvSpPr>
          <p:spPr>
            <a:xfrm>
              <a:off x="6349" y="6350"/>
              <a:ext cx="2776222" cy="90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OUTCOME</a:t>
              </a:r>
              <a:endParaRPr sz="1700"/>
            </a:p>
            <a:p>
              <a:r>
                <a:t>Recurring services for the agency</a:t>
              </a:r>
            </a:p>
          </p:txBody>
        </p:sp>
      </p:grpSp>
      <p:grpSp>
        <p:nvGrpSpPr>
          <p:cNvPr id="98" name="Text 12"/>
          <p:cNvGrpSpPr/>
          <p:nvPr/>
        </p:nvGrpSpPr>
        <p:grpSpPr>
          <a:xfrm>
            <a:off x="8897111" y="3401567"/>
            <a:ext cx="2432305" cy="1463041"/>
            <a:chOff x="0" y="0"/>
            <a:chExt cx="2432304" cy="1463040"/>
          </a:xfrm>
        </p:grpSpPr>
        <p:sp>
          <p:nvSpPr>
            <p:cNvPr id="96" name="Rectángulo"/>
            <p:cNvSpPr/>
            <p:nvPr/>
          </p:nvSpPr>
          <p:spPr>
            <a:xfrm>
              <a:off x="-1" y="-1"/>
              <a:ext cx="2432306" cy="1463042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97" name="Consulting…"/>
            <p:cNvSpPr txBox="1"/>
            <p:nvPr/>
          </p:nvSpPr>
          <p:spPr>
            <a:xfrm>
              <a:off x="6349" y="6349"/>
              <a:ext cx="2419606" cy="1450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Consulting</a:t>
              </a:r>
              <a:endParaRPr sz="1300"/>
            </a:p>
            <a:p>
              <a:r>
                <a:t>Design</a:t>
              </a:r>
            </a:p>
            <a:p>
              <a:r>
                <a:t>Operations</a:t>
              </a:r>
            </a:p>
            <a:p>
              <a:r>
                <a:t>Measurement</a:t>
              </a:r>
            </a:p>
            <a:p>
              <a:r>
                <a:t>Optimization</a:t>
              </a:r>
            </a:p>
          </p:txBody>
        </p:sp>
      </p:grpSp>
      <p:sp>
        <p:nvSpPr>
          <p:cNvPr id="99" name="Shape 13"/>
          <p:cNvSpPr/>
          <p:nvPr/>
        </p:nvSpPr>
        <p:spPr>
          <a:xfrm>
            <a:off x="3566159" y="2743200"/>
            <a:ext cx="777241" cy="0"/>
          </a:xfrm>
          <a:prstGeom prst="line">
            <a:avLst/>
          </a:prstGeom>
          <a:ln w="25400">
            <a:solidFill>
              <a:srgbClr val="092BFD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Shape 14"/>
          <p:cNvSpPr/>
          <p:nvPr/>
        </p:nvSpPr>
        <p:spPr>
          <a:xfrm>
            <a:off x="7699247" y="2743200"/>
            <a:ext cx="777241" cy="0"/>
          </a:xfrm>
          <a:prstGeom prst="line">
            <a:avLst/>
          </a:prstGeom>
          <a:ln w="25400">
            <a:solidFill>
              <a:srgbClr val="092BFD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Text 15"/>
          <p:cNvSpPr txBox="1"/>
          <p:nvPr/>
        </p:nvSpPr>
        <p:spPr>
          <a:xfrm>
            <a:off x="1142999" y="5486400"/>
            <a:ext cx="9921242" cy="438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5" tIns="635" rIns="635" bIns="635">
            <a:normAutofit/>
          </a:bodyPr>
          <a:lstStyle>
            <a:lvl1pPr algn="ctr" defTabSz="758951">
              <a:defRPr sz="1494"/>
            </a:lvl1pPr>
          </a:lstStyle>
          <a:p>
            <a:r>
              <a:t>The campaign stops being a set of media assets and becomes the operating framework where an experience is designed, distributed and measured.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 3"/>
          <p:cNvSpPr txBox="1"/>
          <p:nvPr/>
        </p:nvSpPr>
        <p:spPr>
          <a:xfrm>
            <a:off x="512063" y="757428"/>
            <a:ext cx="201168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INCLUSION RELATIONSHIP</a:t>
            </a:r>
          </a:p>
        </p:txBody>
      </p:sp>
      <p:sp>
        <p:nvSpPr>
          <p:cNvPr id="108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The holistic campaign: an inclusive action framework</a:t>
            </a:r>
          </a:p>
        </p:txBody>
      </p:sp>
      <p:sp>
        <p:nvSpPr>
          <p:cNvPr id="109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110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04</a:t>
            </a:r>
          </a:p>
        </p:txBody>
      </p:sp>
      <p:grpSp>
        <p:nvGrpSpPr>
          <p:cNvPr id="113" name="Text 7"/>
          <p:cNvGrpSpPr/>
          <p:nvPr/>
        </p:nvGrpSpPr>
        <p:grpSpPr>
          <a:xfrm>
            <a:off x="658368" y="1965960"/>
            <a:ext cx="2148840" cy="914401"/>
            <a:chOff x="0" y="0"/>
            <a:chExt cx="2148839" cy="914400"/>
          </a:xfrm>
        </p:grpSpPr>
        <p:sp>
          <p:nvSpPr>
            <p:cNvPr id="111" name="Rectángulo"/>
            <p:cNvSpPr/>
            <p:nvPr/>
          </p:nvSpPr>
          <p:spPr>
            <a:xfrm>
              <a:off x="0" y="0"/>
              <a:ext cx="2148840" cy="914400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2" name="CAMPAIGN…"/>
            <p:cNvSpPr txBox="1"/>
            <p:nvPr/>
          </p:nvSpPr>
          <p:spPr>
            <a:xfrm>
              <a:off x="6350" y="6350"/>
              <a:ext cx="2136140" cy="90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CAMPAIGN</a:t>
              </a:r>
              <a:endParaRPr sz="1700"/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action framework</a:t>
              </a:r>
            </a:p>
          </p:txBody>
        </p:sp>
      </p:grpSp>
      <p:grpSp>
        <p:nvGrpSpPr>
          <p:cNvPr id="116" name="Text 8"/>
          <p:cNvGrpSpPr/>
          <p:nvPr/>
        </p:nvGrpSpPr>
        <p:grpSpPr>
          <a:xfrm>
            <a:off x="3090672" y="1828799"/>
            <a:ext cx="2011679" cy="502921"/>
            <a:chOff x="0" y="0"/>
            <a:chExt cx="2011678" cy="502919"/>
          </a:xfrm>
        </p:grpSpPr>
        <p:sp>
          <p:nvSpPr>
            <p:cNvPr id="114" name="Rectángulo"/>
            <p:cNvSpPr/>
            <p:nvPr/>
          </p:nvSpPr>
          <p:spPr>
            <a:xfrm>
              <a:off x="0" y="-1"/>
              <a:ext cx="2011679" cy="502921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  <a:endParaRPr/>
            </a:p>
          </p:txBody>
        </p:sp>
        <p:sp>
          <p:nvSpPr>
            <p:cNvPr id="115" name="DIGITAL ADVERTISING"/>
            <p:cNvSpPr txBox="1"/>
            <p:nvPr/>
          </p:nvSpPr>
          <p:spPr>
            <a:xfrm>
              <a:off x="6350" y="6349"/>
              <a:ext cx="1998979" cy="490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 defTabSz="850391">
                <a:defRPr sz="1674"/>
              </a:lvl1pPr>
            </a:lstStyle>
            <a:p>
              <a:r>
                <a:t>DIGITAL ADVERTISING</a:t>
              </a:r>
            </a:p>
          </p:txBody>
        </p:sp>
      </p:grpSp>
      <p:grpSp>
        <p:nvGrpSpPr>
          <p:cNvPr id="119" name="Text 9"/>
          <p:cNvGrpSpPr/>
          <p:nvPr/>
        </p:nvGrpSpPr>
        <p:grpSpPr>
          <a:xfrm>
            <a:off x="5349240" y="1828799"/>
            <a:ext cx="2121409" cy="502921"/>
            <a:chOff x="0" y="0"/>
            <a:chExt cx="2121407" cy="502919"/>
          </a:xfrm>
        </p:grpSpPr>
        <p:sp>
          <p:nvSpPr>
            <p:cNvPr id="117" name="Rectángulo"/>
            <p:cNvSpPr/>
            <p:nvPr/>
          </p:nvSpPr>
          <p:spPr>
            <a:xfrm>
              <a:off x="0" y="-1"/>
              <a:ext cx="2121408" cy="502921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  <a:endParaRPr/>
            </a:p>
          </p:txBody>
        </p:sp>
        <p:sp>
          <p:nvSpPr>
            <p:cNvPr id="118" name="TRADITIONAL ADVERTISING"/>
            <p:cNvSpPr txBox="1"/>
            <p:nvPr/>
          </p:nvSpPr>
          <p:spPr>
            <a:xfrm>
              <a:off x="6350" y="6349"/>
              <a:ext cx="2108708" cy="490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 defTabSz="813816">
                <a:defRPr sz="1602"/>
              </a:lvl1pPr>
            </a:lstStyle>
            <a:p>
              <a:r>
                <a:t>TRADITIONAL ADVERTISING</a:t>
              </a:r>
            </a:p>
          </p:txBody>
        </p:sp>
      </p:grpSp>
      <p:grpSp>
        <p:nvGrpSpPr>
          <p:cNvPr id="122" name="Text 10"/>
          <p:cNvGrpSpPr/>
          <p:nvPr/>
        </p:nvGrpSpPr>
        <p:grpSpPr>
          <a:xfrm>
            <a:off x="7754111" y="1828799"/>
            <a:ext cx="1691641" cy="502921"/>
            <a:chOff x="0" y="0"/>
            <a:chExt cx="1691639" cy="502919"/>
          </a:xfrm>
        </p:grpSpPr>
        <p:sp>
          <p:nvSpPr>
            <p:cNvPr id="120" name="Rectángulo"/>
            <p:cNvSpPr/>
            <p:nvPr/>
          </p:nvSpPr>
          <p:spPr>
            <a:xfrm>
              <a:off x="0" y="-1"/>
              <a:ext cx="1691640" cy="502921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  <a:endParaRPr/>
            </a:p>
          </p:txBody>
        </p:sp>
        <p:sp>
          <p:nvSpPr>
            <p:cNvPr id="121" name="COMMUNICATION"/>
            <p:cNvSpPr txBox="1"/>
            <p:nvPr/>
          </p:nvSpPr>
          <p:spPr>
            <a:xfrm>
              <a:off x="6350" y="6349"/>
              <a:ext cx="1678940" cy="490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 defTabSz="877823">
                <a:defRPr sz="1727"/>
              </a:lvl1pPr>
            </a:lstStyle>
            <a:p>
              <a:r>
                <a:t>COMMUNICATION</a:t>
              </a:r>
            </a:p>
          </p:txBody>
        </p:sp>
      </p:grpSp>
      <p:grpSp>
        <p:nvGrpSpPr>
          <p:cNvPr id="125" name="Text 11"/>
          <p:cNvGrpSpPr/>
          <p:nvPr/>
        </p:nvGrpSpPr>
        <p:grpSpPr>
          <a:xfrm>
            <a:off x="3054095" y="4754879"/>
            <a:ext cx="1810513" cy="502920"/>
            <a:chOff x="0" y="0"/>
            <a:chExt cx="1810511" cy="502919"/>
          </a:xfrm>
        </p:grpSpPr>
        <p:sp>
          <p:nvSpPr>
            <p:cNvPr id="123" name="Rectángulo"/>
            <p:cNvSpPr/>
            <p:nvPr/>
          </p:nvSpPr>
          <p:spPr>
            <a:xfrm>
              <a:off x="0" y="-1"/>
              <a:ext cx="1810512" cy="502921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  <a:endParaRPr/>
            </a:p>
          </p:txBody>
        </p:sp>
        <p:sp>
          <p:nvSpPr>
            <p:cNvPr id="124" name="POINT OF SALE"/>
            <p:cNvSpPr txBox="1"/>
            <p:nvPr/>
          </p:nvSpPr>
          <p:spPr>
            <a:xfrm>
              <a:off x="6350" y="6349"/>
              <a:ext cx="1797812" cy="490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/>
            </a:lstStyle>
            <a:p>
              <a:r>
                <a:t>POINT OF SALE</a:t>
              </a:r>
            </a:p>
          </p:txBody>
        </p:sp>
      </p:grpSp>
      <p:grpSp>
        <p:nvGrpSpPr>
          <p:cNvPr id="128" name="Text 12"/>
          <p:cNvGrpSpPr/>
          <p:nvPr/>
        </p:nvGrpSpPr>
        <p:grpSpPr>
          <a:xfrm>
            <a:off x="5193791" y="4754879"/>
            <a:ext cx="1874521" cy="502920"/>
            <a:chOff x="0" y="0"/>
            <a:chExt cx="1874520" cy="502919"/>
          </a:xfrm>
        </p:grpSpPr>
        <p:sp>
          <p:nvSpPr>
            <p:cNvPr id="126" name="Rectángulo"/>
            <p:cNvSpPr/>
            <p:nvPr/>
          </p:nvSpPr>
          <p:spPr>
            <a:xfrm>
              <a:off x="-1" y="-1"/>
              <a:ext cx="1874522" cy="502921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  <a:endParaRPr/>
            </a:p>
          </p:txBody>
        </p:sp>
        <p:sp>
          <p:nvSpPr>
            <p:cNvPr id="127" name="eCOMMERCE / WEB"/>
            <p:cNvSpPr txBox="1"/>
            <p:nvPr/>
          </p:nvSpPr>
          <p:spPr>
            <a:xfrm>
              <a:off x="6349" y="6349"/>
              <a:ext cx="1861822" cy="490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 defTabSz="886968">
                <a:defRPr sz="1746"/>
              </a:lvl1pPr>
            </a:lstStyle>
            <a:p>
              <a:r>
                <a:t>eCOMMERCE / WEB</a:t>
              </a:r>
            </a:p>
          </p:txBody>
        </p:sp>
      </p:grpSp>
      <p:grpSp>
        <p:nvGrpSpPr>
          <p:cNvPr id="131" name="Text 13"/>
          <p:cNvGrpSpPr/>
          <p:nvPr/>
        </p:nvGrpSpPr>
        <p:grpSpPr>
          <a:xfrm>
            <a:off x="7406640" y="4754879"/>
            <a:ext cx="1874521" cy="502920"/>
            <a:chOff x="0" y="0"/>
            <a:chExt cx="1874520" cy="502919"/>
          </a:xfrm>
        </p:grpSpPr>
        <p:sp>
          <p:nvSpPr>
            <p:cNvPr id="129" name="Rectángulo"/>
            <p:cNvSpPr/>
            <p:nvPr/>
          </p:nvSpPr>
          <p:spPr>
            <a:xfrm>
              <a:off x="-1" y="-1"/>
              <a:ext cx="1874522" cy="502921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  <a:endParaRPr/>
            </a:p>
          </p:txBody>
        </p:sp>
        <p:sp>
          <p:nvSpPr>
            <p:cNvPr id="130" name="CRM / CDP / MA"/>
            <p:cNvSpPr txBox="1"/>
            <p:nvPr/>
          </p:nvSpPr>
          <p:spPr>
            <a:xfrm>
              <a:off x="6349" y="6349"/>
              <a:ext cx="1861822" cy="490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/>
            </a:lstStyle>
            <a:p>
              <a:r>
                <a:t>CRM / CDP / MA</a:t>
              </a:r>
            </a:p>
          </p:txBody>
        </p:sp>
      </p:grpSp>
      <p:grpSp>
        <p:nvGrpSpPr>
          <p:cNvPr id="134" name="Text 14"/>
          <p:cNvGrpSpPr/>
          <p:nvPr/>
        </p:nvGrpSpPr>
        <p:grpSpPr>
          <a:xfrm>
            <a:off x="9555480" y="3246120"/>
            <a:ext cx="1828801" cy="667513"/>
            <a:chOff x="0" y="0"/>
            <a:chExt cx="1828800" cy="667512"/>
          </a:xfrm>
        </p:grpSpPr>
        <p:sp>
          <p:nvSpPr>
            <p:cNvPr id="132" name="Rectángulo"/>
            <p:cNvSpPr/>
            <p:nvPr/>
          </p:nvSpPr>
          <p:spPr>
            <a:xfrm>
              <a:off x="0" y="-1"/>
              <a:ext cx="1828800" cy="667514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  <a:endParaRPr/>
            </a:p>
          </p:txBody>
        </p:sp>
        <p:sp>
          <p:nvSpPr>
            <p:cNvPr id="133" name="LOYALTY &amp; RETENTION"/>
            <p:cNvSpPr txBox="1"/>
            <p:nvPr/>
          </p:nvSpPr>
          <p:spPr>
            <a:xfrm>
              <a:off x="6350" y="6349"/>
              <a:ext cx="1816100" cy="6548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/>
            </a:lstStyle>
            <a:p>
              <a:r>
                <a:t>LOYALTY &amp; RETENTION</a:t>
              </a:r>
            </a:p>
          </p:txBody>
        </p:sp>
      </p:grpSp>
      <p:grpSp>
        <p:nvGrpSpPr>
          <p:cNvPr id="137" name="Text 15"/>
          <p:cNvGrpSpPr/>
          <p:nvPr/>
        </p:nvGrpSpPr>
        <p:grpSpPr>
          <a:xfrm>
            <a:off x="4681728" y="3054095"/>
            <a:ext cx="2834641" cy="960121"/>
            <a:chOff x="0" y="0"/>
            <a:chExt cx="2834639" cy="960119"/>
          </a:xfrm>
        </p:grpSpPr>
        <p:sp>
          <p:nvSpPr>
            <p:cNvPr id="135" name="Rectángulo"/>
            <p:cNvSpPr/>
            <p:nvPr/>
          </p:nvSpPr>
          <p:spPr>
            <a:xfrm>
              <a:off x="0" y="0"/>
              <a:ext cx="2834640" cy="960120"/>
            </a:xfrm>
            <a:prstGeom prst="rect">
              <a:avLst/>
            </a:prstGeom>
            <a:solidFill>
              <a:srgbClr val="F72585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36" name="EXPERIENCE…"/>
            <p:cNvSpPr txBox="1"/>
            <p:nvPr/>
          </p:nvSpPr>
          <p:spPr>
            <a:xfrm>
              <a:off x="6350" y="6350"/>
              <a:ext cx="2821940" cy="9474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EXPERIENCE</a:t>
              </a:r>
              <a:endParaRPr sz="2000"/>
            </a:p>
            <a:p>
              <a:r>
                <a:t>central unit</a:t>
              </a:r>
            </a:p>
          </p:txBody>
        </p:sp>
      </p:grpSp>
      <p:sp>
        <p:nvSpPr>
          <p:cNvPr id="138" name="Shape 16"/>
          <p:cNvSpPr/>
          <p:nvPr/>
        </p:nvSpPr>
        <p:spPr>
          <a:xfrm>
            <a:off x="2834639" y="2423160"/>
            <a:ext cx="1600201" cy="978409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Shape 17"/>
          <p:cNvSpPr/>
          <p:nvPr/>
        </p:nvSpPr>
        <p:spPr>
          <a:xfrm>
            <a:off x="5120640" y="2359151"/>
            <a:ext cx="621793" cy="676657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hape 18"/>
          <p:cNvSpPr/>
          <p:nvPr/>
        </p:nvSpPr>
        <p:spPr>
          <a:xfrm>
            <a:off x="7223760" y="2350007"/>
            <a:ext cx="640081" cy="694945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Shape 19"/>
          <p:cNvSpPr/>
          <p:nvPr/>
        </p:nvSpPr>
        <p:spPr>
          <a:xfrm flipH="1">
            <a:off x="3886199" y="4038124"/>
            <a:ext cx="1213199" cy="634460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" name="Shape 20"/>
          <p:cNvSpPr/>
          <p:nvPr/>
        </p:nvSpPr>
        <p:spPr>
          <a:xfrm>
            <a:off x="6126479" y="4059935"/>
            <a:ext cx="1" cy="640081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" name="Shape 21"/>
          <p:cNvSpPr/>
          <p:nvPr/>
        </p:nvSpPr>
        <p:spPr>
          <a:xfrm>
            <a:off x="7150608" y="4005071"/>
            <a:ext cx="850393" cy="694945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Shape 22"/>
          <p:cNvSpPr/>
          <p:nvPr/>
        </p:nvSpPr>
        <p:spPr>
          <a:xfrm>
            <a:off x="7543799" y="3529583"/>
            <a:ext cx="2002536" cy="54866"/>
          </a:xfrm>
          <a:prstGeom prst="line">
            <a:avLst/>
          </a:prstGeom>
          <a:ln w="15240">
            <a:solidFill>
              <a:srgbClr val="F725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" name="Text 23"/>
          <p:cNvSpPr txBox="1"/>
          <p:nvPr/>
        </p:nvSpPr>
        <p:spPr>
          <a:xfrm>
            <a:off x="877823" y="5623559"/>
            <a:ext cx="10561322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5" tIns="635" rIns="635" bIns="635">
            <a:normAutofit/>
          </a:bodyPr>
          <a:lstStyle>
            <a:lvl1pPr algn="ctr" defTabSz="758951">
              <a:defRPr sz="1494"/>
            </a:lvl1pPr>
          </a:lstStyle>
          <a:p>
            <a:r>
              <a:t>Loyalty does not sit outside the campaign: it is integrated as the layer that makes channel investment produce identification, progression, recurrence and margin.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9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TES AXIS</a:t>
            </a:r>
          </a:p>
        </p:txBody>
      </p:sp>
      <p:sp>
        <p:nvSpPr>
          <p:cNvPr id="152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Experience is a reconstructible chain</a:t>
            </a:r>
          </a:p>
        </p:txBody>
      </p:sp>
      <p:sp>
        <p:nvSpPr>
          <p:cNvPr id="153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154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05</a:t>
            </a:r>
          </a:p>
        </p:txBody>
      </p:sp>
      <p:grpSp>
        <p:nvGrpSpPr>
          <p:cNvPr id="157" name="Text 7"/>
          <p:cNvGrpSpPr/>
          <p:nvPr/>
        </p:nvGrpSpPr>
        <p:grpSpPr>
          <a:xfrm>
            <a:off x="603503" y="2880360"/>
            <a:ext cx="1207010" cy="566929"/>
            <a:chOff x="0" y="0"/>
            <a:chExt cx="1207008" cy="566927"/>
          </a:xfrm>
        </p:grpSpPr>
        <p:sp>
          <p:nvSpPr>
            <p:cNvPr id="155" name="Rectángulo"/>
            <p:cNvSpPr/>
            <p:nvPr/>
          </p:nvSpPr>
          <p:spPr>
            <a:xfrm>
              <a:off x="-1" y="0"/>
              <a:ext cx="1207010" cy="566928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  <a:endParaRPr/>
            </a:p>
          </p:txBody>
        </p:sp>
        <p:sp>
          <p:nvSpPr>
            <p:cNvPr id="156" name="Event"/>
            <p:cNvSpPr txBox="1"/>
            <p:nvPr/>
          </p:nvSpPr>
          <p:spPr>
            <a:xfrm>
              <a:off x="6349" y="6350"/>
              <a:ext cx="1194310" cy="554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/>
            </a:lstStyle>
            <a:p>
              <a:r>
                <a:t>Event</a:t>
              </a:r>
            </a:p>
          </p:txBody>
        </p:sp>
      </p:grpSp>
      <p:sp>
        <p:nvSpPr>
          <p:cNvPr id="158" name="Shape 8"/>
          <p:cNvSpPr/>
          <p:nvPr/>
        </p:nvSpPr>
        <p:spPr>
          <a:xfrm>
            <a:off x="1828800" y="3163823"/>
            <a:ext cx="338329" cy="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61" name="Text 9"/>
          <p:cNvGrpSpPr/>
          <p:nvPr/>
        </p:nvGrpSpPr>
        <p:grpSpPr>
          <a:xfrm>
            <a:off x="2231135" y="2880360"/>
            <a:ext cx="1207009" cy="566929"/>
            <a:chOff x="0" y="0"/>
            <a:chExt cx="1207008" cy="566927"/>
          </a:xfrm>
        </p:grpSpPr>
        <p:sp>
          <p:nvSpPr>
            <p:cNvPr id="159" name="Rectángulo"/>
            <p:cNvSpPr/>
            <p:nvPr/>
          </p:nvSpPr>
          <p:spPr>
            <a:xfrm>
              <a:off x="-1" y="0"/>
              <a:ext cx="1207010" cy="566928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  <a:endParaRPr/>
            </a:p>
          </p:txBody>
        </p:sp>
        <p:sp>
          <p:nvSpPr>
            <p:cNvPr id="160" name="Pattern"/>
            <p:cNvSpPr txBox="1"/>
            <p:nvPr/>
          </p:nvSpPr>
          <p:spPr>
            <a:xfrm>
              <a:off x="6349" y="6350"/>
              <a:ext cx="1194310" cy="554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/>
            </a:lstStyle>
            <a:p>
              <a:r>
                <a:t>Pattern</a:t>
              </a:r>
            </a:p>
          </p:txBody>
        </p:sp>
      </p:grpSp>
      <p:sp>
        <p:nvSpPr>
          <p:cNvPr id="162" name="Shape 10"/>
          <p:cNvSpPr/>
          <p:nvPr/>
        </p:nvSpPr>
        <p:spPr>
          <a:xfrm>
            <a:off x="3456432" y="3163823"/>
            <a:ext cx="338329" cy="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65" name="Text 11"/>
          <p:cNvGrpSpPr/>
          <p:nvPr/>
        </p:nvGrpSpPr>
        <p:grpSpPr>
          <a:xfrm>
            <a:off x="3858767" y="2880360"/>
            <a:ext cx="1207009" cy="566929"/>
            <a:chOff x="0" y="0"/>
            <a:chExt cx="1207008" cy="566927"/>
          </a:xfrm>
        </p:grpSpPr>
        <p:sp>
          <p:nvSpPr>
            <p:cNvPr id="163" name="Rectángulo"/>
            <p:cNvSpPr/>
            <p:nvPr/>
          </p:nvSpPr>
          <p:spPr>
            <a:xfrm>
              <a:off x="-1" y="0"/>
              <a:ext cx="1207010" cy="566928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  <a:endParaRPr/>
            </a:p>
          </p:txBody>
        </p:sp>
        <p:sp>
          <p:nvSpPr>
            <p:cNvPr id="164" name="Sequence"/>
            <p:cNvSpPr txBox="1"/>
            <p:nvPr/>
          </p:nvSpPr>
          <p:spPr>
            <a:xfrm>
              <a:off x="6349" y="6350"/>
              <a:ext cx="1194310" cy="554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/>
            </a:lstStyle>
            <a:p>
              <a:r>
                <a:t>Sequence</a:t>
              </a:r>
            </a:p>
          </p:txBody>
        </p:sp>
      </p:grpSp>
      <p:sp>
        <p:nvSpPr>
          <p:cNvPr id="166" name="Shape 12"/>
          <p:cNvSpPr/>
          <p:nvPr/>
        </p:nvSpPr>
        <p:spPr>
          <a:xfrm>
            <a:off x="5084064" y="3163823"/>
            <a:ext cx="338329" cy="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69" name="Text 13"/>
          <p:cNvGrpSpPr/>
          <p:nvPr/>
        </p:nvGrpSpPr>
        <p:grpSpPr>
          <a:xfrm>
            <a:off x="5486399" y="2880360"/>
            <a:ext cx="1207010" cy="566929"/>
            <a:chOff x="0" y="0"/>
            <a:chExt cx="1207008" cy="566927"/>
          </a:xfrm>
        </p:grpSpPr>
        <p:sp>
          <p:nvSpPr>
            <p:cNvPr id="167" name="Rectángulo"/>
            <p:cNvSpPr/>
            <p:nvPr/>
          </p:nvSpPr>
          <p:spPr>
            <a:xfrm>
              <a:off x="-1" y="0"/>
              <a:ext cx="1207010" cy="566928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  <a:endParaRPr/>
            </a:p>
          </p:txBody>
        </p:sp>
        <p:sp>
          <p:nvSpPr>
            <p:cNvPr id="168" name="Progression"/>
            <p:cNvSpPr txBox="1"/>
            <p:nvPr/>
          </p:nvSpPr>
          <p:spPr>
            <a:xfrm>
              <a:off x="6349" y="6350"/>
              <a:ext cx="1194310" cy="554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/>
            </a:lstStyle>
            <a:p>
              <a:r>
                <a:t>Progression</a:t>
              </a:r>
            </a:p>
          </p:txBody>
        </p:sp>
      </p:grpSp>
      <p:sp>
        <p:nvSpPr>
          <p:cNvPr id="170" name="Shape 14"/>
          <p:cNvSpPr/>
          <p:nvPr/>
        </p:nvSpPr>
        <p:spPr>
          <a:xfrm>
            <a:off x="6711695" y="3163823"/>
            <a:ext cx="338329" cy="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73" name="Text 15"/>
          <p:cNvGrpSpPr/>
          <p:nvPr/>
        </p:nvGrpSpPr>
        <p:grpSpPr>
          <a:xfrm>
            <a:off x="7114031" y="2880360"/>
            <a:ext cx="1207009" cy="566929"/>
            <a:chOff x="0" y="0"/>
            <a:chExt cx="1207008" cy="566927"/>
          </a:xfrm>
        </p:grpSpPr>
        <p:sp>
          <p:nvSpPr>
            <p:cNvPr id="171" name="Rectángulo"/>
            <p:cNvSpPr/>
            <p:nvPr/>
          </p:nvSpPr>
          <p:spPr>
            <a:xfrm>
              <a:off x="-1" y="0"/>
              <a:ext cx="1207010" cy="566928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  <a:endParaRPr/>
            </a:p>
          </p:txBody>
        </p:sp>
        <p:sp>
          <p:nvSpPr>
            <p:cNvPr id="172" name="Outcome"/>
            <p:cNvSpPr txBox="1"/>
            <p:nvPr/>
          </p:nvSpPr>
          <p:spPr>
            <a:xfrm>
              <a:off x="6349" y="6350"/>
              <a:ext cx="1194310" cy="554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/>
            </a:lstStyle>
            <a:p>
              <a:r>
                <a:t>Outcome</a:t>
              </a:r>
            </a:p>
          </p:txBody>
        </p:sp>
      </p:grpSp>
      <p:sp>
        <p:nvSpPr>
          <p:cNvPr id="174" name="Shape 16"/>
          <p:cNvSpPr/>
          <p:nvPr/>
        </p:nvSpPr>
        <p:spPr>
          <a:xfrm>
            <a:off x="8339328" y="3163823"/>
            <a:ext cx="338329" cy="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77" name="Text 17"/>
          <p:cNvGrpSpPr/>
          <p:nvPr/>
        </p:nvGrpSpPr>
        <p:grpSpPr>
          <a:xfrm>
            <a:off x="8741664" y="2880360"/>
            <a:ext cx="1207009" cy="566929"/>
            <a:chOff x="0" y="0"/>
            <a:chExt cx="1207008" cy="566927"/>
          </a:xfrm>
        </p:grpSpPr>
        <p:sp>
          <p:nvSpPr>
            <p:cNvPr id="175" name="Rectángulo"/>
            <p:cNvSpPr/>
            <p:nvPr/>
          </p:nvSpPr>
          <p:spPr>
            <a:xfrm>
              <a:off x="-1" y="0"/>
              <a:ext cx="1207010" cy="566928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  <a:endParaRPr/>
            </a:p>
          </p:txBody>
        </p:sp>
        <p:sp>
          <p:nvSpPr>
            <p:cNvPr id="176" name="Measurement"/>
            <p:cNvSpPr txBox="1"/>
            <p:nvPr/>
          </p:nvSpPr>
          <p:spPr>
            <a:xfrm>
              <a:off x="6349" y="6350"/>
              <a:ext cx="1194310" cy="554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/>
            </a:lstStyle>
            <a:p>
              <a:r>
                <a:t>Measurement</a:t>
              </a:r>
            </a:p>
          </p:txBody>
        </p:sp>
      </p:grpSp>
      <p:sp>
        <p:nvSpPr>
          <p:cNvPr id="178" name="Shape 18"/>
          <p:cNvSpPr/>
          <p:nvPr/>
        </p:nvSpPr>
        <p:spPr>
          <a:xfrm>
            <a:off x="9966959" y="3163823"/>
            <a:ext cx="338329" cy="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81" name="Text 19"/>
          <p:cNvGrpSpPr/>
          <p:nvPr/>
        </p:nvGrpSpPr>
        <p:grpSpPr>
          <a:xfrm>
            <a:off x="10369295" y="2880360"/>
            <a:ext cx="1207009" cy="566929"/>
            <a:chOff x="0" y="0"/>
            <a:chExt cx="1207008" cy="566927"/>
          </a:xfrm>
        </p:grpSpPr>
        <p:sp>
          <p:nvSpPr>
            <p:cNvPr id="179" name="Rectángulo"/>
            <p:cNvSpPr/>
            <p:nvPr/>
          </p:nvSpPr>
          <p:spPr>
            <a:xfrm>
              <a:off x="-1" y="0"/>
              <a:ext cx="1207010" cy="566928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  <a:endParaRPr/>
            </a:p>
          </p:txBody>
        </p:sp>
        <p:sp>
          <p:nvSpPr>
            <p:cNvPr id="180" name="Learning"/>
            <p:cNvSpPr txBox="1"/>
            <p:nvPr/>
          </p:nvSpPr>
          <p:spPr>
            <a:xfrm>
              <a:off x="6349" y="6350"/>
              <a:ext cx="1194310" cy="554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/>
            </a:lstStyle>
            <a:p>
              <a:r>
                <a:t>Learning</a:t>
              </a:r>
            </a:p>
          </p:txBody>
        </p:sp>
      </p:grpSp>
      <p:sp>
        <p:nvSpPr>
          <p:cNvPr id="182" name="Text 20"/>
          <p:cNvSpPr txBox="1"/>
          <p:nvPr/>
        </p:nvSpPr>
        <p:spPr>
          <a:xfrm>
            <a:off x="1005839" y="1993392"/>
            <a:ext cx="10149842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5" tIns="635" rIns="635" bIns="635">
            <a:normAutofit/>
          </a:bodyPr>
          <a:lstStyle>
            <a:lvl1pPr algn="ctr"/>
          </a:lstStyle>
          <a:p>
            <a:r>
              <a:t>Launching an asset is not enough: a valid experience must show how an event becomes progression, what outcome it produces and what learning it leaves for repetition or scale.</a:t>
            </a:r>
          </a:p>
        </p:txBody>
      </p:sp>
      <p:grpSp>
        <p:nvGrpSpPr>
          <p:cNvPr id="185" name="Text 21"/>
          <p:cNvGrpSpPr/>
          <p:nvPr/>
        </p:nvGrpSpPr>
        <p:grpSpPr>
          <a:xfrm>
            <a:off x="2560320" y="4681728"/>
            <a:ext cx="7132320" cy="658369"/>
            <a:chOff x="0" y="0"/>
            <a:chExt cx="7132318" cy="658368"/>
          </a:xfrm>
        </p:grpSpPr>
        <p:sp>
          <p:nvSpPr>
            <p:cNvPr id="183" name="Rectángulo"/>
            <p:cNvSpPr/>
            <p:nvPr/>
          </p:nvSpPr>
          <p:spPr>
            <a:xfrm>
              <a:off x="0" y="-1"/>
              <a:ext cx="7132319" cy="658370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7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4" name="Measurement follows the outcome and precedes learning"/>
            <p:cNvSpPr txBox="1"/>
            <p:nvPr/>
          </p:nvSpPr>
          <p:spPr>
            <a:xfrm>
              <a:off x="6350" y="6349"/>
              <a:ext cx="7119619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Measurement follows the outcome and precedes learning</a:t>
              </a:r>
            </a:p>
          </p:txBody>
        </p:sp>
      </p:grpSp>
      <p:sp>
        <p:nvSpPr>
          <p:cNvPr id="186" name="Text 22"/>
          <p:cNvSpPr txBox="1"/>
          <p:nvPr/>
        </p:nvSpPr>
        <p:spPr>
          <a:xfrm>
            <a:off x="1005840" y="5806440"/>
            <a:ext cx="9966960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 defTabSz="640079">
              <a:defRPr sz="1260"/>
            </a:lvl1pPr>
          </a:lstStyle>
          <a:p>
            <a:r>
              <a:t>Conceptual basis: TES Experience Ledger — event → pattern → sequence → progression → outcome → measurement → learning.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0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9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POSITIONING</a:t>
            </a:r>
          </a:p>
        </p:txBody>
      </p:sp>
      <p:sp>
        <p:nvSpPr>
          <p:cNvPr id="193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Convercus complements the stack: it turns events into progression</a:t>
            </a:r>
          </a:p>
        </p:txBody>
      </p:sp>
      <p:sp>
        <p:nvSpPr>
          <p:cNvPr id="194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195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06</a:t>
            </a:r>
          </a:p>
        </p:txBody>
      </p:sp>
      <p:grpSp>
        <p:nvGrpSpPr>
          <p:cNvPr id="198" name="Text 7"/>
          <p:cNvGrpSpPr/>
          <p:nvPr/>
        </p:nvGrpSpPr>
        <p:grpSpPr>
          <a:xfrm>
            <a:off x="1005840" y="2011679"/>
            <a:ext cx="10195560" cy="658369"/>
            <a:chOff x="0" y="0"/>
            <a:chExt cx="10195559" cy="658368"/>
          </a:xfrm>
        </p:grpSpPr>
        <p:sp>
          <p:nvSpPr>
            <p:cNvPr id="196" name="Rectángulo"/>
            <p:cNvSpPr/>
            <p:nvPr/>
          </p:nvSpPr>
          <p:spPr>
            <a:xfrm>
              <a:off x="0" y="-1"/>
              <a:ext cx="10195560" cy="658370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97" name="Existing stack…"/>
            <p:cNvSpPr txBox="1"/>
            <p:nvPr/>
          </p:nvSpPr>
          <p:spPr>
            <a:xfrm>
              <a:off x="6350" y="6349"/>
              <a:ext cx="10182860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Existing stack</a:t>
              </a:r>
              <a:endParaRPr sz="1300"/>
            </a:p>
            <a:p>
              <a:r>
                <a:t>POS · eCommerce · CMS · CRM/MA · CDP · App · BI</a:t>
              </a:r>
            </a:p>
          </p:txBody>
        </p:sp>
      </p:grpSp>
      <p:sp>
        <p:nvSpPr>
          <p:cNvPr id="199" name="Shape 8"/>
          <p:cNvSpPr/>
          <p:nvPr/>
        </p:nvSpPr>
        <p:spPr>
          <a:xfrm>
            <a:off x="6108191" y="2670048"/>
            <a:ext cx="1" cy="18288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02" name="Text 9"/>
          <p:cNvGrpSpPr/>
          <p:nvPr/>
        </p:nvGrpSpPr>
        <p:grpSpPr>
          <a:xfrm>
            <a:off x="1005840" y="2907792"/>
            <a:ext cx="10195560" cy="658369"/>
            <a:chOff x="0" y="0"/>
            <a:chExt cx="10195559" cy="658368"/>
          </a:xfrm>
        </p:grpSpPr>
        <p:sp>
          <p:nvSpPr>
            <p:cNvPr id="200" name="Rectángulo"/>
            <p:cNvSpPr/>
            <p:nvPr/>
          </p:nvSpPr>
          <p:spPr>
            <a:xfrm>
              <a:off x="0" y="-1"/>
              <a:ext cx="10195560" cy="658370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01" name="Available events…"/>
            <p:cNvSpPr txBox="1"/>
            <p:nvPr/>
          </p:nvSpPr>
          <p:spPr>
            <a:xfrm>
              <a:off x="6350" y="6349"/>
              <a:ext cx="10182860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Available events</a:t>
              </a:r>
              <a:endParaRPr sz="1300"/>
            </a:p>
            <a:p>
              <a:r>
                <a:t>purchase · visit · registration · redemption · return · click · QR · in-store interaction</a:t>
              </a:r>
            </a:p>
          </p:txBody>
        </p:sp>
      </p:grpSp>
      <p:sp>
        <p:nvSpPr>
          <p:cNvPr id="203" name="Shape 10"/>
          <p:cNvSpPr/>
          <p:nvPr/>
        </p:nvSpPr>
        <p:spPr>
          <a:xfrm>
            <a:off x="6108191" y="3566159"/>
            <a:ext cx="1" cy="182882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06" name="Text 11"/>
          <p:cNvGrpSpPr/>
          <p:nvPr/>
        </p:nvGrpSpPr>
        <p:grpSpPr>
          <a:xfrm>
            <a:off x="1005840" y="3803903"/>
            <a:ext cx="10195560" cy="658369"/>
            <a:chOff x="0" y="0"/>
            <a:chExt cx="10195559" cy="658368"/>
          </a:xfrm>
        </p:grpSpPr>
        <p:sp>
          <p:nvSpPr>
            <p:cNvPr id="204" name="Rectángulo"/>
            <p:cNvSpPr/>
            <p:nvPr/>
          </p:nvSpPr>
          <p:spPr>
            <a:xfrm>
              <a:off x="0" y="-1"/>
              <a:ext cx="10195560" cy="658370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05" name="Convercus…"/>
            <p:cNvSpPr txBox="1"/>
            <p:nvPr/>
          </p:nvSpPr>
          <p:spPr>
            <a:xfrm>
              <a:off x="6350" y="6349"/>
              <a:ext cx="10182860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Convercus</a:t>
              </a:r>
              <a:endParaRPr sz="1300"/>
            </a:p>
            <a:p>
              <a:r>
                <a:t>experiences · points · coupons · wallet · gamification · newsfeed · rules · partners</a:t>
              </a:r>
            </a:p>
          </p:txBody>
        </p:sp>
      </p:grpSp>
      <p:sp>
        <p:nvSpPr>
          <p:cNvPr id="207" name="Shape 12"/>
          <p:cNvSpPr/>
          <p:nvPr/>
        </p:nvSpPr>
        <p:spPr>
          <a:xfrm>
            <a:off x="6108191" y="4462271"/>
            <a:ext cx="1" cy="18288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10" name="Text 13"/>
          <p:cNvGrpSpPr/>
          <p:nvPr/>
        </p:nvGrpSpPr>
        <p:grpSpPr>
          <a:xfrm>
            <a:off x="1005840" y="4700015"/>
            <a:ext cx="10195560" cy="658369"/>
            <a:chOff x="0" y="0"/>
            <a:chExt cx="10195559" cy="658368"/>
          </a:xfrm>
        </p:grpSpPr>
        <p:sp>
          <p:nvSpPr>
            <p:cNvPr id="208" name="Rectángulo"/>
            <p:cNvSpPr/>
            <p:nvPr/>
          </p:nvSpPr>
          <p:spPr>
            <a:xfrm>
              <a:off x="0" y="-1"/>
              <a:ext cx="10195560" cy="658370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09" name="Outcome…"/>
            <p:cNvSpPr txBox="1"/>
            <p:nvPr/>
          </p:nvSpPr>
          <p:spPr>
            <a:xfrm>
              <a:off x="6350" y="6349"/>
              <a:ext cx="10182860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rPr dirty="0"/>
                <a:t>Outcome</a:t>
              </a:r>
              <a:endParaRPr sz="1300" dirty="0"/>
            </a:p>
            <a:p>
              <a:r>
                <a:rPr dirty="0"/>
                <a:t>identification · recurrence · margin · lower cost-to-serve </a:t>
              </a:r>
              <a:r>
                <a:rPr lang="es-ES" dirty="0"/>
                <a:t>· time </a:t>
              </a:r>
              <a:r>
                <a:rPr lang="es-ES" dirty="0" err="1"/>
                <a:t>to</a:t>
              </a:r>
              <a:r>
                <a:rPr lang="es-ES" dirty="0"/>
                <a:t> </a:t>
              </a:r>
              <a:r>
                <a:rPr lang="es-ES" dirty="0" err="1"/>
                <a:t>market</a:t>
              </a:r>
              <a:r>
                <a:rPr lang="es-ES" dirty="0"/>
                <a:t> </a:t>
              </a:r>
              <a:r>
                <a:rPr dirty="0"/>
                <a:t>· sector learning</a:t>
              </a:r>
            </a:p>
          </p:txBody>
        </p:sp>
      </p:grpSp>
      <p:sp>
        <p:nvSpPr>
          <p:cNvPr id="211" name="Text 14"/>
          <p:cNvSpPr txBox="1"/>
          <p:nvPr/>
        </p:nvSpPr>
        <p:spPr>
          <a:xfrm>
            <a:off x="987551" y="5705855"/>
            <a:ext cx="10241282" cy="411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5" tIns="635" rIns="635" bIns="635">
            <a:normAutofit/>
          </a:bodyPr>
          <a:lstStyle>
            <a:lvl1pPr algn="ctr" defTabSz="640079">
              <a:defRPr sz="1260"/>
            </a:lvl1pPr>
          </a:lstStyle>
          <a:p>
            <a:r>
              <a:t>The commercial thesis for the agency: Convercus does not replace CRM, CDP, eCommerce, POS or automation. It uses them as sources of reality and adds the layer that organizes behavior.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90685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" name="Shape 1"/>
          <p:cNvSpPr/>
          <p:nvPr/>
        </p:nvSpPr>
        <p:spPr>
          <a:xfrm>
            <a:off x="-1" y="-1"/>
            <a:ext cx="12191697" cy="201170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" name="Shape 2"/>
          <p:cNvSpPr/>
          <p:nvPr/>
        </p:nvSpPr>
        <p:spPr>
          <a:xfrm>
            <a:off x="-1" y="6656831"/>
            <a:ext cx="12191697" cy="201169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1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6" y="502919"/>
            <a:ext cx="980683" cy="420625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Text 3"/>
          <p:cNvSpPr txBox="1"/>
          <p:nvPr/>
        </p:nvSpPr>
        <p:spPr>
          <a:xfrm>
            <a:off x="932688" y="1946910"/>
            <a:ext cx="3657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ECONOMICS</a:t>
            </a:r>
          </a:p>
        </p:txBody>
      </p:sp>
      <p:sp>
        <p:nvSpPr>
          <p:cNvPr id="218" name="Text 4"/>
          <p:cNvSpPr txBox="1"/>
          <p:nvPr/>
        </p:nvSpPr>
        <p:spPr>
          <a:xfrm>
            <a:off x="932688" y="2331720"/>
            <a:ext cx="8961120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Act 2</a:t>
            </a:r>
          </a:p>
        </p:txBody>
      </p:sp>
      <p:sp>
        <p:nvSpPr>
          <p:cNvPr id="219" name="Text 5"/>
          <p:cNvSpPr txBox="1"/>
          <p:nvPr/>
        </p:nvSpPr>
        <p:spPr>
          <a:xfrm>
            <a:off x="960119" y="3310128"/>
            <a:ext cx="7955282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The economic layer: value for the agency and for the end client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2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3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2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Text 3"/>
          <p:cNvSpPr txBox="1"/>
          <p:nvPr/>
        </p:nvSpPr>
        <p:spPr>
          <a:xfrm>
            <a:off x="512063" y="757428"/>
            <a:ext cx="201168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VALUE FOR THE AGENCY</a:t>
            </a:r>
          </a:p>
        </p:txBody>
      </p:sp>
      <p:sp>
        <p:nvSpPr>
          <p:cNvPr id="226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The agency moves from selling campaigns to operating recurring services</a:t>
            </a:r>
          </a:p>
        </p:txBody>
      </p:sp>
      <p:sp>
        <p:nvSpPr>
          <p:cNvPr id="227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228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08</a:t>
            </a:r>
          </a:p>
        </p:txBody>
      </p:sp>
      <p:grpSp>
        <p:nvGrpSpPr>
          <p:cNvPr id="231" name="Text 7"/>
          <p:cNvGrpSpPr/>
          <p:nvPr/>
        </p:nvGrpSpPr>
        <p:grpSpPr>
          <a:xfrm>
            <a:off x="804672" y="2194560"/>
            <a:ext cx="2834640" cy="960121"/>
            <a:chOff x="0" y="0"/>
            <a:chExt cx="2834639" cy="960119"/>
          </a:xfrm>
        </p:grpSpPr>
        <p:sp>
          <p:nvSpPr>
            <p:cNvPr id="229" name="Rectángulo"/>
            <p:cNvSpPr/>
            <p:nvPr/>
          </p:nvSpPr>
          <p:spPr>
            <a:xfrm>
              <a:off x="0" y="0"/>
              <a:ext cx="2834640" cy="960120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0" name="Previous model…"/>
            <p:cNvSpPr txBox="1"/>
            <p:nvPr/>
          </p:nvSpPr>
          <p:spPr>
            <a:xfrm>
              <a:off x="6350" y="6350"/>
              <a:ext cx="2821940" cy="9474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Previous model</a:t>
              </a:r>
              <a:endParaRPr sz="1600"/>
            </a:p>
            <a:p>
              <a:r>
                <a:t>Project / campaign / delivery</a:t>
              </a:r>
            </a:p>
          </p:txBody>
        </p:sp>
      </p:grpSp>
      <p:grpSp>
        <p:nvGrpSpPr>
          <p:cNvPr id="234" name="Text 8"/>
          <p:cNvGrpSpPr/>
          <p:nvPr/>
        </p:nvGrpSpPr>
        <p:grpSpPr>
          <a:xfrm>
            <a:off x="4370832" y="1965960"/>
            <a:ext cx="3474721" cy="1234441"/>
            <a:chOff x="0" y="0"/>
            <a:chExt cx="3474720" cy="1234440"/>
          </a:xfrm>
        </p:grpSpPr>
        <p:sp>
          <p:nvSpPr>
            <p:cNvPr id="232" name="Rectángulo"/>
            <p:cNvSpPr/>
            <p:nvPr/>
          </p:nvSpPr>
          <p:spPr>
            <a:xfrm>
              <a:off x="-1" y="-1"/>
              <a:ext cx="3474722" cy="1234442"/>
            </a:xfrm>
            <a:prstGeom prst="rect">
              <a:avLst/>
            </a:prstGeom>
            <a:solidFill>
              <a:srgbClr val="F72585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3" name="Convercus model…"/>
            <p:cNvSpPr txBox="1"/>
            <p:nvPr/>
          </p:nvSpPr>
          <p:spPr>
            <a:xfrm>
              <a:off x="6349" y="6349"/>
              <a:ext cx="3462022" cy="1221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Convercus model</a:t>
              </a:r>
            </a:p>
            <a:p>
              <a:r>
                <a:t>Ongoing experience service</a:t>
              </a:r>
            </a:p>
          </p:txBody>
        </p:sp>
      </p:grpSp>
      <p:grpSp>
        <p:nvGrpSpPr>
          <p:cNvPr id="237" name="Text 9"/>
          <p:cNvGrpSpPr/>
          <p:nvPr/>
        </p:nvGrpSpPr>
        <p:grpSpPr>
          <a:xfrm>
            <a:off x="8467343" y="2194560"/>
            <a:ext cx="2834641" cy="960121"/>
            <a:chOff x="0" y="0"/>
            <a:chExt cx="2834639" cy="960119"/>
          </a:xfrm>
        </p:grpSpPr>
        <p:sp>
          <p:nvSpPr>
            <p:cNvPr id="235" name="Rectángulo"/>
            <p:cNvSpPr/>
            <p:nvPr/>
          </p:nvSpPr>
          <p:spPr>
            <a:xfrm>
              <a:off x="0" y="0"/>
              <a:ext cx="2834640" cy="960120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6" name="Recurring revenue…"/>
            <p:cNvSpPr txBox="1"/>
            <p:nvPr/>
          </p:nvSpPr>
          <p:spPr>
            <a:xfrm>
              <a:off x="6350" y="6350"/>
              <a:ext cx="2821940" cy="9474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Recurring revenue</a:t>
              </a:r>
              <a:endParaRPr sz="1400"/>
            </a:p>
            <a:p>
              <a:r>
                <a:t>Operations + measurement + optimization retainer</a:t>
              </a:r>
            </a:p>
          </p:txBody>
        </p:sp>
      </p:grpSp>
      <p:sp>
        <p:nvSpPr>
          <p:cNvPr id="238" name="Shape 10"/>
          <p:cNvSpPr/>
          <p:nvPr/>
        </p:nvSpPr>
        <p:spPr>
          <a:xfrm>
            <a:off x="3703320" y="2688335"/>
            <a:ext cx="466345" cy="1"/>
          </a:xfrm>
          <a:prstGeom prst="line">
            <a:avLst/>
          </a:prstGeom>
          <a:ln w="25400">
            <a:solidFill>
              <a:srgbClr val="092BFD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9" name="Shape 11"/>
          <p:cNvSpPr/>
          <p:nvPr/>
        </p:nvSpPr>
        <p:spPr>
          <a:xfrm>
            <a:off x="7882128" y="2688335"/>
            <a:ext cx="420625" cy="1"/>
          </a:xfrm>
          <a:prstGeom prst="line">
            <a:avLst/>
          </a:prstGeom>
          <a:ln w="25400">
            <a:solidFill>
              <a:srgbClr val="092BFD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42" name="Text 12"/>
          <p:cNvGrpSpPr/>
          <p:nvPr/>
        </p:nvGrpSpPr>
        <p:grpSpPr>
          <a:xfrm>
            <a:off x="914400" y="4251959"/>
            <a:ext cx="2240280" cy="896113"/>
            <a:chOff x="0" y="0"/>
            <a:chExt cx="2240279" cy="896111"/>
          </a:xfrm>
        </p:grpSpPr>
        <p:sp>
          <p:nvSpPr>
            <p:cNvPr id="240" name="Rectángulo"/>
            <p:cNvSpPr/>
            <p:nvPr/>
          </p:nvSpPr>
          <p:spPr>
            <a:xfrm>
              <a:off x="0" y="0"/>
              <a:ext cx="2240280" cy="896112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41" name="Consulting…"/>
            <p:cNvSpPr txBox="1"/>
            <p:nvPr/>
          </p:nvSpPr>
          <p:spPr>
            <a:xfrm>
              <a:off x="6350" y="6350"/>
              <a:ext cx="2227580" cy="8834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Consulting</a:t>
              </a:r>
              <a:endParaRPr sz="1200"/>
            </a:p>
            <a:p>
              <a:r>
                <a:t>diagnosis and opportunity map</a:t>
              </a:r>
            </a:p>
          </p:txBody>
        </p:sp>
      </p:grpSp>
      <p:grpSp>
        <p:nvGrpSpPr>
          <p:cNvPr id="245" name="Text 13"/>
          <p:cNvGrpSpPr/>
          <p:nvPr/>
        </p:nvGrpSpPr>
        <p:grpSpPr>
          <a:xfrm>
            <a:off x="3703320" y="4251959"/>
            <a:ext cx="2240281" cy="896113"/>
            <a:chOff x="0" y="0"/>
            <a:chExt cx="2240279" cy="896111"/>
          </a:xfrm>
        </p:grpSpPr>
        <p:sp>
          <p:nvSpPr>
            <p:cNvPr id="243" name="Rectángulo"/>
            <p:cNvSpPr/>
            <p:nvPr/>
          </p:nvSpPr>
          <p:spPr>
            <a:xfrm>
              <a:off x="0" y="0"/>
              <a:ext cx="2240280" cy="896112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44" name="Design…"/>
            <p:cNvSpPr txBox="1"/>
            <p:nvPr/>
          </p:nvSpPr>
          <p:spPr>
            <a:xfrm>
              <a:off x="6350" y="6350"/>
              <a:ext cx="2227580" cy="8834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 defTabSz="886968">
                <a:defRPr sz="1746"/>
              </a:pPr>
              <a:r>
                <a:t>Design</a:t>
              </a:r>
              <a:endParaRPr sz="1164"/>
            </a:p>
            <a:p>
              <a:pPr defTabSz="886968">
                <a:defRPr sz="1746"/>
              </a:pPr>
              <a:r>
                <a:t>experiences, rules, incentives and content</a:t>
              </a:r>
            </a:p>
          </p:txBody>
        </p:sp>
      </p:grpSp>
      <p:grpSp>
        <p:nvGrpSpPr>
          <p:cNvPr id="248" name="Text 14"/>
          <p:cNvGrpSpPr/>
          <p:nvPr/>
        </p:nvGrpSpPr>
        <p:grpSpPr>
          <a:xfrm>
            <a:off x="6492240" y="4251959"/>
            <a:ext cx="2240281" cy="896113"/>
            <a:chOff x="0" y="0"/>
            <a:chExt cx="2240279" cy="896111"/>
          </a:xfrm>
        </p:grpSpPr>
        <p:sp>
          <p:nvSpPr>
            <p:cNvPr id="246" name="Rectángulo"/>
            <p:cNvSpPr/>
            <p:nvPr/>
          </p:nvSpPr>
          <p:spPr>
            <a:xfrm>
              <a:off x="0" y="0"/>
              <a:ext cx="2240280" cy="896112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47" name="Operations…"/>
            <p:cNvSpPr txBox="1"/>
            <p:nvPr/>
          </p:nvSpPr>
          <p:spPr>
            <a:xfrm>
              <a:off x="6350" y="6350"/>
              <a:ext cx="2227580" cy="8834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 defTabSz="795527">
                <a:defRPr sz="1566"/>
              </a:pPr>
              <a:r>
                <a:t>Operations</a:t>
              </a:r>
              <a:endParaRPr sz="1044"/>
            </a:p>
            <a:p>
              <a:pPr defTabSz="795527">
                <a:defRPr sz="1566"/>
              </a:pPr>
              <a:r>
                <a:t>publishing, segmentation, coupons and calendar</a:t>
              </a:r>
            </a:p>
          </p:txBody>
        </p:sp>
      </p:grpSp>
      <p:grpSp>
        <p:nvGrpSpPr>
          <p:cNvPr id="251" name="Text 15"/>
          <p:cNvGrpSpPr/>
          <p:nvPr/>
        </p:nvGrpSpPr>
        <p:grpSpPr>
          <a:xfrm>
            <a:off x="9281159" y="4251959"/>
            <a:ext cx="2240281" cy="896113"/>
            <a:chOff x="0" y="0"/>
            <a:chExt cx="2240279" cy="896111"/>
          </a:xfrm>
        </p:grpSpPr>
        <p:sp>
          <p:nvSpPr>
            <p:cNvPr id="249" name="Rectángulo"/>
            <p:cNvSpPr/>
            <p:nvPr/>
          </p:nvSpPr>
          <p:spPr>
            <a:xfrm>
              <a:off x="0" y="0"/>
              <a:ext cx="2240280" cy="896112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50" name="Measurement…"/>
            <p:cNvSpPr txBox="1"/>
            <p:nvPr/>
          </p:nvSpPr>
          <p:spPr>
            <a:xfrm>
              <a:off x="6350" y="6350"/>
              <a:ext cx="2227580" cy="8834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 defTabSz="813816">
                <a:defRPr sz="1602"/>
              </a:pPr>
              <a:r>
                <a:t>Measurement</a:t>
              </a:r>
              <a:endParaRPr sz="1068"/>
            </a:p>
            <a:p>
              <a:pPr defTabSz="813816">
                <a:defRPr sz="1602"/>
              </a:pPr>
              <a:r>
                <a:t>scorecard, testing, learning and optimization</a:t>
              </a:r>
            </a:p>
          </p:txBody>
        </p: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4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5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5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PACKAGING</a:t>
            </a:r>
          </a:p>
        </p:txBody>
      </p:sp>
      <p:sp>
        <p:nvSpPr>
          <p:cNvPr id="258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Economic service model for the agency</a:t>
            </a:r>
          </a:p>
        </p:txBody>
      </p:sp>
      <p:sp>
        <p:nvSpPr>
          <p:cNvPr id="259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260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09</a:t>
            </a:r>
          </a:p>
        </p:txBody>
      </p:sp>
      <p:grpSp>
        <p:nvGrpSpPr>
          <p:cNvPr id="263" name="Text 7"/>
          <p:cNvGrpSpPr/>
          <p:nvPr/>
        </p:nvGrpSpPr>
        <p:grpSpPr>
          <a:xfrm>
            <a:off x="685799" y="2057399"/>
            <a:ext cx="2340866" cy="1874522"/>
            <a:chOff x="0" y="0"/>
            <a:chExt cx="2340864" cy="1874520"/>
          </a:xfrm>
        </p:grpSpPr>
        <p:sp>
          <p:nvSpPr>
            <p:cNvPr id="261" name="Rectángulo"/>
            <p:cNvSpPr/>
            <p:nvPr/>
          </p:nvSpPr>
          <p:spPr>
            <a:xfrm>
              <a:off x="-1" y="-1"/>
              <a:ext cx="2340866" cy="187452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CDD4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2" name="1 · Opportunity sprint…"/>
            <p:cNvSpPr txBox="1"/>
            <p:nvPr/>
          </p:nvSpPr>
          <p:spPr>
            <a:xfrm>
              <a:off x="6349" y="6349"/>
              <a:ext cx="2328166" cy="186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523" tIns="1523" rIns="1523" bIns="1523" numCol="1" anchor="t">
              <a:normAutofit/>
            </a:bodyPr>
            <a:lstStyle/>
            <a:p>
              <a:r>
                <a:t>1 · Opportunity sprint</a:t>
              </a:r>
              <a:endParaRPr sz="1200"/>
            </a:p>
            <a:p>
              <a:r>
                <a:t>Diagnosis, experience map, KPI hypotheses and initial business case.</a:t>
              </a:r>
            </a:p>
          </p:txBody>
        </p:sp>
      </p:grpSp>
      <p:grpSp>
        <p:nvGrpSpPr>
          <p:cNvPr id="266" name="Text 8"/>
          <p:cNvGrpSpPr/>
          <p:nvPr/>
        </p:nvGrpSpPr>
        <p:grpSpPr>
          <a:xfrm>
            <a:off x="813815" y="4160520"/>
            <a:ext cx="2084834" cy="275400"/>
            <a:chOff x="0" y="0"/>
            <a:chExt cx="2084832" cy="275399"/>
          </a:xfrm>
        </p:grpSpPr>
        <p:sp>
          <p:nvSpPr>
            <p:cNvPr id="264" name="Rectángulo"/>
            <p:cNvSpPr/>
            <p:nvPr/>
          </p:nvSpPr>
          <p:spPr>
            <a:xfrm>
              <a:off x="-1" y="-1"/>
              <a:ext cx="2084834" cy="274322"/>
            </a:xfrm>
            <a:prstGeom prst="rect">
              <a:avLst/>
            </a:prstGeom>
            <a:solidFill>
              <a:srgbClr val="090685"/>
            </a:solidFill>
            <a:ln w="9525" cap="flat">
              <a:solidFill>
                <a:srgbClr val="090685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5" name="Kick-off fee"/>
            <p:cNvSpPr txBox="1"/>
            <p:nvPr/>
          </p:nvSpPr>
          <p:spPr>
            <a:xfrm>
              <a:off x="4762" y="4762"/>
              <a:ext cx="2075308" cy="2706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0" tIns="380" rIns="380" bIns="380" numCol="1" anchor="ctr">
              <a:normAutofit/>
            </a:bodyPr>
            <a:lstStyle>
              <a:lvl1pPr algn="ctr" defTabSz="868680">
                <a:defRPr sz="1710">
                  <a:solidFill>
                    <a:srgbClr val="FFFFFF"/>
                  </a:solidFill>
                </a:defRPr>
              </a:lvl1pPr>
            </a:lstStyle>
            <a:p>
              <a:r>
                <a:t>Kick-off fee</a:t>
              </a:r>
            </a:p>
          </p:txBody>
        </p:sp>
      </p:grpSp>
      <p:grpSp>
        <p:nvGrpSpPr>
          <p:cNvPr id="269" name="Text 9"/>
          <p:cNvGrpSpPr/>
          <p:nvPr/>
        </p:nvGrpSpPr>
        <p:grpSpPr>
          <a:xfrm>
            <a:off x="3483864" y="2057399"/>
            <a:ext cx="2340865" cy="1874522"/>
            <a:chOff x="0" y="0"/>
            <a:chExt cx="2340864" cy="1874520"/>
          </a:xfrm>
        </p:grpSpPr>
        <p:sp>
          <p:nvSpPr>
            <p:cNvPr id="267" name="Rectángulo"/>
            <p:cNvSpPr/>
            <p:nvPr/>
          </p:nvSpPr>
          <p:spPr>
            <a:xfrm>
              <a:off x="-1" y="-1"/>
              <a:ext cx="2340866" cy="187452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CDD4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8" name="2 · Experience design…"/>
            <p:cNvSpPr txBox="1"/>
            <p:nvPr/>
          </p:nvSpPr>
          <p:spPr>
            <a:xfrm>
              <a:off x="6349" y="6349"/>
              <a:ext cx="2328166" cy="186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523" tIns="1523" rIns="1523" bIns="1523" numCol="1" anchor="t">
              <a:normAutofit/>
            </a:bodyPr>
            <a:lstStyle/>
            <a:p>
              <a:r>
                <a:t>2 · Experience design</a:t>
              </a:r>
              <a:endParaRPr sz="1200"/>
            </a:p>
            <a:p>
              <a:r>
                <a:t>Sequences, rules, incentives, content, points/credits, wallet and guardrails.</a:t>
              </a:r>
            </a:p>
          </p:txBody>
        </p:sp>
      </p:grpSp>
      <p:grpSp>
        <p:nvGrpSpPr>
          <p:cNvPr id="272" name="Text 10"/>
          <p:cNvGrpSpPr/>
          <p:nvPr/>
        </p:nvGrpSpPr>
        <p:grpSpPr>
          <a:xfrm>
            <a:off x="3611879" y="4160520"/>
            <a:ext cx="2084833" cy="275400"/>
            <a:chOff x="0" y="0"/>
            <a:chExt cx="2084832" cy="275399"/>
          </a:xfrm>
        </p:grpSpPr>
        <p:sp>
          <p:nvSpPr>
            <p:cNvPr id="270" name="Rectángulo"/>
            <p:cNvSpPr/>
            <p:nvPr/>
          </p:nvSpPr>
          <p:spPr>
            <a:xfrm>
              <a:off x="-1" y="-1"/>
              <a:ext cx="2084834" cy="274322"/>
            </a:xfrm>
            <a:prstGeom prst="rect">
              <a:avLst/>
            </a:prstGeom>
            <a:solidFill>
              <a:srgbClr val="090685"/>
            </a:solidFill>
            <a:ln w="9525" cap="flat">
              <a:solidFill>
                <a:srgbClr val="090685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1" name="Design fee"/>
            <p:cNvSpPr txBox="1"/>
            <p:nvPr/>
          </p:nvSpPr>
          <p:spPr>
            <a:xfrm>
              <a:off x="4762" y="4762"/>
              <a:ext cx="2075308" cy="2706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0" tIns="380" rIns="380" bIns="380" numCol="1" anchor="ctr">
              <a:normAutofit/>
            </a:bodyPr>
            <a:lstStyle>
              <a:lvl1pPr algn="ctr" defTabSz="868680">
                <a:defRPr sz="1710">
                  <a:solidFill>
                    <a:srgbClr val="FFFFFF"/>
                  </a:solidFill>
                </a:defRPr>
              </a:lvl1pPr>
            </a:lstStyle>
            <a:p>
              <a:r>
                <a:t>Design fee</a:t>
              </a:r>
            </a:p>
          </p:txBody>
        </p:sp>
      </p:grpSp>
      <p:grpSp>
        <p:nvGrpSpPr>
          <p:cNvPr id="275" name="Text 11"/>
          <p:cNvGrpSpPr/>
          <p:nvPr/>
        </p:nvGrpSpPr>
        <p:grpSpPr>
          <a:xfrm>
            <a:off x="6281928" y="2057399"/>
            <a:ext cx="2340865" cy="1874522"/>
            <a:chOff x="0" y="0"/>
            <a:chExt cx="2340864" cy="1874520"/>
          </a:xfrm>
        </p:grpSpPr>
        <p:sp>
          <p:nvSpPr>
            <p:cNvPr id="273" name="Rectángulo"/>
            <p:cNvSpPr/>
            <p:nvPr/>
          </p:nvSpPr>
          <p:spPr>
            <a:xfrm>
              <a:off x="-1" y="-1"/>
              <a:ext cx="2340866" cy="1874522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4" name="3 · Monthly operations…"/>
            <p:cNvSpPr txBox="1"/>
            <p:nvPr/>
          </p:nvSpPr>
          <p:spPr>
            <a:xfrm>
              <a:off x="6349" y="6349"/>
              <a:ext cx="2328166" cy="186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523" tIns="1523" rIns="1523" bIns="1523" numCol="1" anchor="t">
              <a:normAutofit/>
            </a:bodyPr>
            <a:lstStyle/>
            <a:p>
              <a:r>
                <a:t>3 · Monthly operations</a:t>
              </a:r>
              <a:endParaRPr sz="1200"/>
            </a:p>
            <a:p>
              <a:r>
                <a:t>Calendar, publishing, segmentation, coupons, QA, reporting and optimization.</a:t>
              </a:r>
            </a:p>
          </p:txBody>
        </p:sp>
      </p:grpSp>
      <p:grpSp>
        <p:nvGrpSpPr>
          <p:cNvPr id="278" name="Text 12"/>
          <p:cNvGrpSpPr/>
          <p:nvPr/>
        </p:nvGrpSpPr>
        <p:grpSpPr>
          <a:xfrm>
            <a:off x="6409943" y="4160520"/>
            <a:ext cx="2084834" cy="275400"/>
            <a:chOff x="0" y="0"/>
            <a:chExt cx="2084832" cy="275399"/>
          </a:xfrm>
        </p:grpSpPr>
        <p:sp>
          <p:nvSpPr>
            <p:cNvPr id="276" name="Rectángulo"/>
            <p:cNvSpPr/>
            <p:nvPr/>
          </p:nvSpPr>
          <p:spPr>
            <a:xfrm>
              <a:off x="-1" y="-1"/>
              <a:ext cx="2084834" cy="274322"/>
            </a:xfrm>
            <a:prstGeom prst="rect">
              <a:avLst/>
            </a:prstGeom>
            <a:solidFill>
              <a:srgbClr val="F72585"/>
            </a:solidFill>
            <a:ln w="9525" cap="flat">
              <a:solidFill>
                <a:srgbClr val="F72585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  <a:endParaRPr/>
            </a:p>
          </p:txBody>
        </p:sp>
        <p:sp>
          <p:nvSpPr>
            <p:cNvPr id="277" name="Recurring retainer"/>
            <p:cNvSpPr txBox="1"/>
            <p:nvPr/>
          </p:nvSpPr>
          <p:spPr>
            <a:xfrm>
              <a:off x="4762" y="4762"/>
              <a:ext cx="2075308" cy="2706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0" tIns="380" rIns="380" bIns="380" numCol="1" anchor="ctr">
              <a:normAutofit/>
            </a:bodyPr>
            <a:lstStyle>
              <a:lvl1pPr algn="ctr" defTabSz="868680">
                <a:defRPr sz="1710"/>
              </a:lvl1pPr>
            </a:lstStyle>
            <a:p>
              <a:r>
                <a:t>Recurring retainer</a:t>
              </a:r>
            </a:p>
          </p:txBody>
        </p:sp>
      </p:grpSp>
      <p:grpSp>
        <p:nvGrpSpPr>
          <p:cNvPr id="281" name="Text 13"/>
          <p:cNvGrpSpPr/>
          <p:nvPr/>
        </p:nvGrpSpPr>
        <p:grpSpPr>
          <a:xfrm>
            <a:off x="9079992" y="2057399"/>
            <a:ext cx="2340865" cy="1874522"/>
            <a:chOff x="0" y="0"/>
            <a:chExt cx="2340864" cy="1874520"/>
          </a:xfrm>
        </p:grpSpPr>
        <p:sp>
          <p:nvSpPr>
            <p:cNvPr id="279" name="Rectángulo"/>
            <p:cNvSpPr/>
            <p:nvPr/>
          </p:nvSpPr>
          <p:spPr>
            <a:xfrm>
              <a:off x="-1" y="-1"/>
              <a:ext cx="2340866" cy="187452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CDD4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0" name="4 · Analytics layer…"/>
            <p:cNvSpPr txBox="1"/>
            <p:nvPr/>
          </p:nvSpPr>
          <p:spPr>
            <a:xfrm>
              <a:off x="6349" y="6349"/>
              <a:ext cx="2328166" cy="186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523" tIns="1523" rIns="1523" bIns="1523" numCol="1" anchor="t">
              <a:normAutofit/>
            </a:bodyPr>
            <a:lstStyle/>
            <a:p>
              <a:r>
                <a:t>4 · Analytics layer</a:t>
              </a:r>
              <a:endParaRPr sz="1200"/>
            </a:p>
            <a:p>
              <a:r>
                <a:t>Baseline, cohorts, holdout, incremental margin, payback and reusable learning.</a:t>
              </a:r>
            </a:p>
          </p:txBody>
        </p:sp>
      </p:grpSp>
      <p:grpSp>
        <p:nvGrpSpPr>
          <p:cNvPr id="284" name="Text 14"/>
          <p:cNvGrpSpPr/>
          <p:nvPr/>
        </p:nvGrpSpPr>
        <p:grpSpPr>
          <a:xfrm>
            <a:off x="9208006" y="4080511"/>
            <a:ext cx="2084835" cy="434340"/>
            <a:chOff x="-1" y="-80009"/>
            <a:chExt cx="2084834" cy="434338"/>
          </a:xfrm>
        </p:grpSpPr>
        <p:sp>
          <p:nvSpPr>
            <p:cNvPr id="282" name="Rectángulo"/>
            <p:cNvSpPr/>
            <p:nvPr/>
          </p:nvSpPr>
          <p:spPr>
            <a:xfrm>
              <a:off x="-1" y="-1"/>
              <a:ext cx="2084834" cy="274322"/>
            </a:xfrm>
            <a:prstGeom prst="rect">
              <a:avLst/>
            </a:prstGeom>
            <a:solidFill>
              <a:srgbClr val="090685"/>
            </a:solidFill>
            <a:ln w="9525" cap="flat">
              <a:solidFill>
                <a:srgbClr val="090685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3" name="Retainer / success fee"/>
            <p:cNvSpPr txBox="1"/>
            <p:nvPr/>
          </p:nvSpPr>
          <p:spPr>
            <a:xfrm>
              <a:off x="4762" y="-80009"/>
              <a:ext cx="2075308" cy="4343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0" tIns="380" rIns="380" bIns="380" numCol="1" anchor="ctr">
              <a:normAutofit fontScale="92500"/>
            </a:bodyPr>
            <a:lstStyle>
              <a:lvl1pPr algn="ctr" defTabSz="868680">
                <a:defRPr sz="1710">
                  <a:solidFill>
                    <a:srgbClr val="FFFFFF"/>
                  </a:solidFill>
                </a:defRPr>
              </a:lvl1pPr>
            </a:lstStyle>
            <a:p>
              <a:r>
                <a:rPr dirty="0"/>
                <a:t>Retainer / success fee</a:t>
              </a:r>
            </a:p>
          </p:txBody>
        </p:sp>
      </p:grpSp>
      <p:sp>
        <p:nvSpPr>
          <p:cNvPr id="285" name="Text 15"/>
          <p:cNvSpPr txBox="1"/>
          <p:nvPr/>
        </p:nvSpPr>
        <p:spPr>
          <a:xfrm>
            <a:off x="1005839" y="5166359"/>
            <a:ext cx="10058401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5" tIns="635" rIns="635" bIns="635">
            <a:normAutofit/>
          </a:bodyPr>
          <a:lstStyle>
            <a:lvl1pPr algn="ctr"/>
          </a:lstStyle>
          <a:p>
            <a:r>
              <a:t>The agency monetizes strategic capability, operational creativity and economic governance. Convercus provides the infrastructure that makes the service repeatable and scalable across clients.</a:t>
            </a:r>
          </a:p>
        </p:txBody>
      </p:sp>
      <p:sp>
        <p:nvSpPr>
          <p:cNvPr id="286" name="Text 16"/>
          <p:cNvSpPr txBox="1"/>
          <p:nvPr/>
        </p:nvSpPr>
        <p:spPr>
          <a:xfrm>
            <a:off x="1005839" y="5998464"/>
            <a:ext cx="9875522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 defTabSz="530351">
              <a:defRPr sz="1044"/>
            </a:lvl1pPr>
          </a:lstStyle>
          <a:p>
            <a:r>
              <a:t>Specific amounts are set by agency, sector, scope and client maturity. The economic logic is modular, not a fixed tariff.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9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0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9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ROI MODEL</a:t>
            </a:r>
          </a:p>
        </p:txBody>
      </p:sp>
      <p:sp>
        <p:nvSpPr>
          <p:cNvPr id="293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The end client buys economic impact, not just activation</a:t>
            </a:r>
          </a:p>
        </p:txBody>
      </p:sp>
      <p:sp>
        <p:nvSpPr>
          <p:cNvPr id="294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295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10</a:t>
            </a:r>
          </a:p>
        </p:txBody>
      </p:sp>
      <p:sp>
        <p:nvSpPr>
          <p:cNvPr id="296" name="Text 7"/>
          <p:cNvSpPr txBox="1"/>
          <p:nvPr/>
        </p:nvSpPr>
        <p:spPr>
          <a:xfrm>
            <a:off x="777239" y="1975104"/>
            <a:ext cx="4023361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Economic reading formula</a:t>
            </a:r>
          </a:p>
        </p:txBody>
      </p:sp>
      <p:grpSp>
        <p:nvGrpSpPr>
          <p:cNvPr id="299" name="Text 8"/>
          <p:cNvGrpSpPr/>
          <p:nvPr/>
        </p:nvGrpSpPr>
        <p:grpSpPr>
          <a:xfrm>
            <a:off x="822960" y="2542032"/>
            <a:ext cx="3794760" cy="2194561"/>
            <a:chOff x="0" y="0"/>
            <a:chExt cx="3794759" cy="2194560"/>
          </a:xfrm>
        </p:grpSpPr>
        <p:sp>
          <p:nvSpPr>
            <p:cNvPr id="297" name="Rectángulo"/>
            <p:cNvSpPr/>
            <p:nvPr/>
          </p:nvSpPr>
          <p:spPr>
            <a:xfrm>
              <a:off x="-1" y="-1"/>
              <a:ext cx="3794761" cy="2194562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8" name="Incremental margin…"/>
            <p:cNvSpPr txBox="1"/>
            <p:nvPr/>
          </p:nvSpPr>
          <p:spPr>
            <a:xfrm>
              <a:off x="6349" y="6349"/>
              <a:ext cx="3782061" cy="2181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Incremental margin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=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incremental sales × gross margin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− incentive cost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− cost-to-serve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− cannibalization</a:t>
              </a:r>
            </a:p>
          </p:txBody>
        </p:sp>
      </p:grpSp>
      <p:sp>
        <p:nvSpPr>
          <p:cNvPr id="300" name="Text 9"/>
          <p:cNvSpPr txBox="1"/>
          <p:nvPr/>
        </p:nvSpPr>
        <p:spPr>
          <a:xfrm>
            <a:off x="5257800" y="1975104"/>
            <a:ext cx="4023360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Value creation levers</a:t>
            </a:r>
          </a:p>
        </p:txBody>
      </p:sp>
      <p:grpSp>
        <p:nvGrpSpPr>
          <p:cNvPr id="303" name="Text 10"/>
          <p:cNvGrpSpPr/>
          <p:nvPr/>
        </p:nvGrpSpPr>
        <p:grpSpPr>
          <a:xfrm>
            <a:off x="5257799" y="2514599"/>
            <a:ext cx="5760722" cy="502921"/>
            <a:chOff x="0" y="0"/>
            <a:chExt cx="5760720" cy="502919"/>
          </a:xfrm>
        </p:grpSpPr>
        <p:sp>
          <p:nvSpPr>
            <p:cNvPr id="301" name="Rectángulo"/>
            <p:cNvSpPr/>
            <p:nvPr/>
          </p:nvSpPr>
          <p:spPr>
            <a:xfrm>
              <a:off x="-1" y="-1"/>
              <a:ext cx="5760722" cy="502921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02" name="Increase…"/>
            <p:cNvSpPr txBox="1"/>
            <p:nvPr/>
          </p:nvSpPr>
          <p:spPr>
            <a:xfrm>
              <a:off x="6349" y="6349"/>
              <a:ext cx="5748022" cy="490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defTabSz="813816">
                <a:defRPr sz="1602"/>
              </a:pPr>
              <a:r>
                <a:t>Increase</a:t>
              </a:r>
              <a:endParaRPr sz="1068"/>
            </a:p>
            <a:p>
              <a:pPr defTabSz="813816">
                <a:defRPr sz="1602"/>
              </a:pPr>
              <a:r>
                <a:t>identification · frequency · AOV · repeat purchase · cross-sell</a:t>
              </a:r>
            </a:p>
          </p:txBody>
        </p:sp>
      </p:grpSp>
      <p:grpSp>
        <p:nvGrpSpPr>
          <p:cNvPr id="306" name="Text 11"/>
          <p:cNvGrpSpPr/>
          <p:nvPr/>
        </p:nvGrpSpPr>
        <p:grpSpPr>
          <a:xfrm>
            <a:off x="5257799" y="3200399"/>
            <a:ext cx="5760722" cy="502921"/>
            <a:chOff x="0" y="0"/>
            <a:chExt cx="5760720" cy="502919"/>
          </a:xfrm>
        </p:grpSpPr>
        <p:sp>
          <p:nvSpPr>
            <p:cNvPr id="304" name="Rectángulo"/>
            <p:cNvSpPr/>
            <p:nvPr/>
          </p:nvSpPr>
          <p:spPr>
            <a:xfrm>
              <a:off x="-1" y="-1"/>
              <a:ext cx="5760722" cy="502921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05" name="Protect…"/>
            <p:cNvSpPr txBox="1"/>
            <p:nvPr/>
          </p:nvSpPr>
          <p:spPr>
            <a:xfrm>
              <a:off x="6349" y="6349"/>
              <a:ext cx="5748022" cy="490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defTabSz="813816">
                <a:defRPr sz="1602"/>
              </a:pPr>
              <a:r>
                <a:t>Protect</a:t>
              </a:r>
              <a:endParaRPr sz="1068"/>
            </a:p>
            <a:p>
              <a:pPr defTabSz="813816">
                <a:defRPr sz="1602"/>
              </a:pPr>
              <a:r>
                <a:t>gross margin · sell-through · perceived price · profitable mix</a:t>
              </a:r>
            </a:p>
          </p:txBody>
        </p:sp>
      </p:grpSp>
      <p:grpSp>
        <p:nvGrpSpPr>
          <p:cNvPr id="309" name="Text 12"/>
          <p:cNvGrpSpPr/>
          <p:nvPr/>
        </p:nvGrpSpPr>
        <p:grpSpPr>
          <a:xfrm>
            <a:off x="5257799" y="3886199"/>
            <a:ext cx="5760722" cy="502921"/>
            <a:chOff x="0" y="0"/>
            <a:chExt cx="5760720" cy="502919"/>
          </a:xfrm>
        </p:grpSpPr>
        <p:sp>
          <p:nvSpPr>
            <p:cNvPr id="307" name="Rectángulo"/>
            <p:cNvSpPr/>
            <p:nvPr/>
          </p:nvSpPr>
          <p:spPr>
            <a:xfrm>
              <a:off x="-1" y="-1"/>
              <a:ext cx="5760722" cy="502921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08" name="Reduce…"/>
            <p:cNvSpPr txBox="1"/>
            <p:nvPr/>
          </p:nvSpPr>
          <p:spPr>
            <a:xfrm>
              <a:off x="6349" y="6349"/>
              <a:ext cx="5748022" cy="490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defTabSz="813816">
                <a:defRPr sz="1602"/>
              </a:pPr>
              <a:r>
                <a:t>Reduce</a:t>
              </a:r>
              <a:endParaRPr sz="1068"/>
            </a:p>
            <a:p>
              <a:pPr defTabSz="813816">
                <a:defRPr sz="1602"/>
              </a:pPr>
              <a:r>
                <a:t>markdown · returns · cost-to-serve · paid-media dependence</a:t>
              </a:r>
            </a:p>
          </p:txBody>
        </p:sp>
      </p:grpSp>
      <p:grpSp>
        <p:nvGrpSpPr>
          <p:cNvPr id="312" name="Text 13"/>
          <p:cNvGrpSpPr/>
          <p:nvPr/>
        </p:nvGrpSpPr>
        <p:grpSpPr>
          <a:xfrm>
            <a:off x="5257799" y="4571999"/>
            <a:ext cx="5760722" cy="502921"/>
            <a:chOff x="0" y="0"/>
            <a:chExt cx="5760720" cy="502919"/>
          </a:xfrm>
        </p:grpSpPr>
        <p:sp>
          <p:nvSpPr>
            <p:cNvPr id="310" name="Rectángulo"/>
            <p:cNvSpPr/>
            <p:nvPr/>
          </p:nvSpPr>
          <p:spPr>
            <a:xfrm>
              <a:off x="-1" y="-1"/>
              <a:ext cx="5760722" cy="502921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11" name="Learn…"/>
            <p:cNvSpPr txBox="1"/>
            <p:nvPr/>
          </p:nvSpPr>
          <p:spPr>
            <a:xfrm>
              <a:off x="6349" y="6349"/>
              <a:ext cx="5748022" cy="490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defTabSz="813816">
                <a:defRPr sz="1602"/>
              </a:pPr>
              <a:r>
                <a:t>Learn</a:t>
              </a:r>
              <a:endParaRPr sz="1068"/>
            </a:p>
            <a:p>
              <a:pPr defTabSz="813816">
                <a:defRPr sz="1602"/>
              </a:pPr>
              <a:r>
                <a:t>cohorts · incrementality · sector pattern · scalability</a:t>
              </a:r>
            </a:p>
          </p:txBody>
        </p:sp>
      </p:grpSp>
      <p:sp>
        <p:nvSpPr>
          <p:cNvPr id="313" name="Text 14"/>
          <p:cNvSpPr txBox="1"/>
          <p:nvPr/>
        </p:nvSpPr>
        <p:spPr>
          <a:xfrm>
            <a:off x="960119" y="5715000"/>
            <a:ext cx="100584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 defTabSz="640079">
              <a:defRPr sz="1260"/>
            </a:lvl1pPr>
          </a:lstStyle>
          <a:p>
            <a:r>
              <a:t>The economic layer must connect to auditable KPIs: formula, source, calculation level, frequency, owner and interpretation criteria.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6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7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1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TES KPI</a:t>
            </a:r>
          </a:p>
        </p:txBody>
      </p:sp>
      <p:sp>
        <p:nvSpPr>
          <p:cNvPr id="320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Economic-operational scorecard to govern experiences</a:t>
            </a:r>
          </a:p>
        </p:txBody>
      </p:sp>
      <p:sp>
        <p:nvSpPr>
          <p:cNvPr id="321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322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11</a:t>
            </a:r>
          </a:p>
        </p:txBody>
      </p:sp>
      <p:grpSp>
        <p:nvGrpSpPr>
          <p:cNvPr id="325" name="Text 7"/>
          <p:cNvGrpSpPr/>
          <p:nvPr/>
        </p:nvGrpSpPr>
        <p:grpSpPr>
          <a:xfrm>
            <a:off x="758952" y="2057399"/>
            <a:ext cx="4983480" cy="1234442"/>
            <a:chOff x="0" y="0"/>
            <a:chExt cx="4983479" cy="1234440"/>
          </a:xfrm>
        </p:grpSpPr>
        <p:sp>
          <p:nvSpPr>
            <p:cNvPr id="323" name="Rectángulo"/>
            <p:cNvSpPr/>
            <p:nvPr/>
          </p:nvSpPr>
          <p:spPr>
            <a:xfrm>
              <a:off x="0" y="-1"/>
              <a:ext cx="4983480" cy="1234442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24" name="Identity and adoption…"/>
            <p:cNvSpPr txBox="1"/>
            <p:nvPr/>
          </p:nvSpPr>
          <p:spPr>
            <a:xfrm>
              <a:off x="6350" y="6349"/>
              <a:ext cx="4970780" cy="1221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778" tIns="1778" rIns="1778" bIns="1778" numCol="1" anchor="ctr">
              <a:normAutofit/>
            </a:bodyPr>
            <a:lstStyle/>
            <a:p>
              <a:r>
                <a:t>Identity and adoption</a:t>
              </a:r>
              <a:endParaRPr sz="1300"/>
            </a:p>
            <a:p>
              <a:r>
                <a:t>Customer Identification Rate</a:t>
              </a:r>
            </a:p>
            <a:p>
              <a:r>
                <a:t>Member Penetration</a:t>
              </a:r>
            </a:p>
            <a:p>
              <a:r>
                <a:t>Valid consent</a:t>
              </a:r>
            </a:p>
          </p:txBody>
        </p:sp>
      </p:grpSp>
      <p:grpSp>
        <p:nvGrpSpPr>
          <p:cNvPr id="328" name="Text 8"/>
          <p:cNvGrpSpPr/>
          <p:nvPr/>
        </p:nvGrpSpPr>
        <p:grpSpPr>
          <a:xfrm>
            <a:off x="6336791" y="2057399"/>
            <a:ext cx="4983481" cy="1234442"/>
            <a:chOff x="0" y="0"/>
            <a:chExt cx="4983479" cy="1234440"/>
          </a:xfrm>
        </p:grpSpPr>
        <p:sp>
          <p:nvSpPr>
            <p:cNvPr id="326" name="Rectángulo"/>
            <p:cNvSpPr/>
            <p:nvPr/>
          </p:nvSpPr>
          <p:spPr>
            <a:xfrm>
              <a:off x="0" y="-1"/>
              <a:ext cx="4983480" cy="1234442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27" name="Progression and loyalty…"/>
            <p:cNvSpPr txBox="1"/>
            <p:nvPr/>
          </p:nvSpPr>
          <p:spPr>
            <a:xfrm>
              <a:off x="6350" y="6349"/>
              <a:ext cx="4970780" cy="1221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778" tIns="1778" rIns="1778" bIns="1778" numCol="1" anchor="ctr">
              <a:normAutofit/>
            </a:bodyPr>
            <a:lstStyle/>
            <a:p>
              <a:r>
                <a:t>Progression and loyalty</a:t>
              </a:r>
              <a:endParaRPr sz="1300"/>
            </a:p>
            <a:p>
              <a:r>
                <a:t>Start Rate / Completion Rate</a:t>
              </a:r>
            </a:p>
            <a:p>
              <a:r>
                <a:t>60/90-day Repeat Rate</a:t>
              </a:r>
            </a:p>
            <a:p>
              <a:r>
                <a:t>Purchase frequency</a:t>
              </a:r>
            </a:p>
          </p:txBody>
        </p:sp>
      </p:grpSp>
      <p:grpSp>
        <p:nvGrpSpPr>
          <p:cNvPr id="331" name="Text 9"/>
          <p:cNvGrpSpPr/>
          <p:nvPr/>
        </p:nvGrpSpPr>
        <p:grpSpPr>
          <a:xfrm>
            <a:off x="758952" y="3749040"/>
            <a:ext cx="4983480" cy="1234441"/>
            <a:chOff x="0" y="0"/>
            <a:chExt cx="4983479" cy="1234440"/>
          </a:xfrm>
        </p:grpSpPr>
        <p:sp>
          <p:nvSpPr>
            <p:cNvPr id="329" name="Rectángulo"/>
            <p:cNvSpPr/>
            <p:nvPr/>
          </p:nvSpPr>
          <p:spPr>
            <a:xfrm>
              <a:off x="0" y="-1"/>
              <a:ext cx="4983480" cy="1234442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30" name="Economics and margin…"/>
            <p:cNvSpPr txBox="1"/>
            <p:nvPr/>
          </p:nvSpPr>
          <p:spPr>
            <a:xfrm>
              <a:off x="6350" y="6349"/>
              <a:ext cx="4970780" cy="1221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778" tIns="1778" rIns="1778" bIns="1778" numCol="1" anchor="ctr">
              <a:normAutofit/>
            </a:bodyPr>
            <a:lstStyle/>
            <a:p>
              <a:pPr defTabSz="813816">
                <a:defRPr sz="1602"/>
              </a:pPr>
              <a:r>
                <a:t>Economics and margin</a:t>
              </a:r>
              <a:endParaRPr sz="1157"/>
            </a:p>
            <a:p>
              <a:pPr defTabSz="813816">
                <a:defRPr sz="1602"/>
              </a:pPr>
              <a:r>
                <a:t>Gross Margin %</a:t>
              </a:r>
            </a:p>
            <a:p>
              <a:pPr defTabSz="813816">
                <a:defRPr sz="1602"/>
              </a:pPr>
              <a:r>
                <a:t>Contribution Margin/txn</a:t>
              </a:r>
            </a:p>
            <a:p>
              <a:pPr defTabSz="813816">
                <a:defRPr sz="1602"/>
              </a:pPr>
              <a:r>
                <a:t>Payback Period</a:t>
              </a:r>
            </a:p>
            <a:p>
              <a:pPr defTabSz="813816">
                <a:defRPr sz="1602"/>
              </a:pPr>
              <a:r>
                <a:t>Effective Rebate Rate</a:t>
              </a:r>
            </a:p>
          </p:txBody>
        </p:sp>
      </p:grpSp>
      <p:grpSp>
        <p:nvGrpSpPr>
          <p:cNvPr id="334" name="Text 10"/>
          <p:cNvGrpSpPr/>
          <p:nvPr/>
        </p:nvGrpSpPr>
        <p:grpSpPr>
          <a:xfrm>
            <a:off x="6336791" y="3749040"/>
            <a:ext cx="4983481" cy="1234441"/>
            <a:chOff x="0" y="0"/>
            <a:chExt cx="4983479" cy="1234440"/>
          </a:xfrm>
        </p:grpSpPr>
        <p:sp>
          <p:nvSpPr>
            <p:cNvPr id="332" name="Rectángulo"/>
            <p:cNvSpPr/>
            <p:nvPr/>
          </p:nvSpPr>
          <p:spPr>
            <a:xfrm>
              <a:off x="0" y="-1"/>
              <a:ext cx="4983480" cy="1234442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33" name="Operations and channel…"/>
            <p:cNvSpPr txBox="1"/>
            <p:nvPr/>
          </p:nvSpPr>
          <p:spPr>
            <a:xfrm>
              <a:off x="6350" y="6349"/>
              <a:ext cx="4970780" cy="1221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778" tIns="1778" rIns="1778" bIns="1778" numCol="1" anchor="ctr">
              <a:normAutofit/>
            </a:bodyPr>
            <a:lstStyle/>
            <a:p>
              <a:pPr defTabSz="813816">
                <a:defRPr sz="1602"/>
              </a:pPr>
              <a:r>
                <a:t>Operations and channel</a:t>
              </a:r>
              <a:endParaRPr sz="1157"/>
            </a:p>
            <a:p>
              <a:pPr defTabSz="813816">
                <a:defRPr sz="1602"/>
              </a:pPr>
              <a:r>
                <a:t>Cost-to-Serve</a:t>
              </a:r>
            </a:p>
            <a:p>
              <a:pPr defTabSz="813816">
                <a:defRPr sz="1602"/>
              </a:pPr>
              <a:r>
                <a:t>Promo Uplift</a:t>
              </a:r>
            </a:p>
            <a:p>
              <a:pPr defTabSz="813816">
                <a:defRPr sz="1602"/>
              </a:pPr>
              <a:r>
                <a:t>BOPIS / BORIS</a:t>
              </a:r>
            </a:p>
            <a:p>
              <a:pPr defTabSz="813816">
                <a:defRPr sz="1602"/>
              </a:pPr>
              <a:r>
                <a:t>Return Rate / Markdown Rate</a:t>
              </a:r>
            </a:p>
          </p:txBody>
        </p:sp>
      </p:grpSp>
      <p:grpSp>
        <p:nvGrpSpPr>
          <p:cNvPr id="337" name="Text 11"/>
          <p:cNvGrpSpPr/>
          <p:nvPr/>
        </p:nvGrpSpPr>
        <p:grpSpPr>
          <a:xfrm>
            <a:off x="932687" y="5532120"/>
            <a:ext cx="10241282" cy="566929"/>
            <a:chOff x="0" y="0"/>
            <a:chExt cx="10241280" cy="566927"/>
          </a:xfrm>
        </p:grpSpPr>
        <p:sp>
          <p:nvSpPr>
            <p:cNvPr id="335" name="Rectángulo"/>
            <p:cNvSpPr/>
            <p:nvPr/>
          </p:nvSpPr>
          <p:spPr>
            <a:xfrm>
              <a:off x="-1" y="0"/>
              <a:ext cx="10241282" cy="566928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6" name="Governance rule: no KPI stands on its name alone. It must be reconstructible by formula, source, calculation level, frequency, owner and decision gate."/>
            <p:cNvSpPr txBox="1"/>
            <p:nvPr/>
          </p:nvSpPr>
          <p:spPr>
            <a:xfrm>
              <a:off x="6349" y="6350"/>
              <a:ext cx="10228582" cy="554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Governance rule: no KPI stands on its name alone. It must be reconstructible by formula, source, calculation level, frequency, owner and decision gate.</a:t>
              </a:r>
            </a:p>
          </p:txBody>
        </p:sp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90685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0" name="Shape 1"/>
          <p:cNvSpPr/>
          <p:nvPr/>
        </p:nvSpPr>
        <p:spPr>
          <a:xfrm>
            <a:off x="-1" y="-1"/>
            <a:ext cx="12191697" cy="201170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1" name="Shape 2"/>
          <p:cNvSpPr/>
          <p:nvPr/>
        </p:nvSpPr>
        <p:spPr>
          <a:xfrm>
            <a:off x="-1" y="6656831"/>
            <a:ext cx="12191697" cy="201169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4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6" y="502919"/>
            <a:ext cx="980683" cy="420625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Text 3"/>
          <p:cNvSpPr txBox="1"/>
          <p:nvPr/>
        </p:nvSpPr>
        <p:spPr>
          <a:xfrm>
            <a:off x="932688" y="1946910"/>
            <a:ext cx="3657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OPERATIONS</a:t>
            </a:r>
          </a:p>
        </p:txBody>
      </p:sp>
      <p:sp>
        <p:nvSpPr>
          <p:cNvPr id="344" name="Text 4"/>
          <p:cNvSpPr txBox="1"/>
          <p:nvPr/>
        </p:nvSpPr>
        <p:spPr>
          <a:xfrm>
            <a:off x="932688" y="2331720"/>
            <a:ext cx="8961120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Act 3</a:t>
            </a:r>
          </a:p>
        </p:txBody>
      </p:sp>
      <p:sp>
        <p:nvSpPr>
          <p:cNvPr id="345" name="Text 5"/>
          <p:cNvSpPr txBox="1"/>
          <p:nvPr/>
        </p:nvSpPr>
        <p:spPr>
          <a:xfrm>
            <a:off x="960119" y="3310128"/>
            <a:ext cx="7955282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Holistic campaign, operations and experience toolkit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8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9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5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351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METHOD</a:t>
            </a:r>
          </a:p>
        </p:txBody>
      </p:sp>
      <p:sp>
        <p:nvSpPr>
          <p:cNvPr id="352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From campaign brief to experience architecture</a:t>
            </a:r>
          </a:p>
        </p:txBody>
      </p:sp>
      <p:sp>
        <p:nvSpPr>
          <p:cNvPr id="353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354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13</a:t>
            </a:r>
          </a:p>
        </p:txBody>
      </p:sp>
      <p:grpSp>
        <p:nvGrpSpPr>
          <p:cNvPr id="357" name="Text 7"/>
          <p:cNvGrpSpPr/>
          <p:nvPr/>
        </p:nvGrpSpPr>
        <p:grpSpPr>
          <a:xfrm>
            <a:off x="502919" y="2029967"/>
            <a:ext cx="2304289" cy="841249"/>
            <a:chOff x="0" y="0"/>
            <a:chExt cx="2304288" cy="841247"/>
          </a:xfrm>
        </p:grpSpPr>
        <p:sp>
          <p:nvSpPr>
            <p:cNvPr id="355" name="Rectángulo"/>
            <p:cNvSpPr/>
            <p:nvPr/>
          </p:nvSpPr>
          <p:spPr>
            <a:xfrm>
              <a:off x="-1" y="0"/>
              <a:ext cx="2304290" cy="841248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56" name="1…"/>
            <p:cNvSpPr txBox="1"/>
            <p:nvPr/>
          </p:nvSpPr>
          <p:spPr>
            <a:xfrm>
              <a:off x="6349" y="6350"/>
              <a:ext cx="2291590" cy="8285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1</a:t>
              </a:r>
              <a:endParaRPr sz="1300"/>
            </a:p>
            <a:p>
              <a:r>
                <a:t>Economic objective</a:t>
              </a:r>
            </a:p>
          </p:txBody>
        </p:sp>
      </p:grpSp>
      <p:sp>
        <p:nvSpPr>
          <p:cNvPr id="358" name="Shape 8"/>
          <p:cNvSpPr/>
          <p:nvPr/>
        </p:nvSpPr>
        <p:spPr>
          <a:xfrm>
            <a:off x="2816351" y="2450592"/>
            <a:ext cx="466345" cy="1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61" name="Text 9"/>
          <p:cNvGrpSpPr/>
          <p:nvPr/>
        </p:nvGrpSpPr>
        <p:grpSpPr>
          <a:xfrm>
            <a:off x="3410711" y="2029967"/>
            <a:ext cx="2304289" cy="841249"/>
            <a:chOff x="0" y="0"/>
            <a:chExt cx="2304288" cy="841247"/>
          </a:xfrm>
        </p:grpSpPr>
        <p:sp>
          <p:nvSpPr>
            <p:cNvPr id="359" name="Rectángulo"/>
            <p:cNvSpPr/>
            <p:nvPr/>
          </p:nvSpPr>
          <p:spPr>
            <a:xfrm>
              <a:off x="-1" y="0"/>
              <a:ext cx="2304290" cy="841248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60" name="2…"/>
            <p:cNvSpPr txBox="1"/>
            <p:nvPr/>
          </p:nvSpPr>
          <p:spPr>
            <a:xfrm>
              <a:off x="6349" y="6350"/>
              <a:ext cx="2291590" cy="8285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2</a:t>
              </a:r>
              <a:endParaRPr sz="1300"/>
            </a:p>
            <a:p>
              <a:r>
                <a:t>Triggering event</a:t>
              </a:r>
            </a:p>
          </p:txBody>
        </p:sp>
      </p:grpSp>
      <p:sp>
        <p:nvSpPr>
          <p:cNvPr id="362" name="Shape 10"/>
          <p:cNvSpPr/>
          <p:nvPr/>
        </p:nvSpPr>
        <p:spPr>
          <a:xfrm>
            <a:off x="5724144" y="2450592"/>
            <a:ext cx="466345" cy="1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65" name="Text 11"/>
          <p:cNvGrpSpPr/>
          <p:nvPr/>
        </p:nvGrpSpPr>
        <p:grpSpPr>
          <a:xfrm>
            <a:off x="6318503" y="2029967"/>
            <a:ext cx="2304289" cy="841249"/>
            <a:chOff x="0" y="0"/>
            <a:chExt cx="2304288" cy="841247"/>
          </a:xfrm>
        </p:grpSpPr>
        <p:sp>
          <p:nvSpPr>
            <p:cNvPr id="363" name="Rectángulo"/>
            <p:cNvSpPr/>
            <p:nvPr/>
          </p:nvSpPr>
          <p:spPr>
            <a:xfrm>
              <a:off x="-1" y="0"/>
              <a:ext cx="2304290" cy="841248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64" name="3…"/>
            <p:cNvSpPr txBox="1"/>
            <p:nvPr/>
          </p:nvSpPr>
          <p:spPr>
            <a:xfrm>
              <a:off x="6349" y="6350"/>
              <a:ext cx="2291590" cy="8285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3</a:t>
              </a:r>
              <a:endParaRPr sz="1300"/>
            </a:p>
            <a:p>
              <a:r>
                <a:t>Loyalty profile</a:t>
              </a:r>
            </a:p>
          </p:txBody>
        </p:sp>
      </p:grpSp>
      <p:sp>
        <p:nvSpPr>
          <p:cNvPr id="366" name="Shape 12"/>
          <p:cNvSpPr/>
          <p:nvPr/>
        </p:nvSpPr>
        <p:spPr>
          <a:xfrm>
            <a:off x="8631935" y="2450592"/>
            <a:ext cx="466345" cy="1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69" name="Text 13"/>
          <p:cNvGrpSpPr/>
          <p:nvPr/>
        </p:nvGrpSpPr>
        <p:grpSpPr>
          <a:xfrm>
            <a:off x="9226295" y="2029967"/>
            <a:ext cx="2304289" cy="841249"/>
            <a:chOff x="0" y="0"/>
            <a:chExt cx="2304288" cy="841247"/>
          </a:xfrm>
        </p:grpSpPr>
        <p:sp>
          <p:nvSpPr>
            <p:cNvPr id="367" name="Rectángulo"/>
            <p:cNvSpPr/>
            <p:nvPr/>
          </p:nvSpPr>
          <p:spPr>
            <a:xfrm>
              <a:off x="-1" y="0"/>
              <a:ext cx="2304290" cy="841248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68" name="4…"/>
            <p:cNvSpPr txBox="1"/>
            <p:nvPr/>
          </p:nvSpPr>
          <p:spPr>
            <a:xfrm>
              <a:off x="6349" y="6350"/>
              <a:ext cx="2291590" cy="8285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4</a:t>
              </a:r>
              <a:endParaRPr sz="1300"/>
            </a:p>
            <a:p>
              <a:r>
                <a:t>Sequence and milestones</a:t>
              </a:r>
            </a:p>
          </p:txBody>
        </p:sp>
      </p:grpSp>
      <p:grpSp>
        <p:nvGrpSpPr>
          <p:cNvPr id="372" name="Text 14"/>
          <p:cNvGrpSpPr/>
          <p:nvPr/>
        </p:nvGrpSpPr>
        <p:grpSpPr>
          <a:xfrm>
            <a:off x="502919" y="3447288"/>
            <a:ext cx="2304289" cy="841249"/>
            <a:chOff x="0" y="0"/>
            <a:chExt cx="2304288" cy="841247"/>
          </a:xfrm>
        </p:grpSpPr>
        <p:sp>
          <p:nvSpPr>
            <p:cNvPr id="370" name="Rectángulo"/>
            <p:cNvSpPr/>
            <p:nvPr/>
          </p:nvSpPr>
          <p:spPr>
            <a:xfrm>
              <a:off x="-1" y="0"/>
              <a:ext cx="2304290" cy="841248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71" name="5…"/>
            <p:cNvSpPr txBox="1"/>
            <p:nvPr/>
          </p:nvSpPr>
          <p:spPr>
            <a:xfrm>
              <a:off x="6349" y="6350"/>
              <a:ext cx="2291590" cy="8285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5</a:t>
              </a:r>
              <a:endParaRPr sz="1300"/>
            </a:p>
            <a:p>
              <a:r>
                <a:t>Incentives and rules</a:t>
              </a:r>
            </a:p>
          </p:txBody>
        </p:sp>
      </p:grpSp>
      <p:sp>
        <p:nvSpPr>
          <p:cNvPr id="373" name="Shape 15"/>
          <p:cNvSpPr/>
          <p:nvPr/>
        </p:nvSpPr>
        <p:spPr>
          <a:xfrm>
            <a:off x="2816351" y="3867911"/>
            <a:ext cx="466345" cy="1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76" name="Text 16"/>
          <p:cNvGrpSpPr/>
          <p:nvPr/>
        </p:nvGrpSpPr>
        <p:grpSpPr>
          <a:xfrm>
            <a:off x="3410711" y="3447288"/>
            <a:ext cx="2304289" cy="841249"/>
            <a:chOff x="0" y="0"/>
            <a:chExt cx="2304288" cy="841247"/>
          </a:xfrm>
        </p:grpSpPr>
        <p:sp>
          <p:nvSpPr>
            <p:cNvPr id="374" name="Rectángulo"/>
            <p:cNvSpPr/>
            <p:nvPr/>
          </p:nvSpPr>
          <p:spPr>
            <a:xfrm>
              <a:off x="-1" y="0"/>
              <a:ext cx="2304290" cy="841248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75" name="6…"/>
            <p:cNvSpPr txBox="1"/>
            <p:nvPr/>
          </p:nvSpPr>
          <p:spPr>
            <a:xfrm>
              <a:off x="6349" y="6350"/>
              <a:ext cx="2291590" cy="8285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6</a:t>
              </a:r>
              <a:endParaRPr sz="1300"/>
            </a:p>
            <a:p>
              <a:r>
                <a:t>Channels</a:t>
              </a:r>
            </a:p>
          </p:txBody>
        </p:sp>
      </p:grpSp>
      <p:sp>
        <p:nvSpPr>
          <p:cNvPr id="377" name="Shape 17"/>
          <p:cNvSpPr/>
          <p:nvPr/>
        </p:nvSpPr>
        <p:spPr>
          <a:xfrm>
            <a:off x="5724144" y="3867911"/>
            <a:ext cx="466345" cy="1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80" name="Text 18"/>
          <p:cNvGrpSpPr/>
          <p:nvPr/>
        </p:nvGrpSpPr>
        <p:grpSpPr>
          <a:xfrm>
            <a:off x="6318503" y="3447288"/>
            <a:ext cx="2304289" cy="841249"/>
            <a:chOff x="0" y="0"/>
            <a:chExt cx="2304288" cy="841247"/>
          </a:xfrm>
        </p:grpSpPr>
        <p:sp>
          <p:nvSpPr>
            <p:cNvPr id="378" name="Rectángulo"/>
            <p:cNvSpPr/>
            <p:nvPr/>
          </p:nvSpPr>
          <p:spPr>
            <a:xfrm>
              <a:off x="-1" y="0"/>
              <a:ext cx="2304290" cy="841248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79" name="7…"/>
            <p:cNvSpPr txBox="1"/>
            <p:nvPr/>
          </p:nvSpPr>
          <p:spPr>
            <a:xfrm>
              <a:off x="6349" y="6350"/>
              <a:ext cx="2291590" cy="8285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7</a:t>
              </a:r>
              <a:endParaRPr sz="1300"/>
            </a:p>
            <a:p>
              <a:r>
                <a:t>Measurement</a:t>
              </a:r>
            </a:p>
          </p:txBody>
        </p:sp>
      </p:grpSp>
      <p:sp>
        <p:nvSpPr>
          <p:cNvPr id="381" name="Shape 19"/>
          <p:cNvSpPr/>
          <p:nvPr/>
        </p:nvSpPr>
        <p:spPr>
          <a:xfrm>
            <a:off x="8631935" y="3867911"/>
            <a:ext cx="466345" cy="1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84" name="Text 20"/>
          <p:cNvGrpSpPr/>
          <p:nvPr/>
        </p:nvGrpSpPr>
        <p:grpSpPr>
          <a:xfrm>
            <a:off x="9226295" y="3447288"/>
            <a:ext cx="2304289" cy="841249"/>
            <a:chOff x="0" y="0"/>
            <a:chExt cx="2304288" cy="841247"/>
          </a:xfrm>
        </p:grpSpPr>
        <p:sp>
          <p:nvSpPr>
            <p:cNvPr id="382" name="Rectángulo"/>
            <p:cNvSpPr/>
            <p:nvPr/>
          </p:nvSpPr>
          <p:spPr>
            <a:xfrm>
              <a:off x="-1" y="0"/>
              <a:ext cx="2304290" cy="841248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83" name="8…"/>
            <p:cNvSpPr txBox="1"/>
            <p:nvPr/>
          </p:nvSpPr>
          <p:spPr>
            <a:xfrm>
              <a:off x="6349" y="6350"/>
              <a:ext cx="2291590" cy="8285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8</a:t>
              </a:r>
              <a:endParaRPr sz="1300"/>
            </a:p>
            <a:p>
              <a:r>
                <a:t>Learning</a:t>
              </a:r>
            </a:p>
          </p:txBody>
        </p:sp>
      </p:grpSp>
      <p:sp>
        <p:nvSpPr>
          <p:cNvPr id="385" name="Shape 21"/>
          <p:cNvSpPr/>
          <p:nvPr/>
        </p:nvSpPr>
        <p:spPr>
          <a:xfrm>
            <a:off x="9345168" y="2871216"/>
            <a:ext cx="1" cy="530353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6" name="Shape 22"/>
          <p:cNvSpPr/>
          <p:nvPr/>
        </p:nvSpPr>
        <p:spPr>
          <a:xfrm>
            <a:off x="3236976" y="3447288"/>
            <a:ext cx="466345" cy="1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7" name="Shape 23"/>
          <p:cNvSpPr/>
          <p:nvPr/>
        </p:nvSpPr>
        <p:spPr>
          <a:xfrm>
            <a:off x="6144767" y="3447288"/>
            <a:ext cx="466345" cy="1"/>
          </a:xfrm>
          <a:prstGeom prst="line">
            <a:avLst/>
          </a:prstGeom>
          <a:ln w="1270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90" name="Text 24"/>
          <p:cNvGrpSpPr/>
          <p:nvPr/>
        </p:nvGrpSpPr>
        <p:grpSpPr>
          <a:xfrm>
            <a:off x="987552" y="5394959"/>
            <a:ext cx="10195560" cy="566929"/>
            <a:chOff x="0" y="0"/>
            <a:chExt cx="10195559" cy="566927"/>
          </a:xfrm>
        </p:grpSpPr>
        <p:sp>
          <p:nvSpPr>
            <p:cNvPr id="388" name="Rectángulo"/>
            <p:cNvSpPr/>
            <p:nvPr/>
          </p:nvSpPr>
          <p:spPr>
            <a:xfrm>
              <a:off x="0" y="0"/>
              <a:ext cx="10195560" cy="566928"/>
            </a:xfrm>
            <a:prstGeom prst="rect">
              <a:avLst/>
            </a:prstGeom>
            <a:solidFill>
              <a:srgbClr val="F72585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  <a:endParaRPr/>
            </a:p>
          </p:txBody>
        </p:sp>
        <p:sp>
          <p:nvSpPr>
            <p:cNvPr id="389" name="The agency does not “fill channels”: it designs a progression with economic intent and then decides which media make it happen."/>
            <p:cNvSpPr txBox="1"/>
            <p:nvPr/>
          </p:nvSpPr>
          <p:spPr>
            <a:xfrm>
              <a:off x="6350" y="6350"/>
              <a:ext cx="10182860" cy="554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/>
            </a:lstStyle>
            <a:p>
              <a:r>
                <a:t>The agency does not “fill channels”: it designs a progression with economic intent and then decides which media make it happen.</a:t>
              </a:r>
            </a:p>
          </p:txBody>
        </p:sp>
      </p:grp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3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4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9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TOOLKIT</a:t>
            </a:r>
          </a:p>
        </p:txBody>
      </p:sp>
      <p:sp>
        <p:nvSpPr>
          <p:cNvPr id="397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Operational toolkit: assets the agency turns into a service</a:t>
            </a:r>
          </a:p>
        </p:txBody>
      </p:sp>
      <p:sp>
        <p:nvSpPr>
          <p:cNvPr id="398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399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14</a:t>
            </a:r>
          </a:p>
        </p:txBody>
      </p:sp>
      <p:grpSp>
        <p:nvGrpSpPr>
          <p:cNvPr id="402" name="Text 7"/>
          <p:cNvGrpSpPr/>
          <p:nvPr/>
        </p:nvGrpSpPr>
        <p:grpSpPr>
          <a:xfrm>
            <a:off x="713231" y="2029967"/>
            <a:ext cx="2340866" cy="822961"/>
            <a:chOff x="0" y="0"/>
            <a:chExt cx="2340864" cy="822960"/>
          </a:xfrm>
        </p:grpSpPr>
        <p:sp>
          <p:nvSpPr>
            <p:cNvPr id="400" name="Rectángulo"/>
            <p:cNvSpPr/>
            <p:nvPr/>
          </p:nvSpPr>
          <p:spPr>
            <a:xfrm>
              <a:off x="-1" y="-1"/>
              <a:ext cx="2340866" cy="822962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01" name="Experiences…"/>
            <p:cNvSpPr txBox="1"/>
            <p:nvPr/>
          </p:nvSpPr>
          <p:spPr>
            <a:xfrm>
              <a:off x="6349" y="6349"/>
              <a:ext cx="2328166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Experiences</a:t>
              </a:r>
              <a:endParaRPr sz="1200"/>
            </a:p>
            <a:p>
              <a:r>
                <a:t>sequences, milestones and progression</a:t>
              </a:r>
            </a:p>
          </p:txBody>
        </p:sp>
      </p:grpSp>
      <p:grpSp>
        <p:nvGrpSpPr>
          <p:cNvPr id="405" name="Text 8"/>
          <p:cNvGrpSpPr/>
          <p:nvPr/>
        </p:nvGrpSpPr>
        <p:grpSpPr>
          <a:xfrm>
            <a:off x="3502152" y="2029967"/>
            <a:ext cx="2340865" cy="822961"/>
            <a:chOff x="0" y="0"/>
            <a:chExt cx="2340864" cy="822960"/>
          </a:xfrm>
        </p:grpSpPr>
        <p:sp>
          <p:nvSpPr>
            <p:cNvPr id="403" name="Rectángulo"/>
            <p:cNvSpPr/>
            <p:nvPr/>
          </p:nvSpPr>
          <p:spPr>
            <a:xfrm>
              <a:off x="-1" y="-1"/>
              <a:ext cx="2340866" cy="822962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04" name="Newsfeed…"/>
            <p:cNvSpPr txBox="1"/>
            <p:nvPr/>
          </p:nvSpPr>
          <p:spPr>
            <a:xfrm>
              <a:off x="6349" y="6349"/>
              <a:ext cx="2328166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Newsfeed</a:t>
              </a:r>
              <a:endParaRPr sz="1200"/>
            </a:p>
            <a:p>
              <a:r>
                <a:t>content + CTA + optional push</a:t>
              </a:r>
            </a:p>
          </p:txBody>
        </p:sp>
      </p:grpSp>
      <p:grpSp>
        <p:nvGrpSpPr>
          <p:cNvPr id="408" name="Text 9"/>
          <p:cNvGrpSpPr/>
          <p:nvPr/>
        </p:nvGrpSpPr>
        <p:grpSpPr>
          <a:xfrm>
            <a:off x="6291071" y="2029967"/>
            <a:ext cx="2340865" cy="822961"/>
            <a:chOff x="0" y="0"/>
            <a:chExt cx="2340864" cy="822960"/>
          </a:xfrm>
        </p:grpSpPr>
        <p:sp>
          <p:nvSpPr>
            <p:cNvPr id="406" name="Rectángulo"/>
            <p:cNvSpPr/>
            <p:nvPr/>
          </p:nvSpPr>
          <p:spPr>
            <a:xfrm>
              <a:off x="-1" y="-1"/>
              <a:ext cx="2340866" cy="822962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07" name="Coupons…"/>
            <p:cNvSpPr txBox="1"/>
            <p:nvPr/>
          </p:nvSpPr>
          <p:spPr>
            <a:xfrm>
              <a:off x="6349" y="6349"/>
              <a:ext cx="2328166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Coupons</a:t>
              </a:r>
              <a:endParaRPr sz="1200"/>
            </a:p>
            <a:p>
              <a:r>
                <a:t>benefit + rules + targeting</a:t>
              </a:r>
            </a:p>
          </p:txBody>
        </p:sp>
      </p:grpSp>
      <p:grpSp>
        <p:nvGrpSpPr>
          <p:cNvPr id="411" name="Text 10"/>
          <p:cNvGrpSpPr/>
          <p:nvPr/>
        </p:nvGrpSpPr>
        <p:grpSpPr>
          <a:xfrm>
            <a:off x="9079992" y="2029967"/>
            <a:ext cx="2340865" cy="822961"/>
            <a:chOff x="0" y="0"/>
            <a:chExt cx="2340864" cy="822960"/>
          </a:xfrm>
        </p:grpSpPr>
        <p:sp>
          <p:nvSpPr>
            <p:cNvPr id="409" name="Rectángulo"/>
            <p:cNvSpPr/>
            <p:nvPr/>
          </p:nvSpPr>
          <p:spPr>
            <a:xfrm>
              <a:off x="-1" y="-1"/>
              <a:ext cx="2340866" cy="822962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10" name="Points / credits…"/>
            <p:cNvSpPr txBox="1"/>
            <p:nvPr/>
          </p:nvSpPr>
          <p:spPr>
            <a:xfrm>
              <a:off x="6349" y="6349"/>
              <a:ext cx="2328166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Points / credits</a:t>
              </a:r>
              <a:endParaRPr sz="1200"/>
            </a:p>
            <a:p>
              <a:r>
                <a:t>earn and redeem with governance</a:t>
              </a:r>
            </a:p>
          </p:txBody>
        </p:sp>
      </p:grpSp>
      <p:grpSp>
        <p:nvGrpSpPr>
          <p:cNvPr id="414" name="Text 11"/>
          <p:cNvGrpSpPr/>
          <p:nvPr/>
        </p:nvGrpSpPr>
        <p:grpSpPr>
          <a:xfrm>
            <a:off x="713231" y="3401567"/>
            <a:ext cx="2340866" cy="822961"/>
            <a:chOff x="0" y="0"/>
            <a:chExt cx="2340864" cy="822960"/>
          </a:xfrm>
        </p:grpSpPr>
        <p:sp>
          <p:nvSpPr>
            <p:cNvPr id="412" name="Rectángulo"/>
            <p:cNvSpPr/>
            <p:nvPr/>
          </p:nvSpPr>
          <p:spPr>
            <a:xfrm>
              <a:off x="-1" y="-1"/>
              <a:ext cx="2340866" cy="822962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13" name="Wallet…"/>
            <p:cNvSpPr txBox="1"/>
            <p:nvPr/>
          </p:nvSpPr>
          <p:spPr>
            <a:xfrm>
              <a:off x="6349" y="6349"/>
              <a:ext cx="2328166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Wallet</a:t>
              </a:r>
              <a:endParaRPr sz="1200"/>
            </a:p>
            <a:p>
              <a:r>
                <a:t>portable and visible benefits</a:t>
              </a:r>
            </a:p>
          </p:txBody>
        </p:sp>
      </p:grpSp>
      <p:grpSp>
        <p:nvGrpSpPr>
          <p:cNvPr id="417" name="Text 12"/>
          <p:cNvGrpSpPr/>
          <p:nvPr/>
        </p:nvGrpSpPr>
        <p:grpSpPr>
          <a:xfrm>
            <a:off x="3502152" y="3401567"/>
            <a:ext cx="2340865" cy="822961"/>
            <a:chOff x="0" y="0"/>
            <a:chExt cx="2340864" cy="822960"/>
          </a:xfrm>
        </p:grpSpPr>
        <p:sp>
          <p:nvSpPr>
            <p:cNvPr id="415" name="Rectángulo"/>
            <p:cNvSpPr/>
            <p:nvPr/>
          </p:nvSpPr>
          <p:spPr>
            <a:xfrm>
              <a:off x="-1" y="-1"/>
              <a:ext cx="2340866" cy="822962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16" name="QR / OCR…"/>
            <p:cNvSpPr txBox="1"/>
            <p:nvPr/>
          </p:nvSpPr>
          <p:spPr>
            <a:xfrm>
              <a:off x="6349" y="6349"/>
              <a:ext cx="2328166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QR / OCR</a:t>
              </a:r>
              <a:endParaRPr sz="1200"/>
            </a:p>
            <a:p>
              <a:r>
                <a:t>event identification and validation</a:t>
              </a:r>
            </a:p>
          </p:txBody>
        </p:sp>
      </p:grpSp>
      <p:grpSp>
        <p:nvGrpSpPr>
          <p:cNvPr id="420" name="Text 13"/>
          <p:cNvGrpSpPr/>
          <p:nvPr/>
        </p:nvGrpSpPr>
        <p:grpSpPr>
          <a:xfrm>
            <a:off x="6291071" y="3401567"/>
            <a:ext cx="2340865" cy="822961"/>
            <a:chOff x="0" y="0"/>
            <a:chExt cx="2340864" cy="822960"/>
          </a:xfrm>
        </p:grpSpPr>
        <p:sp>
          <p:nvSpPr>
            <p:cNvPr id="418" name="Rectángulo"/>
            <p:cNvSpPr/>
            <p:nvPr/>
          </p:nvSpPr>
          <p:spPr>
            <a:xfrm>
              <a:off x="-1" y="-1"/>
              <a:ext cx="2340866" cy="822962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19" name="Gamification…"/>
            <p:cNvSpPr txBox="1"/>
            <p:nvPr/>
          </p:nvSpPr>
          <p:spPr>
            <a:xfrm>
              <a:off x="6349" y="6349"/>
              <a:ext cx="2328166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Gamification</a:t>
              </a:r>
              <a:endParaRPr sz="1200"/>
            </a:p>
            <a:p>
              <a:r>
                <a:t>challenges, stamps, tiers and badges</a:t>
              </a:r>
            </a:p>
          </p:txBody>
        </p:sp>
      </p:grpSp>
      <p:grpSp>
        <p:nvGrpSpPr>
          <p:cNvPr id="423" name="Text 14"/>
          <p:cNvGrpSpPr/>
          <p:nvPr/>
        </p:nvGrpSpPr>
        <p:grpSpPr>
          <a:xfrm>
            <a:off x="9079992" y="3401567"/>
            <a:ext cx="2340865" cy="822961"/>
            <a:chOff x="0" y="0"/>
            <a:chExt cx="2340864" cy="822960"/>
          </a:xfrm>
        </p:grpSpPr>
        <p:sp>
          <p:nvSpPr>
            <p:cNvPr id="421" name="Rectángulo"/>
            <p:cNvSpPr/>
            <p:nvPr/>
          </p:nvSpPr>
          <p:spPr>
            <a:xfrm>
              <a:off x="-1" y="-1"/>
              <a:ext cx="2340866" cy="822962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22" name="Referral / partners…"/>
            <p:cNvSpPr txBox="1"/>
            <p:nvPr/>
          </p:nvSpPr>
          <p:spPr>
            <a:xfrm>
              <a:off x="6349" y="6349"/>
              <a:ext cx="2328166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Referral / partners</a:t>
              </a:r>
              <a:endParaRPr sz="1200"/>
            </a:p>
            <a:p>
              <a:r>
                <a:t>prescription and partner ecosystem</a:t>
              </a:r>
            </a:p>
          </p:txBody>
        </p:sp>
      </p:grpSp>
      <p:sp>
        <p:nvSpPr>
          <p:cNvPr id="424" name="Text 15"/>
          <p:cNvSpPr txBox="1"/>
          <p:nvPr/>
        </p:nvSpPr>
        <p:spPr>
          <a:xfrm>
            <a:off x="914399" y="5349240"/>
            <a:ext cx="103784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5" tIns="635" rIns="635" bIns="635">
            <a:normAutofit/>
          </a:bodyPr>
          <a:lstStyle>
            <a:lvl1pPr algn="ctr" defTabSz="758951">
              <a:defRPr sz="1494"/>
            </a:lvl1pPr>
          </a:lstStyle>
          <a:p>
            <a:r>
              <a:t>These assets are not isolated modules: the agency packages them as consulting, experience design, campaign operations, measurement and continuous optimization.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7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8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2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430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GOVERNANCE</a:t>
            </a:r>
          </a:p>
        </p:txBody>
      </p:sp>
      <p:sp>
        <p:nvSpPr>
          <p:cNvPr id="431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Ecosystem operating model: agency, client and Convercus</a:t>
            </a:r>
          </a:p>
        </p:txBody>
      </p:sp>
      <p:sp>
        <p:nvSpPr>
          <p:cNvPr id="432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433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15</a:t>
            </a:r>
          </a:p>
        </p:txBody>
      </p:sp>
      <p:grpSp>
        <p:nvGrpSpPr>
          <p:cNvPr id="436" name="Text 7"/>
          <p:cNvGrpSpPr/>
          <p:nvPr/>
        </p:nvGrpSpPr>
        <p:grpSpPr>
          <a:xfrm>
            <a:off x="868679" y="2011679"/>
            <a:ext cx="3246122" cy="2331721"/>
            <a:chOff x="0" y="0"/>
            <a:chExt cx="3246120" cy="2331720"/>
          </a:xfrm>
        </p:grpSpPr>
        <p:sp>
          <p:nvSpPr>
            <p:cNvPr id="434" name="Rectángulo"/>
            <p:cNvSpPr/>
            <p:nvPr/>
          </p:nvSpPr>
          <p:spPr>
            <a:xfrm>
              <a:off x="-1" y="-1"/>
              <a:ext cx="3246122" cy="2331722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35" name="AGENCY…"/>
            <p:cNvSpPr txBox="1"/>
            <p:nvPr/>
          </p:nvSpPr>
          <p:spPr>
            <a:xfrm>
              <a:off x="6349" y="6349"/>
              <a:ext cx="3233422" cy="23190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AGENCY</a:t>
              </a:r>
              <a:endParaRPr sz="1400"/>
            </a:p>
            <a:p>
              <a:r>
                <a:t>Experience strategy</a:t>
              </a:r>
            </a:p>
            <a:p>
              <a:r>
                <a:t>Creativity and content</a:t>
              </a:r>
            </a:p>
            <a:p>
              <a:r>
                <a:t>Campaign calendar</a:t>
              </a:r>
            </a:p>
            <a:p>
              <a:r>
                <a:t>Operations and reporting</a:t>
              </a:r>
            </a:p>
          </p:txBody>
        </p:sp>
      </p:grpSp>
      <p:grpSp>
        <p:nvGrpSpPr>
          <p:cNvPr id="439" name="Text 8"/>
          <p:cNvGrpSpPr/>
          <p:nvPr/>
        </p:nvGrpSpPr>
        <p:grpSpPr>
          <a:xfrm>
            <a:off x="4462271" y="2011679"/>
            <a:ext cx="3246121" cy="2331721"/>
            <a:chOff x="0" y="0"/>
            <a:chExt cx="3246120" cy="2331720"/>
          </a:xfrm>
        </p:grpSpPr>
        <p:sp>
          <p:nvSpPr>
            <p:cNvPr id="437" name="Rectángulo"/>
            <p:cNvSpPr/>
            <p:nvPr/>
          </p:nvSpPr>
          <p:spPr>
            <a:xfrm>
              <a:off x="-1" y="-1"/>
              <a:ext cx="3246122" cy="2331722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38" name="END CLIENT…"/>
            <p:cNvSpPr txBox="1"/>
            <p:nvPr/>
          </p:nvSpPr>
          <p:spPr>
            <a:xfrm>
              <a:off x="6349" y="6349"/>
              <a:ext cx="3233422" cy="23190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END CLIENT</a:t>
              </a:r>
              <a:endParaRPr sz="1400"/>
            </a:p>
            <a:p>
              <a:r>
                <a:t>Business objectives</a:t>
              </a:r>
            </a:p>
            <a:p>
              <a:r>
                <a:t>Data and channels</a:t>
              </a:r>
            </a:p>
            <a:p>
              <a:r>
                <a:t>Rule approval</a:t>
              </a:r>
            </a:p>
            <a:p>
              <a:r>
                <a:t>Commercial priorities</a:t>
              </a:r>
            </a:p>
          </p:txBody>
        </p:sp>
      </p:grpSp>
      <p:grpSp>
        <p:nvGrpSpPr>
          <p:cNvPr id="442" name="Text 9"/>
          <p:cNvGrpSpPr/>
          <p:nvPr/>
        </p:nvGrpSpPr>
        <p:grpSpPr>
          <a:xfrm>
            <a:off x="8065007" y="2011679"/>
            <a:ext cx="3246121" cy="2331721"/>
            <a:chOff x="0" y="0"/>
            <a:chExt cx="3246120" cy="2331720"/>
          </a:xfrm>
        </p:grpSpPr>
        <p:sp>
          <p:nvSpPr>
            <p:cNvPr id="440" name="Rectángulo"/>
            <p:cNvSpPr/>
            <p:nvPr/>
          </p:nvSpPr>
          <p:spPr>
            <a:xfrm>
              <a:off x="-1" y="-1"/>
              <a:ext cx="3246122" cy="2331722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41" name="CONVERCUS…"/>
            <p:cNvSpPr txBox="1"/>
            <p:nvPr/>
          </p:nvSpPr>
          <p:spPr>
            <a:xfrm>
              <a:off x="6349" y="6349"/>
              <a:ext cx="3233422" cy="23190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CONVERCUS</a:t>
              </a:r>
              <a:endParaRPr sz="1400"/>
            </a:p>
            <a:p>
              <a:r>
                <a:t>Platform</a:t>
              </a:r>
            </a:p>
            <a:p>
              <a:r>
                <a:t>Integrations</a:t>
              </a:r>
            </a:p>
            <a:p>
              <a:r>
                <a:t>Loyalty capabilities</a:t>
              </a:r>
            </a:p>
            <a:p>
              <a:r>
                <a:t>Enablement and support</a:t>
              </a:r>
            </a:p>
          </p:txBody>
        </p:sp>
      </p:grpSp>
      <p:sp>
        <p:nvSpPr>
          <p:cNvPr id="443" name="Shape 10"/>
          <p:cNvSpPr/>
          <p:nvPr/>
        </p:nvSpPr>
        <p:spPr>
          <a:xfrm>
            <a:off x="4142232" y="3172967"/>
            <a:ext cx="274321" cy="1"/>
          </a:xfrm>
          <a:prstGeom prst="line">
            <a:avLst/>
          </a:prstGeom>
          <a:ln w="1651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4" name="Shape 11"/>
          <p:cNvSpPr/>
          <p:nvPr/>
        </p:nvSpPr>
        <p:spPr>
          <a:xfrm>
            <a:off x="7735823" y="3172967"/>
            <a:ext cx="274321" cy="1"/>
          </a:xfrm>
          <a:prstGeom prst="line">
            <a:avLst/>
          </a:prstGeom>
          <a:ln w="1651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447" name="Text 12"/>
          <p:cNvGrpSpPr/>
          <p:nvPr/>
        </p:nvGrpSpPr>
        <p:grpSpPr>
          <a:xfrm>
            <a:off x="1078992" y="5230367"/>
            <a:ext cx="9966960" cy="621793"/>
            <a:chOff x="0" y="0"/>
            <a:chExt cx="9966959" cy="621791"/>
          </a:xfrm>
        </p:grpSpPr>
        <p:sp>
          <p:nvSpPr>
            <p:cNvPr id="445" name="Rectángulo"/>
            <p:cNvSpPr/>
            <p:nvPr/>
          </p:nvSpPr>
          <p:spPr>
            <a:xfrm>
              <a:off x="0" y="0"/>
              <a:ext cx="9966960" cy="621792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7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6" name="Commercial principle: the agency is not a mere prescriber. It is a partner in adoption, sales, design and experience operations."/>
            <p:cNvSpPr txBox="1"/>
            <p:nvPr/>
          </p:nvSpPr>
          <p:spPr>
            <a:xfrm>
              <a:off x="6350" y="6350"/>
              <a:ext cx="9954260" cy="6090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Commercial principle: the agency is not a mere prescriber. It is a partner in adoption, sales, design and experience operations.</a:t>
              </a:r>
            </a:p>
          </p:txBody>
        </p:sp>
      </p:grp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0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1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5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453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EXECUTION</a:t>
            </a:r>
          </a:p>
        </p:txBody>
      </p:sp>
      <p:sp>
        <p:nvSpPr>
          <p:cNvPr id="454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A holistic campaign is governed by experience, not by channel</a:t>
            </a:r>
          </a:p>
        </p:txBody>
      </p:sp>
      <p:sp>
        <p:nvSpPr>
          <p:cNvPr id="455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456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16</a:t>
            </a:r>
          </a:p>
        </p:txBody>
      </p:sp>
      <p:grpSp>
        <p:nvGrpSpPr>
          <p:cNvPr id="459" name="Text 7"/>
          <p:cNvGrpSpPr/>
          <p:nvPr/>
        </p:nvGrpSpPr>
        <p:grpSpPr>
          <a:xfrm>
            <a:off x="713231" y="2084832"/>
            <a:ext cx="2999234" cy="658369"/>
            <a:chOff x="0" y="0"/>
            <a:chExt cx="2999232" cy="658368"/>
          </a:xfrm>
        </p:grpSpPr>
        <p:sp>
          <p:nvSpPr>
            <p:cNvPr id="457" name="Rectángulo"/>
            <p:cNvSpPr/>
            <p:nvPr/>
          </p:nvSpPr>
          <p:spPr>
            <a:xfrm>
              <a:off x="-1" y="-1"/>
              <a:ext cx="2999234" cy="658370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58" name="Paid digital…"/>
            <p:cNvSpPr txBox="1"/>
            <p:nvPr/>
          </p:nvSpPr>
          <p:spPr>
            <a:xfrm>
              <a:off x="6349" y="6349"/>
              <a:ext cx="2986534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Paid digital</a:t>
              </a:r>
              <a:endParaRPr sz="1200"/>
            </a:p>
            <a:p>
              <a:r>
                <a:t>audiences and retargeting</a:t>
              </a:r>
            </a:p>
          </p:txBody>
        </p:sp>
      </p:grpSp>
      <p:grpSp>
        <p:nvGrpSpPr>
          <p:cNvPr id="462" name="Text 8"/>
          <p:cNvGrpSpPr/>
          <p:nvPr/>
        </p:nvGrpSpPr>
        <p:grpSpPr>
          <a:xfrm>
            <a:off x="4480559" y="2084832"/>
            <a:ext cx="2999233" cy="658369"/>
            <a:chOff x="0" y="0"/>
            <a:chExt cx="2999232" cy="658368"/>
          </a:xfrm>
        </p:grpSpPr>
        <p:sp>
          <p:nvSpPr>
            <p:cNvPr id="460" name="Rectángulo"/>
            <p:cNvSpPr/>
            <p:nvPr/>
          </p:nvSpPr>
          <p:spPr>
            <a:xfrm>
              <a:off x="-1" y="-1"/>
              <a:ext cx="2999234" cy="658370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61" name="OOH / traditional…"/>
            <p:cNvSpPr txBox="1"/>
            <p:nvPr/>
          </p:nvSpPr>
          <p:spPr>
            <a:xfrm>
              <a:off x="6349" y="6349"/>
              <a:ext cx="2986534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OOH / traditional</a:t>
              </a:r>
              <a:endParaRPr sz="1200"/>
            </a:p>
            <a:p>
              <a:r>
                <a:t>presence and memory</a:t>
              </a:r>
            </a:p>
          </p:txBody>
        </p:sp>
      </p:grpSp>
      <p:grpSp>
        <p:nvGrpSpPr>
          <p:cNvPr id="465" name="Text 9"/>
          <p:cNvGrpSpPr/>
          <p:nvPr/>
        </p:nvGrpSpPr>
        <p:grpSpPr>
          <a:xfrm>
            <a:off x="8247888" y="2084832"/>
            <a:ext cx="2999233" cy="658369"/>
            <a:chOff x="0" y="0"/>
            <a:chExt cx="2999232" cy="658368"/>
          </a:xfrm>
        </p:grpSpPr>
        <p:sp>
          <p:nvSpPr>
            <p:cNvPr id="463" name="Rectángulo"/>
            <p:cNvSpPr/>
            <p:nvPr/>
          </p:nvSpPr>
          <p:spPr>
            <a:xfrm>
              <a:off x="-1" y="-1"/>
              <a:ext cx="2999234" cy="658370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64" name="Communication…"/>
            <p:cNvSpPr txBox="1"/>
            <p:nvPr/>
          </p:nvSpPr>
          <p:spPr>
            <a:xfrm>
              <a:off x="6349" y="6349"/>
              <a:ext cx="2986534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Communication</a:t>
              </a:r>
              <a:endParaRPr sz="1200"/>
            </a:p>
            <a:p>
              <a:r>
                <a:t>email, push, content</a:t>
              </a:r>
            </a:p>
          </p:txBody>
        </p:sp>
      </p:grpSp>
      <p:grpSp>
        <p:nvGrpSpPr>
          <p:cNvPr id="468" name="Text 10"/>
          <p:cNvGrpSpPr/>
          <p:nvPr/>
        </p:nvGrpSpPr>
        <p:grpSpPr>
          <a:xfrm>
            <a:off x="713231" y="3145535"/>
            <a:ext cx="2999234" cy="658369"/>
            <a:chOff x="0" y="0"/>
            <a:chExt cx="2999232" cy="658368"/>
          </a:xfrm>
        </p:grpSpPr>
        <p:sp>
          <p:nvSpPr>
            <p:cNvPr id="466" name="Rectángulo"/>
            <p:cNvSpPr/>
            <p:nvPr/>
          </p:nvSpPr>
          <p:spPr>
            <a:xfrm>
              <a:off x="-1" y="-1"/>
              <a:ext cx="2999234" cy="658370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67" name="Point of sale…"/>
            <p:cNvSpPr txBox="1"/>
            <p:nvPr/>
          </p:nvSpPr>
          <p:spPr>
            <a:xfrm>
              <a:off x="6349" y="6349"/>
              <a:ext cx="2986534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Point of sale</a:t>
              </a:r>
              <a:endParaRPr sz="1200"/>
            </a:p>
            <a:p>
              <a:r>
                <a:t>staff, QR, POS</a:t>
              </a:r>
            </a:p>
          </p:txBody>
        </p:sp>
      </p:grpSp>
      <p:grpSp>
        <p:nvGrpSpPr>
          <p:cNvPr id="471" name="Text 11"/>
          <p:cNvGrpSpPr/>
          <p:nvPr/>
        </p:nvGrpSpPr>
        <p:grpSpPr>
          <a:xfrm>
            <a:off x="4480559" y="3145535"/>
            <a:ext cx="2999233" cy="658369"/>
            <a:chOff x="0" y="0"/>
            <a:chExt cx="2999232" cy="658368"/>
          </a:xfrm>
        </p:grpSpPr>
        <p:sp>
          <p:nvSpPr>
            <p:cNvPr id="469" name="Rectángulo"/>
            <p:cNvSpPr/>
            <p:nvPr/>
          </p:nvSpPr>
          <p:spPr>
            <a:xfrm>
              <a:off x="-1" y="-1"/>
              <a:ext cx="2999234" cy="658370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70" name="eCommerce…"/>
            <p:cNvSpPr txBox="1"/>
            <p:nvPr/>
          </p:nvSpPr>
          <p:spPr>
            <a:xfrm>
              <a:off x="6349" y="6349"/>
              <a:ext cx="2986534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 defTabSz="841247">
                <a:defRPr sz="1656"/>
              </a:pPr>
              <a:r>
                <a:t>eCommerce</a:t>
              </a:r>
              <a:endParaRPr sz="1104"/>
            </a:p>
            <a:p>
              <a:pPr defTabSz="841247">
                <a:defRPr sz="1656"/>
              </a:pPr>
              <a:r>
                <a:t>landing, checkout, click &amp; collect</a:t>
              </a:r>
            </a:p>
          </p:txBody>
        </p:sp>
      </p:grpSp>
      <p:grpSp>
        <p:nvGrpSpPr>
          <p:cNvPr id="474" name="Text 12"/>
          <p:cNvGrpSpPr/>
          <p:nvPr/>
        </p:nvGrpSpPr>
        <p:grpSpPr>
          <a:xfrm>
            <a:off x="8247888" y="3145535"/>
            <a:ext cx="2999233" cy="658369"/>
            <a:chOff x="0" y="0"/>
            <a:chExt cx="2999232" cy="658368"/>
          </a:xfrm>
        </p:grpSpPr>
        <p:sp>
          <p:nvSpPr>
            <p:cNvPr id="472" name="Rectángulo"/>
            <p:cNvSpPr/>
            <p:nvPr/>
          </p:nvSpPr>
          <p:spPr>
            <a:xfrm>
              <a:off x="-1" y="-1"/>
              <a:ext cx="2999234" cy="658370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73" name="Loyalty…"/>
            <p:cNvSpPr txBox="1"/>
            <p:nvPr/>
          </p:nvSpPr>
          <p:spPr>
            <a:xfrm>
              <a:off x="6349" y="6349"/>
              <a:ext cx="2986534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Loyalty</a:t>
              </a:r>
              <a:endParaRPr sz="1200"/>
            </a:p>
            <a:p>
              <a:r>
                <a:t>points, coupon, wallet, tiers</a:t>
              </a:r>
            </a:p>
          </p:txBody>
        </p:sp>
      </p:grpSp>
      <p:grpSp>
        <p:nvGrpSpPr>
          <p:cNvPr id="477" name="Text 13"/>
          <p:cNvGrpSpPr/>
          <p:nvPr/>
        </p:nvGrpSpPr>
        <p:grpSpPr>
          <a:xfrm>
            <a:off x="2423160" y="4809744"/>
            <a:ext cx="7360919" cy="777241"/>
            <a:chOff x="0" y="0"/>
            <a:chExt cx="7360918" cy="777240"/>
          </a:xfrm>
        </p:grpSpPr>
        <p:sp>
          <p:nvSpPr>
            <p:cNvPr id="475" name="Rectángulo"/>
            <p:cNvSpPr/>
            <p:nvPr/>
          </p:nvSpPr>
          <p:spPr>
            <a:xfrm>
              <a:off x="0" y="-1"/>
              <a:ext cx="7360919" cy="777242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76" name="EXPERIENCE…"/>
            <p:cNvSpPr txBox="1"/>
            <p:nvPr/>
          </p:nvSpPr>
          <p:spPr>
            <a:xfrm>
              <a:off x="6350" y="6349"/>
              <a:ext cx="7348219" cy="7645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EXPERIENCE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common sequence · rules · incentives · measurement</a:t>
              </a:r>
            </a:p>
          </p:txBody>
        </p:sp>
      </p:grp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90685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0" name="Shape 1"/>
          <p:cNvSpPr/>
          <p:nvPr/>
        </p:nvSpPr>
        <p:spPr>
          <a:xfrm>
            <a:off x="-1" y="-1"/>
            <a:ext cx="12191697" cy="201170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1" name="Shape 2"/>
          <p:cNvSpPr/>
          <p:nvPr/>
        </p:nvSpPr>
        <p:spPr>
          <a:xfrm>
            <a:off x="-1" y="6656831"/>
            <a:ext cx="12191697" cy="201169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8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6" y="502919"/>
            <a:ext cx="980683" cy="420625"/>
          </a:xfrm>
          <a:prstGeom prst="rect">
            <a:avLst/>
          </a:prstGeom>
          <a:ln w="12700">
            <a:miter lim="400000"/>
          </a:ln>
        </p:spPr>
      </p:pic>
      <p:sp>
        <p:nvSpPr>
          <p:cNvPr id="483" name="Text 3"/>
          <p:cNvSpPr txBox="1"/>
          <p:nvPr/>
        </p:nvSpPr>
        <p:spPr>
          <a:xfrm>
            <a:off x="932688" y="1946910"/>
            <a:ext cx="3657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ACTIVATION</a:t>
            </a:r>
          </a:p>
        </p:txBody>
      </p:sp>
      <p:sp>
        <p:nvSpPr>
          <p:cNvPr id="484" name="Text 4"/>
          <p:cNvSpPr txBox="1"/>
          <p:nvPr/>
        </p:nvSpPr>
        <p:spPr>
          <a:xfrm>
            <a:off x="932688" y="2331720"/>
            <a:ext cx="8961120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Act 4</a:t>
            </a:r>
          </a:p>
        </p:txBody>
      </p:sp>
      <p:sp>
        <p:nvSpPr>
          <p:cNvPr id="485" name="Text 5"/>
          <p:cNvSpPr txBox="1"/>
          <p:nvPr/>
        </p:nvSpPr>
        <p:spPr>
          <a:xfrm>
            <a:off x="960119" y="3310128"/>
            <a:ext cx="7955282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Use cases, pilot and next commercial steps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8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9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9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491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SECTOR USE CASE</a:t>
            </a:r>
          </a:p>
        </p:txBody>
      </p:sp>
      <p:sp>
        <p:nvSpPr>
          <p:cNvPr id="492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Retail/fashion case: from discounting to the criterion-building experience</a:t>
            </a:r>
          </a:p>
        </p:txBody>
      </p:sp>
      <p:sp>
        <p:nvSpPr>
          <p:cNvPr id="493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494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18</a:t>
            </a:r>
          </a:p>
        </p:txBody>
      </p:sp>
      <p:grpSp>
        <p:nvGrpSpPr>
          <p:cNvPr id="497" name="Text 7"/>
          <p:cNvGrpSpPr/>
          <p:nvPr/>
        </p:nvGrpSpPr>
        <p:grpSpPr>
          <a:xfrm>
            <a:off x="786383" y="2029967"/>
            <a:ext cx="3246122" cy="1005840"/>
            <a:chOff x="0" y="0"/>
            <a:chExt cx="3246120" cy="1005838"/>
          </a:xfrm>
        </p:grpSpPr>
        <p:sp>
          <p:nvSpPr>
            <p:cNvPr id="495" name="Rectángulo"/>
            <p:cNvSpPr/>
            <p:nvPr/>
          </p:nvSpPr>
          <p:spPr>
            <a:xfrm>
              <a:off x="-1" y="0"/>
              <a:ext cx="3246122" cy="1005839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96" name="Economic problem…"/>
            <p:cNvSpPr txBox="1"/>
            <p:nvPr/>
          </p:nvSpPr>
          <p:spPr>
            <a:xfrm>
              <a:off x="6349" y="6350"/>
              <a:ext cx="3233422" cy="993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Economic problem</a:t>
              </a:r>
              <a:endParaRPr sz="1300"/>
            </a:p>
            <a:p>
              <a:r>
                <a:t>Markdown, returns and dependence on flat promotions.</a:t>
              </a:r>
            </a:p>
          </p:txBody>
        </p:sp>
      </p:grpSp>
      <p:grpSp>
        <p:nvGrpSpPr>
          <p:cNvPr id="500" name="Text 8"/>
          <p:cNvGrpSpPr/>
          <p:nvPr/>
        </p:nvGrpSpPr>
        <p:grpSpPr>
          <a:xfrm>
            <a:off x="4443984" y="2029967"/>
            <a:ext cx="3246121" cy="1005840"/>
            <a:chOff x="0" y="0"/>
            <a:chExt cx="3246120" cy="1005838"/>
          </a:xfrm>
        </p:grpSpPr>
        <p:sp>
          <p:nvSpPr>
            <p:cNvPr id="498" name="Rectángulo"/>
            <p:cNvSpPr/>
            <p:nvPr/>
          </p:nvSpPr>
          <p:spPr>
            <a:xfrm>
              <a:off x="-1" y="0"/>
              <a:ext cx="3246122" cy="1005839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99" name="Experience…"/>
            <p:cNvSpPr txBox="1"/>
            <p:nvPr/>
          </p:nvSpPr>
          <p:spPr>
            <a:xfrm>
              <a:off x="6349" y="6350"/>
              <a:ext cx="3233422" cy="993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 defTabSz="813816">
                <a:defRPr sz="1602"/>
              </a:pPr>
              <a:r>
                <a:t>Experience</a:t>
              </a:r>
              <a:endParaRPr sz="1157"/>
            </a:p>
            <a:p>
              <a:pPr defTabSz="813816">
                <a:defRPr sz="1602"/>
              </a:pPr>
              <a:r>
                <a:t>Explore category → progress → receive incentive only when there is real friction.</a:t>
              </a:r>
            </a:p>
          </p:txBody>
        </p:sp>
      </p:grpSp>
      <p:grpSp>
        <p:nvGrpSpPr>
          <p:cNvPr id="503" name="Text 9"/>
          <p:cNvGrpSpPr/>
          <p:nvPr/>
        </p:nvGrpSpPr>
        <p:grpSpPr>
          <a:xfrm>
            <a:off x="8101583" y="2029967"/>
            <a:ext cx="3246121" cy="1005840"/>
            <a:chOff x="0" y="0"/>
            <a:chExt cx="3246120" cy="1005838"/>
          </a:xfrm>
        </p:grpSpPr>
        <p:sp>
          <p:nvSpPr>
            <p:cNvPr id="501" name="Rectángulo"/>
            <p:cNvSpPr/>
            <p:nvPr/>
          </p:nvSpPr>
          <p:spPr>
            <a:xfrm>
              <a:off x="-1" y="0"/>
              <a:ext cx="3246122" cy="1005839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02" name="KPIs…"/>
            <p:cNvSpPr txBox="1"/>
            <p:nvPr/>
          </p:nvSpPr>
          <p:spPr>
            <a:xfrm>
              <a:off x="6349" y="6350"/>
              <a:ext cx="3233422" cy="993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 defTabSz="868680">
                <a:defRPr sz="1710"/>
              </a:pPr>
              <a:r>
                <a:t>KPIs</a:t>
              </a:r>
              <a:endParaRPr sz="1235"/>
            </a:p>
            <a:p>
              <a:pPr defTabSz="868680">
                <a:defRPr sz="1710"/>
              </a:pPr>
              <a:r>
                <a:t>Markdown Rate · Discount Dilution · GM% · Repeat Rate · Return Rate.</a:t>
              </a:r>
            </a:p>
          </p:txBody>
        </p:sp>
      </p:grpSp>
      <p:sp>
        <p:nvSpPr>
          <p:cNvPr id="504" name="Shape 10"/>
          <p:cNvSpPr/>
          <p:nvPr/>
        </p:nvSpPr>
        <p:spPr>
          <a:xfrm>
            <a:off x="4050791" y="2532888"/>
            <a:ext cx="301753" cy="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5" name="Shape 11"/>
          <p:cNvSpPr/>
          <p:nvPr/>
        </p:nvSpPr>
        <p:spPr>
          <a:xfrm>
            <a:off x="7717535" y="2532888"/>
            <a:ext cx="292609" cy="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508" name="Text 12"/>
          <p:cNvGrpSpPr/>
          <p:nvPr/>
        </p:nvGrpSpPr>
        <p:grpSpPr>
          <a:xfrm>
            <a:off x="960119" y="4315967"/>
            <a:ext cx="10241282" cy="786385"/>
            <a:chOff x="0" y="0"/>
            <a:chExt cx="10241280" cy="786384"/>
          </a:xfrm>
        </p:grpSpPr>
        <p:sp>
          <p:nvSpPr>
            <p:cNvPr id="506" name="Rectángulo"/>
            <p:cNvSpPr/>
            <p:nvPr/>
          </p:nvSpPr>
          <p:spPr>
            <a:xfrm>
              <a:off x="-1" y="-1"/>
              <a:ext cx="10241282" cy="786386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07" name="Thesis for the agency: replace flat discounting with an experience of guidance, recognition and selective advantage. The value is not “more promotion” but better decision quality."/>
            <p:cNvSpPr txBox="1"/>
            <p:nvPr/>
          </p:nvSpPr>
          <p:spPr>
            <a:xfrm>
              <a:off x="6349" y="6349"/>
              <a:ext cx="10228582" cy="773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Thesis for the agency: replace flat discounting with an experience of guidance, recognition and selective advantage. The value is not “more promotion” but better decision quality.</a:t>
              </a:r>
            </a:p>
          </p:txBody>
        </p:sp>
      </p:grp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1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2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1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514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SECTOR USE CASE</a:t>
            </a:r>
          </a:p>
        </p:txBody>
      </p:sp>
      <p:sp>
        <p:nvSpPr>
          <p:cNvPr id="515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rPr dirty="0"/>
              <a:t>Hospitality/leisure case: before, during and after the stay</a:t>
            </a:r>
          </a:p>
        </p:txBody>
      </p:sp>
      <p:sp>
        <p:nvSpPr>
          <p:cNvPr id="516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517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19</a:t>
            </a:r>
          </a:p>
        </p:txBody>
      </p:sp>
      <p:grpSp>
        <p:nvGrpSpPr>
          <p:cNvPr id="520" name="Text 7"/>
          <p:cNvGrpSpPr/>
          <p:nvPr/>
        </p:nvGrpSpPr>
        <p:grpSpPr>
          <a:xfrm>
            <a:off x="914399" y="2377439"/>
            <a:ext cx="2816354" cy="1170433"/>
            <a:chOff x="0" y="0"/>
            <a:chExt cx="2816352" cy="1170432"/>
          </a:xfrm>
        </p:grpSpPr>
        <p:sp>
          <p:nvSpPr>
            <p:cNvPr id="518" name="Rectángulo"/>
            <p:cNvSpPr/>
            <p:nvPr/>
          </p:nvSpPr>
          <p:spPr>
            <a:xfrm>
              <a:off x="-1" y="-1"/>
              <a:ext cx="2816354" cy="1170434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19" name="Before…"/>
            <p:cNvSpPr txBox="1"/>
            <p:nvPr/>
          </p:nvSpPr>
          <p:spPr>
            <a:xfrm>
              <a:off x="6349" y="6349"/>
              <a:ext cx="2803654" cy="11577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Before</a:t>
              </a:r>
              <a:endParaRPr sz="1600"/>
            </a:p>
            <a:p>
              <a:r>
                <a:t>direct booking</a:t>
              </a:r>
            </a:p>
            <a:p>
              <a:r>
                <a:t>exclusive benefit</a:t>
              </a:r>
            </a:p>
          </p:txBody>
        </p:sp>
      </p:grpSp>
      <p:sp>
        <p:nvSpPr>
          <p:cNvPr id="521" name="Shape 8"/>
          <p:cNvSpPr/>
          <p:nvPr/>
        </p:nvSpPr>
        <p:spPr>
          <a:xfrm>
            <a:off x="3794759" y="2962655"/>
            <a:ext cx="621793" cy="1"/>
          </a:xfrm>
          <a:prstGeom prst="line">
            <a:avLst/>
          </a:prstGeom>
          <a:ln w="1905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524" name="Text 9"/>
          <p:cNvGrpSpPr/>
          <p:nvPr/>
        </p:nvGrpSpPr>
        <p:grpSpPr>
          <a:xfrm>
            <a:off x="4663440" y="2377439"/>
            <a:ext cx="2816353" cy="1170433"/>
            <a:chOff x="0" y="0"/>
            <a:chExt cx="2816352" cy="1170432"/>
          </a:xfrm>
        </p:grpSpPr>
        <p:sp>
          <p:nvSpPr>
            <p:cNvPr id="522" name="Rectángulo"/>
            <p:cNvSpPr/>
            <p:nvPr/>
          </p:nvSpPr>
          <p:spPr>
            <a:xfrm>
              <a:off x="-1" y="-1"/>
              <a:ext cx="2816354" cy="1170434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23" name="During…"/>
            <p:cNvSpPr txBox="1"/>
            <p:nvPr/>
          </p:nvSpPr>
          <p:spPr>
            <a:xfrm>
              <a:off x="6349" y="6349"/>
              <a:ext cx="2803654" cy="11577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During</a:t>
              </a:r>
              <a:endParaRPr sz="1600"/>
            </a:p>
            <a:p>
              <a:r>
                <a:t>services, F&amp;B</a:t>
              </a:r>
            </a:p>
            <a:p>
              <a:r>
                <a:t>activities and upgrades</a:t>
              </a:r>
            </a:p>
          </p:txBody>
        </p:sp>
      </p:grpSp>
      <p:sp>
        <p:nvSpPr>
          <p:cNvPr id="525" name="Shape 10"/>
          <p:cNvSpPr/>
          <p:nvPr/>
        </p:nvSpPr>
        <p:spPr>
          <a:xfrm>
            <a:off x="7543800" y="2962655"/>
            <a:ext cx="621792" cy="1"/>
          </a:xfrm>
          <a:prstGeom prst="line">
            <a:avLst/>
          </a:prstGeom>
          <a:ln w="1905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528" name="Text 11"/>
          <p:cNvGrpSpPr/>
          <p:nvPr/>
        </p:nvGrpSpPr>
        <p:grpSpPr>
          <a:xfrm>
            <a:off x="8412480" y="2377439"/>
            <a:ext cx="2816353" cy="1170433"/>
            <a:chOff x="0" y="0"/>
            <a:chExt cx="2816352" cy="1170432"/>
          </a:xfrm>
        </p:grpSpPr>
        <p:sp>
          <p:nvSpPr>
            <p:cNvPr id="526" name="Rectángulo"/>
            <p:cNvSpPr/>
            <p:nvPr/>
          </p:nvSpPr>
          <p:spPr>
            <a:xfrm>
              <a:off x="-1" y="-1"/>
              <a:ext cx="2816354" cy="1170434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27" name="After…"/>
            <p:cNvSpPr txBox="1"/>
            <p:nvPr/>
          </p:nvSpPr>
          <p:spPr>
            <a:xfrm>
              <a:off x="6349" y="6349"/>
              <a:ext cx="2803654" cy="11577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After</a:t>
              </a:r>
              <a:endParaRPr sz="1600"/>
            </a:p>
            <a:p>
              <a:r>
                <a:t>thank-you</a:t>
              </a:r>
            </a:p>
            <a:p>
              <a:r>
                <a:t>repeat purchase and recommendation</a:t>
              </a:r>
            </a:p>
          </p:txBody>
        </p:sp>
      </p:grpSp>
      <p:grpSp>
        <p:nvGrpSpPr>
          <p:cNvPr id="531" name="Text 12"/>
          <p:cNvGrpSpPr/>
          <p:nvPr/>
        </p:nvGrpSpPr>
        <p:grpSpPr>
          <a:xfrm>
            <a:off x="1051560" y="4709159"/>
            <a:ext cx="10058401" cy="658369"/>
            <a:chOff x="0" y="0"/>
            <a:chExt cx="10058400" cy="658368"/>
          </a:xfrm>
        </p:grpSpPr>
        <p:sp>
          <p:nvSpPr>
            <p:cNvPr id="529" name="Rectángulo"/>
            <p:cNvSpPr/>
            <p:nvPr/>
          </p:nvSpPr>
          <p:spPr>
            <a:xfrm>
              <a:off x="0" y="-1"/>
              <a:ext cx="10058400" cy="658370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30" name="Visible economics: more direct channel, higher guest spend, better use of complementary services, repeat visits and lower dependence on intermediaries."/>
            <p:cNvSpPr txBox="1"/>
            <p:nvPr/>
          </p:nvSpPr>
          <p:spPr>
            <a:xfrm>
              <a:off x="6350" y="6349"/>
              <a:ext cx="10045700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Visible economics: more direct channel, higher guest spend, better use of complementary services, repeat visits and lower dependence on intermediaries.</a:t>
              </a:r>
            </a:p>
          </p:txBody>
        </p:sp>
      </p:grp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4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5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3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SECTOR USE CASE</a:t>
            </a:r>
          </a:p>
        </p:txBody>
      </p:sp>
      <p:sp>
        <p:nvSpPr>
          <p:cNvPr id="538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Mobility/territory case: from ticket to partner ecosystem</a:t>
            </a:r>
          </a:p>
        </p:txBody>
      </p:sp>
      <p:sp>
        <p:nvSpPr>
          <p:cNvPr id="539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540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20</a:t>
            </a:r>
          </a:p>
        </p:txBody>
      </p:sp>
      <p:grpSp>
        <p:nvGrpSpPr>
          <p:cNvPr id="543" name="Text 7"/>
          <p:cNvGrpSpPr/>
          <p:nvPr/>
        </p:nvGrpSpPr>
        <p:grpSpPr>
          <a:xfrm>
            <a:off x="822960" y="2286000"/>
            <a:ext cx="2423161" cy="914400"/>
            <a:chOff x="0" y="0"/>
            <a:chExt cx="2423160" cy="914400"/>
          </a:xfrm>
        </p:grpSpPr>
        <p:sp>
          <p:nvSpPr>
            <p:cNvPr id="541" name="Rectángulo"/>
            <p:cNvSpPr/>
            <p:nvPr/>
          </p:nvSpPr>
          <p:spPr>
            <a:xfrm>
              <a:off x="-1" y="0"/>
              <a:ext cx="2423162" cy="914400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42" name="Initial event…"/>
            <p:cNvSpPr txBox="1"/>
            <p:nvPr/>
          </p:nvSpPr>
          <p:spPr>
            <a:xfrm>
              <a:off x="6349" y="6350"/>
              <a:ext cx="2410462" cy="90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Initial event</a:t>
              </a:r>
              <a:endParaRPr sz="1500"/>
            </a:p>
            <a:p>
              <a:r>
                <a:t>Trip, km or avoided CO₂</a:t>
              </a:r>
            </a:p>
          </p:txBody>
        </p:sp>
      </p:grpSp>
      <p:grpSp>
        <p:nvGrpSpPr>
          <p:cNvPr id="546" name="Text 8"/>
          <p:cNvGrpSpPr/>
          <p:nvPr/>
        </p:nvGrpSpPr>
        <p:grpSpPr>
          <a:xfrm>
            <a:off x="3611879" y="2286000"/>
            <a:ext cx="2880361" cy="914400"/>
            <a:chOff x="0" y="0"/>
            <a:chExt cx="2880360" cy="914400"/>
          </a:xfrm>
        </p:grpSpPr>
        <p:sp>
          <p:nvSpPr>
            <p:cNvPr id="544" name="Rectángulo"/>
            <p:cNvSpPr/>
            <p:nvPr/>
          </p:nvSpPr>
          <p:spPr>
            <a:xfrm>
              <a:off x="-1" y="0"/>
              <a:ext cx="2880362" cy="914400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45" name="Experience…"/>
            <p:cNvSpPr txBox="1"/>
            <p:nvPr/>
          </p:nvSpPr>
          <p:spPr>
            <a:xfrm>
              <a:off x="6349" y="6350"/>
              <a:ext cx="2867662" cy="90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Experience</a:t>
              </a:r>
              <a:endParaRPr sz="1500"/>
            </a:p>
            <a:p>
              <a:r>
                <a:t>Mobility, culture and local commerce missions</a:t>
              </a:r>
            </a:p>
          </p:txBody>
        </p:sp>
      </p:grpSp>
      <p:grpSp>
        <p:nvGrpSpPr>
          <p:cNvPr id="549" name="Text 9"/>
          <p:cNvGrpSpPr/>
          <p:nvPr/>
        </p:nvGrpSpPr>
        <p:grpSpPr>
          <a:xfrm>
            <a:off x="6931152" y="2286000"/>
            <a:ext cx="2880361" cy="914400"/>
            <a:chOff x="0" y="0"/>
            <a:chExt cx="2880360" cy="914400"/>
          </a:xfrm>
        </p:grpSpPr>
        <p:sp>
          <p:nvSpPr>
            <p:cNvPr id="547" name="Rectángulo"/>
            <p:cNvSpPr/>
            <p:nvPr/>
          </p:nvSpPr>
          <p:spPr>
            <a:xfrm>
              <a:off x="-1" y="0"/>
              <a:ext cx="2880362" cy="914400"/>
            </a:xfrm>
            <a:prstGeom prst="rect">
              <a:avLst/>
            </a:prstGeom>
            <a:solidFill>
              <a:srgbClr val="CDD4FE"/>
            </a:solidFill>
            <a:ln w="12700" cap="flat">
              <a:solidFill>
                <a:srgbClr val="092BF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48" name="Ecosystem…"/>
            <p:cNvSpPr txBox="1"/>
            <p:nvPr/>
          </p:nvSpPr>
          <p:spPr>
            <a:xfrm>
              <a:off x="6349" y="6350"/>
              <a:ext cx="2867662" cy="90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/>
              <a:r>
                <a:t>Ecosystem</a:t>
              </a:r>
              <a:endParaRPr sz="1500"/>
            </a:p>
            <a:p>
              <a:r>
                <a:t>Partners, benefits, maps and local activations</a:t>
              </a:r>
            </a:p>
          </p:txBody>
        </p:sp>
      </p:grpSp>
      <p:grpSp>
        <p:nvGrpSpPr>
          <p:cNvPr id="552" name="Text 10"/>
          <p:cNvGrpSpPr/>
          <p:nvPr/>
        </p:nvGrpSpPr>
        <p:grpSpPr>
          <a:xfrm>
            <a:off x="10012680" y="2286000"/>
            <a:ext cx="1417321" cy="914400"/>
            <a:chOff x="0" y="0"/>
            <a:chExt cx="1417319" cy="914400"/>
          </a:xfrm>
        </p:grpSpPr>
        <p:sp>
          <p:nvSpPr>
            <p:cNvPr id="550" name="Rectángulo"/>
            <p:cNvSpPr/>
            <p:nvPr/>
          </p:nvSpPr>
          <p:spPr>
            <a:xfrm>
              <a:off x="0" y="0"/>
              <a:ext cx="1417320" cy="914400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51" name="Value…"/>
            <p:cNvSpPr txBox="1"/>
            <p:nvPr/>
          </p:nvSpPr>
          <p:spPr>
            <a:xfrm>
              <a:off x="6350" y="6350"/>
              <a:ext cx="1404620" cy="90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/>
            <a:p>
              <a:pPr algn="ctr" defTabSz="649223">
                <a:defRPr sz="1278">
                  <a:solidFill>
                    <a:srgbClr val="FFFFFF"/>
                  </a:solidFill>
                </a:defRPr>
              </a:pPr>
              <a:r>
                <a:t>Value</a:t>
              </a:r>
              <a:endParaRPr sz="851"/>
            </a:p>
            <a:p>
              <a:pPr defTabSz="649223">
                <a:defRPr sz="1278">
                  <a:solidFill>
                    <a:srgbClr val="FFFFFF"/>
                  </a:solidFill>
                </a:defRPr>
              </a:pPr>
              <a:r>
                <a:t>1P data, recurrence, sponsorship and cross-visits</a:t>
              </a:r>
            </a:p>
          </p:txBody>
        </p:sp>
      </p:grpSp>
      <p:sp>
        <p:nvSpPr>
          <p:cNvPr id="553" name="Shape 11"/>
          <p:cNvSpPr/>
          <p:nvPr/>
        </p:nvSpPr>
        <p:spPr>
          <a:xfrm>
            <a:off x="3273552" y="2743200"/>
            <a:ext cx="292609" cy="0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4" name="Shape 12"/>
          <p:cNvSpPr/>
          <p:nvPr/>
        </p:nvSpPr>
        <p:spPr>
          <a:xfrm>
            <a:off x="6510528" y="2743200"/>
            <a:ext cx="365761" cy="0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5" name="Shape 13"/>
          <p:cNvSpPr/>
          <p:nvPr/>
        </p:nvSpPr>
        <p:spPr>
          <a:xfrm>
            <a:off x="9829800" y="2743200"/>
            <a:ext cx="137161" cy="0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558" name="Text 14"/>
          <p:cNvGrpSpPr/>
          <p:nvPr/>
        </p:nvGrpSpPr>
        <p:grpSpPr>
          <a:xfrm>
            <a:off x="1097280" y="4709159"/>
            <a:ext cx="9966960" cy="658369"/>
            <a:chOff x="0" y="0"/>
            <a:chExt cx="9966959" cy="658368"/>
          </a:xfrm>
        </p:grpSpPr>
        <p:sp>
          <p:nvSpPr>
            <p:cNvPr id="556" name="Rectángulo"/>
            <p:cNvSpPr/>
            <p:nvPr/>
          </p:nvSpPr>
          <p:spPr>
            <a:xfrm>
              <a:off x="0" y="-1"/>
              <a:ext cx="9966960" cy="658370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57" name="Thesis for the agency: the campaign does not merely communicate sustainable mobility; it creates a measurable experience that connects behavior, territory and partners."/>
            <p:cNvSpPr txBox="1"/>
            <p:nvPr/>
          </p:nvSpPr>
          <p:spPr>
            <a:xfrm>
              <a:off x="6350" y="6349"/>
              <a:ext cx="9954260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Thesis for the agency: the campaign does not merely communicate sustainable mobility; it creates a measurable experience that connects behavior, territory and partners.</a:t>
              </a:r>
            </a:p>
          </p:txBody>
        </p:sp>
      </p:grp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1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2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6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564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ACTION PLAN</a:t>
            </a:r>
          </a:p>
        </p:txBody>
      </p:sp>
      <p:sp>
        <p:nvSpPr>
          <p:cNvPr id="565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90-day pilot: demonstrate service, operations and economics</a:t>
            </a:r>
          </a:p>
        </p:txBody>
      </p:sp>
      <p:sp>
        <p:nvSpPr>
          <p:cNvPr id="566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567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21</a:t>
            </a:r>
          </a:p>
        </p:txBody>
      </p:sp>
      <p:grpSp>
        <p:nvGrpSpPr>
          <p:cNvPr id="570" name="Text 7"/>
          <p:cNvGrpSpPr/>
          <p:nvPr/>
        </p:nvGrpSpPr>
        <p:grpSpPr>
          <a:xfrm>
            <a:off x="749807" y="2194560"/>
            <a:ext cx="2359154" cy="1664208"/>
            <a:chOff x="0" y="0"/>
            <a:chExt cx="2359152" cy="1664206"/>
          </a:xfrm>
        </p:grpSpPr>
        <p:sp>
          <p:nvSpPr>
            <p:cNvPr id="568" name="Rectángulo"/>
            <p:cNvSpPr/>
            <p:nvPr/>
          </p:nvSpPr>
          <p:spPr>
            <a:xfrm>
              <a:off x="-1" y="0"/>
              <a:ext cx="2359154" cy="166420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CDD4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69" name="0–2 weeks…"/>
            <p:cNvSpPr txBox="1"/>
            <p:nvPr/>
          </p:nvSpPr>
          <p:spPr>
            <a:xfrm>
              <a:off x="6349" y="6350"/>
              <a:ext cx="2346454" cy="1651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778" tIns="1778" rIns="1778" bIns="1778" numCol="1" anchor="t">
              <a:normAutofit/>
            </a:bodyPr>
            <a:lstStyle/>
            <a:p>
              <a:r>
                <a:t>0–2 weeks</a:t>
              </a:r>
              <a:endParaRPr sz="1200"/>
            </a:p>
            <a:p>
              <a:r>
                <a:t>client/sector selection</a:t>
              </a:r>
            </a:p>
            <a:p>
              <a:r>
                <a:t>KPI baseline</a:t>
              </a:r>
            </a:p>
            <a:p>
              <a:r>
                <a:t>economic hypothesis</a:t>
              </a:r>
            </a:p>
          </p:txBody>
        </p:sp>
      </p:grpSp>
      <p:sp>
        <p:nvSpPr>
          <p:cNvPr id="571" name="Shape 8"/>
          <p:cNvSpPr/>
          <p:nvPr/>
        </p:nvSpPr>
        <p:spPr>
          <a:xfrm>
            <a:off x="3145535" y="2990088"/>
            <a:ext cx="301753" cy="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574" name="Text 9"/>
          <p:cNvGrpSpPr/>
          <p:nvPr/>
        </p:nvGrpSpPr>
        <p:grpSpPr>
          <a:xfrm>
            <a:off x="3584447" y="2194560"/>
            <a:ext cx="2359153" cy="1664208"/>
            <a:chOff x="0" y="0"/>
            <a:chExt cx="2359152" cy="1664206"/>
          </a:xfrm>
        </p:grpSpPr>
        <p:sp>
          <p:nvSpPr>
            <p:cNvPr id="572" name="Rectángulo"/>
            <p:cNvSpPr/>
            <p:nvPr/>
          </p:nvSpPr>
          <p:spPr>
            <a:xfrm>
              <a:off x="-1" y="0"/>
              <a:ext cx="2359154" cy="166420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CDD4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73" name="3–5 weeks…"/>
            <p:cNvSpPr txBox="1"/>
            <p:nvPr/>
          </p:nvSpPr>
          <p:spPr>
            <a:xfrm>
              <a:off x="6349" y="6350"/>
              <a:ext cx="2346454" cy="1651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778" tIns="1778" rIns="1778" bIns="1778" numCol="1" anchor="t">
              <a:normAutofit/>
            </a:bodyPr>
            <a:lstStyle/>
            <a:p>
              <a:r>
                <a:t>3–5 weeks</a:t>
              </a:r>
              <a:endParaRPr sz="1200"/>
            </a:p>
            <a:p>
              <a:r>
                <a:t>design 2 experiences</a:t>
              </a:r>
            </a:p>
            <a:p>
              <a:r>
                <a:t>rules and incentives</a:t>
              </a:r>
            </a:p>
            <a:p>
              <a:r>
                <a:t>channel plan</a:t>
              </a:r>
            </a:p>
          </p:txBody>
        </p:sp>
      </p:grpSp>
      <p:sp>
        <p:nvSpPr>
          <p:cNvPr id="575" name="Shape 10"/>
          <p:cNvSpPr/>
          <p:nvPr/>
        </p:nvSpPr>
        <p:spPr>
          <a:xfrm>
            <a:off x="5980176" y="2990088"/>
            <a:ext cx="301753" cy="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578" name="Text 11"/>
          <p:cNvGrpSpPr/>
          <p:nvPr/>
        </p:nvGrpSpPr>
        <p:grpSpPr>
          <a:xfrm>
            <a:off x="6419087" y="2194560"/>
            <a:ext cx="2359154" cy="1664208"/>
            <a:chOff x="0" y="0"/>
            <a:chExt cx="2359152" cy="1664206"/>
          </a:xfrm>
        </p:grpSpPr>
        <p:sp>
          <p:nvSpPr>
            <p:cNvPr id="576" name="Rectángulo"/>
            <p:cNvSpPr/>
            <p:nvPr/>
          </p:nvSpPr>
          <p:spPr>
            <a:xfrm>
              <a:off x="-1" y="0"/>
              <a:ext cx="2359154" cy="1664207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77" name="6–10 weeks…"/>
            <p:cNvSpPr txBox="1"/>
            <p:nvPr/>
          </p:nvSpPr>
          <p:spPr>
            <a:xfrm>
              <a:off x="6349" y="6350"/>
              <a:ext cx="2346454" cy="1651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778" tIns="1778" rIns="1778" bIns="1778" numCol="1" anchor="t">
              <a:normAutofit/>
            </a:bodyPr>
            <a:lstStyle/>
            <a:p>
              <a:r>
                <a:t>6–10 weeks</a:t>
              </a:r>
              <a:endParaRPr sz="1200"/>
            </a:p>
            <a:p>
              <a:r>
                <a:t>activation</a:t>
              </a:r>
            </a:p>
            <a:p>
              <a:r>
                <a:t>weekly operations</a:t>
              </a:r>
            </a:p>
            <a:p>
              <a:r>
                <a:t>QA and adjustments</a:t>
              </a:r>
            </a:p>
          </p:txBody>
        </p:sp>
      </p:grpSp>
      <p:sp>
        <p:nvSpPr>
          <p:cNvPr id="579" name="Shape 12"/>
          <p:cNvSpPr/>
          <p:nvPr/>
        </p:nvSpPr>
        <p:spPr>
          <a:xfrm>
            <a:off x="8814816" y="2990088"/>
            <a:ext cx="301753" cy="1"/>
          </a:xfrm>
          <a:prstGeom prst="line">
            <a:avLst/>
          </a:prstGeom>
          <a:ln w="15240">
            <a:solidFill>
              <a:srgbClr val="090685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582" name="Text 13"/>
          <p:cNvGrpSpPr/>
          <p:nvPr/>
        </p:nvGrpSpPr>
        <p:grpSpPr>
          <a:xfrm>
            <a:off x="9253728" y="2194560"/>
            <a:ext cx="2359153" cy="1664208"/>
            <a:chOff x="0" y="0"/>
            <a:chExt cx="2359152" cy="1664206"/>
          </a:xfrm>
        </p:grpSpPr>
        <p:sp>
          <p:nvSpPr>
            <p:cNvPr id="580" name="Rectángulo"/>
            <p:cNvSpPr/>
            <p:nvPr/>
          </p:nvSpPr>
          <p:spPr>
            <a:xfrm>
              <a:off x="-1" y="0"/>
              <a:ext cx="2359154" cy="166420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CDD4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81" name="11–12 weeks…"/>
            <p:cNvSpPr txBox="1"/>
            <p:nvPr/>
          </p:nvSpPr>
          <p:spPr>
            <a:xfrm>
              <a:off x="6349" y="6350"/>
              <a:ext cx="2346454" cy="1651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778" tIns="1778" rIns="1778" bIns="1778" numCol="1" anchor="t">
              <a:normAutofit/>
            </a:bodyPr>
            <a:lstStyle/>
            <a:p>
              <a:r>
                <a:t>11–12 weeks</a:t>
              </a:r>
              <a:endParaRPr sz="1200"/>
            </a:p>
            <a:p>
              <a:r>
                <a:t>results readout</a:t>
              </a:r>
            </a:p>
            <a:p>
              <a:r>
                <a:t>business case</a:t>
              </a:r>
            </a:p>
            <a:p>
              <a:r>
                <a:t>scale plan</a:t>
              </a:r>
            </a:p>
          </p:txBody>
        </p:sp>
      </p:grpSp>
      <p:grpSp>
        <p:nvGrpSpPr>
          <p:cNvPr id="585" name="Text 14"/>
          <p:cNvGrpSpPr/>
          <p:nvPr/>
        </p:nvGrpSpPr>
        <p:grpSpPr>
          <a:xfrm>
            <a:off x="950975" y="5074920"/>
            <a:ext cx="10287001" cy="658369"/>
            <a:chOff x="0" y="0"/>
            <a:chExt cx="10287000" cy="658368"/>
          </a:xfrm>
        </p:grpSpPr>
        <p:sp>
          <p:nvSpPr>
            <p:cNvPr id="583" name="Rectángulo"/>
            <p:cNvSpPr/>
            <p:nvPr/>
          </p:nvSpPr>
          <p:spPr>
            <a:xfrm>
              <a:off x="0" y="-1"/>
              <a:ext cx="10287000" cy="658370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84" name="Deliverables: experience map, holistic campaign calendar, economic scorecard, learning report and recurring service proposal."/>
            <p:cNvSpPr txBox="1"/>
            <p:nvPr/>
          </p:nvSpPr>
          <p:spPr>
            <a:xfrm>
              <a:off x="6350" y="6349"/>
              <a:ext cx="10274300" cy="64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Deliverables: experience map, holistic campaign calendar, economic scorecard, learning report and recurring service proposal.</a:t>
              </a:r>
            </a:p>
          </p:txBody>
        </p:sp>
      </p:grp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8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9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9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591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ENABLEMENT</a:t>
            </a:r>
          </a:p>
        </p:txBody>
      </p:sp>
      <p:sp>
        <p:nvSpPr>
          <p:cNvPr id="592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Commercial argumentation for the agency</a:t>
            </a:r>
          </a:p>
        </p:txBody>
      </p:sp>
      <p:sp>
        <p:nvSpPr>
          <p:cNvPr id="593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594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22</a:t>
            </a:r>
          </a:p>
        </p:txBody>
      </p:sp>
      <p:grpSp>
        <p:nvGrpSpPr>
          <p:cNvPr id="597" name="Text 7"/>
          <p:cNvGrpSpPr/>
          <p:nvPr/>
        </p:nvGrpSpPr>
        <p:grpSpPr>
          <a:xfrm>
            <a:off x="1005839" y="1920239"/>
            <a:ext cx="10058401" cy="438913"/>
            <a:chOff x="0" y="0"/>
            <a:chExt cx="10058400" cy="438911"/>
          </a:xfrm>
        </p:grpSpPr>
        <p:sp>
          <p:nvSpPr>
            <p:cNvPr id="595" name="Rectángulo"/>
            <p:cNvSpPr/>
            <p:nvPr/>
          </p:nvSpPr>
          <p:spPr>
            <a:xfrm>
              <a:off x="0" y="0"/>
              <a:ext cx="10058400" cy="438912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  <a:endParaRPr/>
            </a:p>
          </p:txBody>
        </p:sp>
        <p:sp>
          <p:nvSpPr>
            <p:cNvPr id="596" name="1  We do not sell “another software tool”: we enable a recurring service."/>
            <p:cNvSpPr txBox="1"/>
            <p:nvPr/>
          </p:nvSpPr>
          <p:spPr>
            <a:xfrm>
              <a:off x="6350" y="6350"/>
              <a:ext cx="10045700" cy="4262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" tIns="1270" rIns="1270" bIns="1270" numCol="1" anchor="ctr">
              <a:normAutofit/>
            </a:bodyPr>
            <a:lstStyle/>
            <a:p>
              <a:r>
                <a:t>1  We do not sell “another software tool”: we enable a recurring service.</a:t>
              </a:r>
            </a:p>
          </p:txBody>
        </p:sp>
      </p:grpSp>
      <p:grpSp>
        <p:nvGrpSpPr>
          <p:cNvPr id="600" name="Text 8"/>
          <p:cNvGrpSpPr/>
          <p:nvPr/>
        </p:nvGrpSpPr>
        <p:grpSpPr>
          <a:xfrm>
            <a:off x="1005839" y="2633472"/>
            <a:ext cx="10058401" cy="438912"/>
            <a:chOff x="0" y="0"/>
            <a:chExt cx="10058400" cy="438911"/>
          </a:xfrm>
        </p:grpSpPr>
        <p:sp>
          <p:nvSpPr>
            <p:cNvPr id="598" name="Rectángulo"/>
            <p:cNvSpPr/>
            <p:nvPr/>
          </p:nvSpPr>
          <p:spPr>
            <a:xfrm>
              <a:off x="0" y="0"/>
              <a:ext cx="10058400" cy="438912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  <a:endParaRPr/>
            </a:p>
          </p:txBody>
        </p:sp>
        <p:sp>
          <p:nvSpPr>
            <p:cNvPr id="599" name="2  Experience is the unit that connects campaign, channel, point of sale and loyalty."/>
            <p:cNvSpPr txBox="1"/>
            <p:nvPr/>
          </p:nvSpPr>
          <p:spPr>
            <a:xfrm>
              <a:off x="6350" y="6350"/>
              <a:ext cx="10045700" cy="4262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" tIns="1270" rIns="1270" bIns="1270" numCol="1" anchor="ctr">
              <a:normAutofit/>
            </a:bodyPr>
            <a:lstStyle/>
            <a:p>
              <a:r>
                <a:t>2  Experience is the unit that connects campaign, channel, point of sale and loyalty.</a:t>
              </a:r>
            </a:p>
          </p:txBody>
        </p:sp>
      </p:grpSp>
      <p:grpSp>
        <p:nvGrpSpPr>
          <p:cNvPr id="603" name="Text 9"/>
          <p:cNvGrpSpPr/>
          <p:nvPr/>
        </p:nvGrpSpPr>
        <p:grpSpPr>
          <a:xfrm>
            <a:off x="1005839" y="3346703"/>
            <a:ext cx="10058401" cy="438913"/>
            <a:chOff x="0" y="0"/>
            <a:chExt cx="10058400" cy="438911"/>
          </a:xfrm>
        </p:grpSpPr>
        <p:sp>
          <p:nvSpPr>
            <p:cNvPr id="601" name="Rectángulo"/>
            <p:cNvSpPr/>
            <p:nvPr/>
          </p:nvSpPr>
          <p:spPr>
            <a:xfrm>
              <a:off x="0" y="0"/>
              <a:ext cx="10058400" cy="438912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  <a:endParaRPr/>
            </a:p>
          </p:txBody>
        </p:sp>
        <p:sp>
          <p:nvSpPr>
            <p:cNvPr id="602" name="3  Convercus complements the existing stack: CRM, CDP, eCommerce, POS and CMS."/>
            <p:cNvSpPr txBox="1"/>
            <p:nvPr/>
          </p:nvSpPr>
          <p:spPr>
            <a:xfrm>
              <a:off x="6350" y="6350"/>
              <a:ext cx="10045700" cy="4262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" tIns="1270" rIns="1270" bIns="1270" numCol="1" anchor="ctr">
              <a:normAutofit/>
            </a:bodyPr>
            <a:lstStyle/>
            <a:p>
              <a:r>
                <a:t>3  Convercus complements the existing stack: CRM, CDP, eCommerce, POS and CMS.</a:t>
              </a:r>
            </a:p>
          </p:txBody>
        </p:sp>
      </p:grpSp>
      <p:grpSp>
        <p:nvGrpSpPr>
          <p:cNvPr id="606" name="Text 10"/>
          <p:cNvGrpSpPr/>
          <p:nvPr/>
        </p:nvGrpSpPr>
        <p:grpSpPr>
          <a:xfrm>
            <a:off x="1005839" y="4059935"/>
            <a:ext cx="10058401" cy="438913"/>
            <a:chOff x="0" y="0"/>
            <a:chExt cx="10058400" cy="438911"/>
          </a:xfrm>
        </p:grpSpPr>
        <p:sp>
          <p:nvSpPr>
            <p:cNvPr id="604" name="Rectángulo"/>
            <p:cNvSpPr/>
            <p:nvPr/>
          </p:nvSpPr>
          <p:spPr>
            <a:xfrm>
              <a:off x="0" y="0"/>
              <a:ext cx="10058400" cy="438912"/>
            </a:xfrm>
            <a:prstGeom prst="rect">
              <a:avLst/>
            </a:prstGeom>
            <a:solidFill>
              <a:srgbClr val="F1F1F1"/>
            </a:solidFill>
            <a:ln w="12700" cap="flat">
              <a:solidFill>
                <a:srgbClr val="DDDDD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  <a:endParaRPr/>
            </a:p>
          </p:txBody>
        </p:sp>
        <p:sp>
          <p:nvSpPr>
            <p:cNvPr id="605" name="4  Economic measurement protects margin and prevents buying sales with incentives."/>
            <p:cNvSpPr txBox="1"/>
            <p:nvPr/>
          </p:nvSpPr>
          <p:spPr>
            <a:xfrm>
              <a:off x="6350" y="6350"/>
              <a:ext cx="10045700" cy="4262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" tIns="1270" rIns="1270" bIns="1270" numCol="1" anchor="ctr">
              <a:normAutofit/>
            </a:bodyPr>
            <a:lstStyle/>
            <a:p>
              <a:r>
                <a:t>4  Economic measurement protects margin and prevents buying sales with incentives.</a:t>
              </a:r>
            </a:p>
          </p:txBody>
        </p:sp>
      </p:grpSp>
      <p:grpSp>
        <p:nvGrpSpPr>
          <p:cNvPr id="609" name="Text 11"/>
          <p:cNvGrpSpPr/>
          <p:nvPr/>
        </p:nvGrpSpPr>
        <p:grpSpPr>
          <a:xfrm>
            <a:off x="1005839" y="4773167"/>
            <a:ext cx="10058401" cy="438913"/>
            <a:chOff x="0" y="0"/>
            <a:chExt cx="10058400" cy="438911"/>
          </a:xfrm>
        </p:grpSpPr>
        <p:sp>
          <p:nvSpPr>
            <p:cNvPr id="607" name="Rectángulo"/>
            <p:cNvSpPr/>
            <p:nvPr/>
          </p:nvSpPr>
          <p:spPr>
            <a:xfrm>
              <a:off x="0" y="0"/>
              <a:ext cx="10058400" cy="438912"/>
            </a:xfrm>
            <a:prstGeom prst="rect">
              <a:avLst/>
            </a:prstGeom>
            <a:solidFill>
              <a:srgbClr val="CEFBFF"/>
            </a:solidFill>
            <a:ln w="12700" cap="flat">
              <a:solidFill>
                <a:srgbClr val="0AE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  <a:endParaRPr/>
            </a:p>
          </p:txBody>
        </p:sp>
        <p:sp>
          <p:nvSpPr>
            <p:cNvPr id="608" name="5  The model can be sectorized: retail, hospitality, mobility, leisure, grocery and federated networks."/>
            <p:cNvSpPr txBox="1"/>
            <p:nvPr/>
          </p:nvSpPr>
          <p:spPr>
            <a:xfrm>
              <a:off x="6350" y="6350"/>
              <a:ext cx="10045700" cy="4262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" tIns="1270" rIns="1270" bIns="1270" numCol="1" anchor="ctr">
              <a:normAutofit/>
            </a:bodyPr>
            <a:lstStyle/>
            <a:p>
              <a:r>
                <a:t>5  The model can be sectorized: retail, hospitality, mobility, leisure, grocery and federated networks.</a:t>
              </a:r>
            </a:p>
          </p:txBody>
        </p:sp>
      </p:grp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0"/>
          <p:cNvSpPr/>
          <p:nvPr/>
        </p:nvSpPr>
        <p:spPr>
          <a:xfrm>
            <a:off x="-1" y="-1"/>
            <a:ext cx="12191697" cy="146306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2" name="Shape 1"/>
          <p:cNvSpPr/>
          <p:nvPr/>
        </p:nvSpPr>
        <p:spPr>
          <a:xfrm>
            <a:off x="-1" y="146304"/>
            <a:ext cx="7558853" cy="36577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3" name="Shape 2"/>
          <p:cNvSpPr/>
          <p:nvPr/>
        </p:nvSpPr>
        <p:spPr>
          <a:xfrm>
            <a:off x="7558851" y="146304"/>
            <a:ext cx="4632844" cy="36577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1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53" y="329184"/>
            <a:ext cx="895407" cy="384048"/>
          </a:xfrm>
          <a:prstGeom prst="rect">
            <a:avLst/>
          </a:prstGeom>
          <a:ln w="12700">
            <a:miter lim="400000"/>
          </a:ln>
        </p:spPr>
      </p:pic>
      <p:sp>
        <p:nvSpPr>
          <p:cNvPr id="615" name="Text 3"/>
          <p:cNvSpPr txBox="1"/>
          <p:nvPr/>
        </p:nvSpPr>
        <p:spPr>
          <a:xfrm>
            <a:off x="512063" y="890778"/>
            <a:ext cx="2011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CLOSING</a:t>
            </a:r>
          </a:p>
        </p:txBody>
      </p:sp>
      <p:sp>
        <p:nvSpPr>
          <p:cNvPr id="616" name="Text 4"/>
          <p:cNvSpPr txBox="1"/>
          <p:nvPr/>
        </p:nvSpPr>
        <p:spPr>
          <a:xfrm>
            <a:off x="512063" y="1152144"/>
            <a:ext cx="11064242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Next commercial steps</a:t>
            </a:r>
          </a:p>
        </p:txBody>
      </p:sp>
      <p:sp>
        <p:nvSpPr>
          <p:cNvPr id="617" name="Text 5"/>
          <p:cNvSpPr txBox="1"/>
          <p:nvPr/>
        </p:nvSpPr>
        <p:spPr>
          <a:xfrm>
            <a:off x="512063" y="6316980"/>
            <a:ext cx="557784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r>
              <a:t>Convercus for Agencies · Ecosystem and Services Playbook</a:t>
            </a:r>
          </a:p>
        </p:txBody>
      </p:sp>
      <p:sp>
        <p:nvSpPr>
          <p:cNvPr id="618" name="Text 6"/>
          <p:cNvSpPr txBox="1"/>
          <p:nvPr/>
        </p:nvSpPr>
        <p:spPr>
          <a:xfrm>
            <a:off x="11247119" y="6501892"/>
            <a:ext cx="4206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A8A8A"/>
                </a:solidFill>
              </a:defRPr>
            </a:lvl1pPr>
          </a:lstStyle>
          <a:p>
            <a:r>
              <a:t>23</a:t>
            </a:r>
          </a:p>
        </p:txBody>
      </p:sp>
      <p:grpSp>
        <p:nvGrpSpPr>
          <p:cNvPr id="621" name="Text 7"/>
          <p:cNvGrpSpPr/>
          <p:nvPr/>
        </p:nvGrpSpPr>
        <p:grpSpPr>
          <a:xfrm>
            <a:off x="1005840" y="2057399"/>
            <a:ext cx="4709160" cy="822962"/>
            <a:chOff x="0" y="0"/>
            <a:chExt cx="4709159" cy="822960"/>
          </a:xfrm>
        </p:grpSpPr>
        <p:sp>
          <p:nvSpPr>
            <p:cNvPr id="619" name="Rectángulo"/>
            <p:cNvSpPr/>
            <p:nvPr/>
          </p:nvSpPr>
          <p:spPr>
            <a:xfrm>
              <a:off x="0" y="-1"/>
              <a:ext cx="4709160" cy="82296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CDD4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20" name="1…"/>
            <p:cNvSpPr txBox="1"/>
            <p:nvPr/>
          </p:nvSpPr>
          <p:spPr>
            <a:xfrm>
              <a:off x="6350" y="6349"/>
              <a:ext cx="4696460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" tIns="1270" rIns="1270" bIns="1270" numCol="1" anchor="ctr">
              <a:normAutofit/>
            </a:bodyPr>
            <a:lstStyle/>
            <a:p>
              <a:r>
                <a:t>1</a:t>
              </a:r>
              <a:endParaRPr sz="1200"/>
            </a:p>
            <a:p>
              <a:r>
                <a:t>Validate this narrative with Mínima / pilot agency.</a:t>
              </a:r>
            </a:p>
          </p:txBody>
        </p:sp>
      </p:grpSp>
      <p:grpSp>
        <p:nvGrpSpPr>
          <p:cNvPr id="624" name="Text 8"/>
          <p:cNvGrpSpPr/>
          <p:nvPr/>
        </p:nvGrpSpPr>
        <p:grpSpPr>
          <a:xfrm>
            <a:off x="6263640" y="2057399"/>
            <a:ext cx="4709160" cy="822962"/>
            <a:chOff x="0" y="0"/>
            <a:chExt cx="4709159" cy="822960"/>
          </a:xfrm>
        </p:grpSpPr>
        <p:sp>
          <p:nvSpPr>
            <p:cNvPr id="622" name="Rectángulo"/>
            <p:cNvSpPr/>
            <p:nvPr/>
          </p:nvSpPr>
          <p:spPr>
            <a:xfrm>
              <a:off x="0" y="-1"/>
              <a:ext cx="4709160" cy="82296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CDD4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23" name="2…"/>
            <p:cNvSpPr txBox="1"/>
            <p:nvPr/>
          </p:nvSpPr>
          <p:spPr>
            <a:xfrm>
              <a:off x="6350" y="6349"/>
              <a:ext cx="4696460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" tIns="1270" rIns="1270" bIns="1270" numCol="1" anchor="ctr">
              <a:normAutofit/>
            </a:bodyPr>
            <a:lstStyle/>
            <a:p>
              <a:r>
                <a:t>2</a:t>
              </a:r>
              <a:endParaRPr sz="1200"/>
            </a:p>
            <a:p>
              <a:r>
                <a:t>Choose 1–2 priority verticals and 2 candidate clients.</a:t>
              </a:r>
            </a:p>
          </p:txBody>
        </p:sp>
      </p:grpSp>
      <p:grpSp>
        <p:nvGrpSpPr>
          <p:cNvPr id="627" name="Text 9"/>
          <p:cNvGrpSpPr/>
          <p:nvPr/>
        </p:nvGrpSpPr>
        <p:grpSpPr>
          <a:xfrm>
            <a:off x="1005840" y="3108960"/>
            <a:ext cx="4709160" cy="822961"/>
            <a:chOff x="0" y="0"/>
            <a:chExt cx="4709159" cy="822960"/>
          </a:xfrm>
        </p:grpSpPr>
        <p:sp>
          <p:nvSpPr>
            <p:cNvPr id="625" name="Rectángulo"/>
            <p:cNvSpPr/>
            <p:nvPr/>
          </p:nvSpPr>
          <p:spPr>
            <a:xfrm>
              <a:off x="0" y="-1"/>
              <a:ext cx="4709160" cy="82296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CDD4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26" name="3…"/>
            <p:cNvSpPr txBox="1"/>
            <p:nvPr/>
          </p:nvSpPr>
          <p:spPr>
            <a:xfrm>
              <a:off x="6350" y="6349"/>
              <a:ext cx="4696460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" tIns="1270" rIns="1270" bIns="1270" numCol="1" anchor="ctr">
              <a:normAutofit/>
            </a:bodyPr>
            <a:lstStyle/>
            <a:p>
              <a:pPr defTabSz="804672">
                <a:defRPr sz="1584"/>
              </a:pPr>
              <a:r>
                <a:t>3</a:t>
              </a:r>
              <a:endParaRPr sz="1056"/>
            </a:p>
            <a:p>
              <a:pPr defTabSz="804672">
                <a:defRPr sz="1584"/>
              </a:pPr>
              <a:r>
                <a:t>Define the minimum economic scorecard: identification, progression, margin and cost-to-serve.</a:t>
              </a:r>
            </a:p>
          </p:txBody>
        </p:sp>
      </p:grpSp>
      <p:grpSp>
        <p:nvGrpSpPr>
          <p:cNvPr id="630" name="Text 10"/>
          <p:cNvGrpSpPr/>
          <p:nvPr/>
        </p:nvGrpSpPr>
        <p:grpSpPr>
          <a:xfrm>
            <a:off x="6263640" y="3108960"/>
            <a:ext cx="4709160" cy="822961"/>
            <a:chOff x="0" y="0"/>
            <a:chExt cx="4709159" cy="822960"/>
          </a:xfrm>
        </p:grpSpPr>
        <p:sp>
          <p:nvSpPr>
            <p:cNvPr id="628" name="Rectángulo"/>
            <p:cNvSpPr/>
            <p:nvPr/>
          </p:nvSpPr>
          <p:spPr>
            <a:xfrm>
              <a:off x="0" y="-1"/>
              <a:ext cx="4709160" cy="82296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CDD4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29" name="4…"/>
            <p:cNvSpPr txBox="1"/>
            <p:nvPr/>
          </p:nvSpPr>
          <p:spPr>
            <a:xfrm>
              <a:off x="6350" y="6349"/>
              <a:ext cx="4696460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" tIns="1270" rIns="1270" bIns="1270" numCol="1" anchor="ctr">
              <a:normAutofit/>
            </a:bodyPr>
            <a:lstStyle/>
            <a:p>
              <a:r>
                <a:t>4</a:t>
              </a:r>
              <a:endParaRPr sz="1200"/>
            </a:p>
            <a:p>
              <a:r>
                <a:t>Co-design two demonstrable experiences and one holistic activation campaign.</a:t>
              </a:r>
            </a:p>
          </p:txBody>
        </p:sp>
      </p:grpSp>
      <p:grpSp>
        <p:nvGrpSpPr>
          <p:cNvPr id="633" name="Text 11"/>
          <p:cNvGrpSpPr/>
          <p:nvPr/>
        </p:nvGrpSpPr>
        <p:grpSpPr>
          <a:xfrm>
            <a:off x="1005840" y="4160520"/>
            <a:ext cx="4709160" cy="822961"/>
            <a:chOff x="0" y="0"/>
            <a:chExt cx="4709159" cy="822960"/>
          </a:xfrm>
        </p:grpSpPr>
        <p:sp>
          <p:nvSpPr>
            <p:cNvPr id="631" name="Rectángulo"/>
            <p:cNvSpPr/>
            <p:nvPr/>
          </p:nvSpPr>
          <p:spPr>
            <a:xfrm>
              <a:off x="0" y="-1"/>
              <a:ext cx="4709160" cy="822962"/>
            </a:xfrm>
            <a:prstGeom prst="rect">
              <a:avLst/>
            </a:prstGeom>
            <a:solidFill>
              <a:srgbClr val="FDD3E6"/>
            </a:solidFill>
            <a:ln w="12700" cap="flat">
              <a:solidFill>
                <a:srgbClr val="F725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32" name="5…"/>
            <p:cNvSpPr txBox="1"/>
            <p:nvPr/>
          </p:nvSpPr>
          <p:spPr>
            <a:xfrm>
              <a:off x="6350" y="6349"/>
              <a:ext cx="4696460" cy="8102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" tIns="1270" rIns="1270" bIns="1270" numCol="1" anchor="ctr">
              <a:normAutofit/>
            </a:bodyPr>
            <a:lstStyle/>
            <a:p>
              <a:pPr defTabSz="859536">
                <a:defRPr sz="1692"/>
              </a:pPr>
              <a:r>
                <a:t>5</a:t>
              </a:r>
              <a:endParaRPr sz="1128"/>
            </a:p>
            <a:p>
              <a:pPr defTabSz="859536">
                <a:defRPr sz="1692"/>
              </a:pPr>
              <a:r>
                <a:t>Finalize the enablement package: pitch, sector use cases, operating playbook and reporting template.</a:t>
              </a:r>
            </a:p>
          </p:txBody>
        </p:sp>
      </p:grpSp>
      <p:grpSp>
        <p:nvGrpSpPr>
          <p:cNvPr id="636" name="Text 12"/>
          <p:cNvGrpSpPr/>
          <p:nvPr/>
        </p:nvGrpSpPr>
        <p:grpSpPr>
          <a:xfrm>
            <a:off x="1188719" y="5623559"/>
            <a:ext cx="9784082" cy="475488"/>
            <a:chOff x="0" y="0"/>
            <a:chExt cx="9784080" cy="475487"/>
          </a:xfrm>
        </p:grpSpPr>
        <p:sp>
          <p:nvSpPr>
            <p:cNvPr id="634" name="Rectángulo"/>
            <p:cNvSpPr/>
            <p:nvPr/>
          </p:nvSpPr>
          <p:spPr>
            <a:xfrm>
              <a:off x="-1" y="-1"/>
              <a:ext cx="9784082" cy="475489"/>
            </a:xfrm>
            <a:prstGeom prst="rect">
              <a:avLst/>
            </a:prstGeom>
            <a:solidFill>
              <a:srgbClr val="090685"/>
            </a:solidFill>
            <a:ln w="12700" cap="flat">
              <a:solidFill>
                <a:srgbClr val="09068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35" name="Objective: enable the agency to sell, design, operate and measure Convercus experiences as its own recurring service."/>
            <p:cNvSpPr txBox="1"/>
            <p:nvPr/>
          </p:nvSpPr>
          <p:spPr>
            <a:xfrm>
              <a:off x="6349" y="6349"/>
              <a:ext cx="9771382" cy="4627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5" tIns="1015" rIns="1015" bIns="1015" numCol="1" anchor="ctr">
              <a:normAutofit/>
            </a:bodyPr>
            <a:lstStyle>
              <a:lvl1pPr algn="ctr" defTabSz="768095">
                <a:defRPr sz="1512">
                  <a:solidFill>
                    <a:srgbClr val="FFFFFF"/>
                  </a:solidFill>
                </a:defRPr>
              </a:lvl1pPr>
            </a:lstStyle>
            <a:p>
              <a:r>
                <a:t>Objective: enable the agency to sell, design, operate and measure Convercus experiences as its own recurring service.</a:t>
              </a: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Sofia Sans Regular"/>
        <a:ea typeface="Sofia Sans Regular"/>
        <a:cs typeface="Sofia Sans Regular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Sofia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Sofia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Sofia Sans Regular"/>
        <a:ea typeface="Sofia Sans Regular"/>
        <a:cs typeface="Sofia Sans Regular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Sofia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Sofia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1778</Words>
  <Application>Microsoft Macintosh PowerPoint</Application>
  <PresentationFormat>Personalizado</PresentationFormat>
  <Paragraphs>343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Sofia Sans Regular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José Vázquez Rubio</cp:lastModifiedBy>
  <cp:revision>1</cp:revision>
  <dcterms:modified xsi:type="dcterms:W3CDTF">2026-05-08T08:44:14Z</dcterms:modified>
</cp:coreProperties>
</file>